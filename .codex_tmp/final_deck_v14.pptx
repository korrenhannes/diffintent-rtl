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>
      <p:cViewPr varScale="1">
        <p:scale>
          <a:sx n="116" d="100"/>
          <a:sy n="116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F7D83-51EB-1D4F-A35D-DC5D617127E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A123F-4AD6-3A49-85F4-C7137FFED18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2274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00:20
פתיחה קצרה: הפרויקט בוחן האם ניתן להבין שינויי קוד ברמת 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ולא רק את הקובץ לאחר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DiffIntent-RTL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שתי משימות: זיהוי מטרת השינוי וזיהוי חוסר פונקציונלי.
מעבר: נתחיל מהבעיה המעשית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 -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הצעת פרויקט.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pdf; report/final_report.md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A123F-4AD6-3A49-85F4-C7137FFED189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50181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המסר המרכזי: תקינות תחבירית אינה מבטיחה שלמות פונקציונלית.
בדוגמה,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קטן משנה נתיב בקרה; שורה חסרה יכולה לשנות את ההתנהגות בלי לשבור קומפילציה.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מפתח משתמש בסוג השורה, בקוד הסמוך ובמבנה השינוי.
מעבר: מכאן נגזרות שתי שאלות המחקר.
מקור: סעיפים 1 ו-3.3 בדוח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A123F-4AD6-3A49-85F4-C7137FFED189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30745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00:45
יש שתי משימות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diff.
Intent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ארבע מחלקות של מטרת 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הפרדה בין שינוי שלם לבין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implementation hole.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ההשערה נבנתה על מחקר קודם של ייצוגי שינוי, מודלים היררכיים וחיזוי מתיקוני קוד.
מעבר: כעת נראה כיצד הופכים 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Git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לנתוני אימון.
מקורות: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CC2Vec; PatchNet; DeepJIT; CodeReviewer;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סעיף 2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A123F-4AD6-3A49-85F4-C7137FFED189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50499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הצינור מתחיל בהיסטוריית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OpenTitan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ומסנן רק קבצי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SystemVerilog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רלוונטיים.
כל דוגמה היא שינוי בקובץ אחד.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נוצרות מהודעות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commit.
Synthetic Holes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נוצרים בתוך אזור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Chronological Split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הזוג המקורי והגרסה המוטנטית לעולם אינם מתפצלים בין קבוצות.
מעבר: נבחן את הרכב מערך הנתונים.
מקור: סעיפים 3.1 עד 3.4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A123F-4AD6-3A49-85F4-C7137FFED189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73049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המספרים המרכזיים: 5,903 מועמדים גולמיים, 2,843 דוגמאות אמיתיות לאחר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ו-5,500 דוגמאות לאחר יצירת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synthetic holes.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החלוקה כרונולוגית: 3,873 לאימון, 830 לאימות ו-797 לבדיקה.
הגרף מציג גם את חוסר האיזון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Intent: 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המחלקה הקטנה ביותר.
מעבר: איך בדיוק נוצרת דוגמה חסרה?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outputs/full_run/dataset_summary.json; figure_dataset_overview.png.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A123F-4AD6-3A49-85F4-C7137FFED189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11481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הדוגמה המקורית נשארת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עותק שלה עובר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מבוקר בתוך השורות שהשתנו.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הפעולה השכיחה ביותר, והיא מהווה 82.2 אחוז מדוגמאות החוסר בבדיקה.
יש גם הסרת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guard, assertion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reset assignment,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וכן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flips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אופרטורים, אך חלקם נדירים.
היתרון הוא שליטה בזוגות; החיסרון הוא פער מחוסרים אמיתיים.
מעבר: נציג את קו הבסיס ואת המודלים העמוקים.
מקור: סעיף 3.3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A123F-4AD6-3A49-85F4-C7137FFED189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80296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ההשוואה נבנתה כסולם מורכבות.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 + Logistic Regression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חזק.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MLP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מאגר ממוצע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embeddings.
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רצף שטוח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tokens.
Hierarchical Transformer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מקודד כל שורה ואז את רצף השורות, כולל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למודלים העמוקים יש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Multi-task head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לשתי המשימות.
מעבר: נפתח את הארכיטקטורה ההיררכית.
מקור: סעיף 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A123F-4AD6-3A49-85F4-C7137FFED189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09583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זו הארכיטקטורה המרכזית.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Typed Diff Lines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כל שורה מסומנת לפי תפקידה.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 Embedding + 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יוצר ייצוג פנימי לכל שורה.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Transformer Encoder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לומד קשרים בין שורות רחוקות.
שני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heads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מפיקים תחזית נפרדת לכל משימה.
הניסוי החשוב בהמשך מסיר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embedding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ובודק מה אובד.
מעבר: קודם נבחן את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סעיפים 4.3 ו-4.4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A123F-4AD6-3A49-85F4-C7137FFED189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357769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התוצאה המרכזית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0.4197 עבור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הגרף מראה שהיתרון אינו אחיד בין המחלקות;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נשארת קשה בגלל מיעוט דוגמאות וחפיפה סמנטית.
המשמעות אינה שמודלים עמוקים חסרי ערך, אלא שהמשימה והתיוג מספקים אות לקסיקלי חזק מאוד.
מעבר: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חושף עד כמה האות הזה קשור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figure_intent_per_class_f1.png.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A123F-4AD6-3A49-85F4-C7137FFED189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18800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זהו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קריטי.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 ממילות מפתח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כאשר מאמנים מודל רק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message,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מתקבל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0.9855.
לכן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משקפת במידה רבה את מנגנון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כדי לטעון להבנת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נדרש סט תוויות ידני או מקור תוויות עצמאי.
מעבר: משימת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אינה נשענת על אותו ערוץ, ושם המבנה ההיררכי בולט.
מקור: סעיף 7.5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A123F-4AD6-3A49-85F4-C7137FFED189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769218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כאן מתקבלת התוצאה החזקה ביותר של הפרויקט.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Hierarchical Transformer
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0.6029 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0.7352.
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seed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המוצג הוא שומר כמעט על אותו מספר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true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כמו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אך מוריד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מ-172 ל-81.
זה חשוב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Review: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פחות התראות שווא משפרות שימושיות.
מעבר: האם השיפור באמת מגיע ממידע על סוג השורה?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figure_hole_confusion_panels.png.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A123F-4AD6-3A49-85F4-C7137FFED189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488386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ablation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מסיר רק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information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ושומר את שאר הארכיטקטורה.
התוצאה: ירידה של 0.1305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ושל 0.1058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זהו הממצא הסיבתי החזק ביותר במצגת: לא רק נפח המודל, אלא הייצוג המפורש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ADD, DEL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CONTEXT,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תורם לזיהוי חוסר.
מעבר: עדיין צריך לפרש את התוצאה בתוך מגבלות מערך הנתונים.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figure_ablation_results.png.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A123F-4AD6-3A49-85F4-C7137FFED189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891415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שלוש מגבלות מגדירות את גבול הטענה.
ראשית, 82.2 אחוז מהחוסרים הסינתטיים הם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שנית, מספר משפחות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נדירות מדי להערכה.
שלישית, מחקר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Caliptra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הוא מקדים ובקנה מידה קטן, ולא הערכת סיום שקולה.
לכן התוצאה מצביעה על פוטנציאל, אך אינה תחליף לסט בדיקה ידני של חוסרים אמיתיים.
מעבר: נסכם את שלוש המסקנות שניתן להגן עליהן.
מקור: סעיפים 7.7 ו-8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A123F-4AD6-3A49-85F4-C7137FFED189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47702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00:35
שלוש מסקנות.
אחת: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נשאר תחרותי.
שתיים: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מבנה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מפורש משפר ביצועים ומפחית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שלוש: תוויות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חייבות להגיע ממקור שאינו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סיום: הפרויקט מספק תשתית מלאה למחקר המשך על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RTL.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מסקנות הדוח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A123F-4AD6-3A49-85F4-C7137FFED189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879747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השתמשו בה אם נשאלת שאלה על דפוסי הבלבול בין מחלקות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figure_intent_confusion_panels.png.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A123F-4AD6-3A49-85F4-C7137FFED189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032280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התרשים מפריד ביצועים לפי משפחת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וממחיש מדוע המספר הכולל מושפע מהתפלגות הדוגמאות.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figure_hole_mutation_recall.png.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A123F-4AD6-3A49-85F4-C7137FFED189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016127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מחקרי ההרחבה בוצעו על מערך קטן יותר ובפרוטוקולים אחרים. אין להשוות את הערכים המוחלטים לתוצאות הניסוי המלא.
מקור: סעיף 7.7 בדוח;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labeler_improvement.png; rtl_features_cv.png; generalization_compare.png.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A123F-4AD6-3A49-85F4-C7137FFED189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51988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3A032-D7AE-D9DF-57CC-274D5B0E9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E2957-1B04-0F7B-404D-3F278672A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C70D2-98B3-2211-CC01-1A0244B65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74E5-7FAA-5A40-B47B-4B33B3C6DB30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0FC9D-9B8E-E441-BE7C-A1E87CD20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DEB10-26F5-A989-E8D0-01415E4A6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FCFC0-2DEB-1647-A978-878F0D8A4B1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4415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39B7-B563-F630-2FFE-70CE47C7B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9A148-B4B3-92BD-4284-ED72AF731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766FB-B16A-D79B-BD37-E38F252DF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74E5-7FAA-5A40-B47B-4B33B3C6DB30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5D559-3FED-9CB8-F372-6298288BA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0DFDE-60FE-0B8A-8F6D-A0D92E391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FCFC0-2DEB-1647-A978-878F0D8A4B1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7376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ED53A-42D0-4724-AF59-3F072F5C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5BA31-1649-7308-7E98-CCA594334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EB62D-0249-8A60-0FAC-66A9BCB1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74E5-7FAA-5A40-B47B-4B33B3C6DB30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91393-AD06-19AD-D5AC-1291FEA4D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D8FB3-8630-D7E3-9EA8-A8A2F4582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FCFC0-2DEB-1647-A978-878F0D8A4B1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04557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2DD67-A48C-10DC-328C-945C1C4D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A491A-1647-A20F-C1BD-800448D178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17070A-F620-E1EB-2E4C-443EAEB799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EE5D4-36CF-A777-2033-410B521D9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74E5-7FAA-5A40-B47B-4B33B3C6DB30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F21F5-CEE8-BB40-2278-AFF1174D8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12748-5073-A990-963D-4C08203D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FCFC0-2DEB-1647-A978-878F0D8A4B1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55615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785A-8013-57A8-63A4-55F15183D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9B9F9-D9B6-E460-DD08-6271D21E2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21C25B-651B-2176-ABE8-370EE0361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4107FB-5AA3-CB14-624C-B054E39581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DCBDC0-7C85-10A0-1BB1-9F746EA06D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9D3118-C959-2689-A8DD-1CCB0EB1A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74E5-7FAA-5A40-B47B-4B33B3C6DB30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0FE2A-666B-5817-7487-F31F4CB71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5ABF5D-39C2-34BC-309B-8BDDD710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FCFC0-2DEB-1647-A978-878F0D8A4B1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78762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6259B-4791-6C9C-14D2-76F423D44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D6924A-3D5E-3CFD-68F8-1321B4FD0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74E5-7FAA-5A40-B47B-4B33B3C6DB30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1F9A5E-E0AC-08D2-AE46-93D42D792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7A719-C634-7ACF-A4B1-97F722E91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FCFC0-2DEB-1647-A978-878F0D8A4B1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23049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1417D9-CD9F-95A0-7F54-BBF0122D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74E5-7FAA-5A40-B47B-4B33B3C6DB30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0146D2-E0E6-6FFC-A91A-36A7BC61D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D97D7-8B6F-DEA0-7B68-586F6D5D9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FCFC0-2DEB-1647-A978-878F0D8A4B1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84619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734A3-C7A6-A3DB-5D2F-75FEB71F3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15BCF-36B3-7068-23C3-51967C56E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8CA83-082E-780D-8C90-210B0A143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2F2E9-F029-75B4-620C-7CD72CAE1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74E5-7FAA-5A40-B47B-4B33B3C6DB30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ACE9E-9FC7-1ECE-591D-2949F2463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27308-920F-B2C5-4B0B-B7159E741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FCFC0-2DEB-1647-A978-878F0D8A4B1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34180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50683-3B2F-6D45-2696-2FA760B0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4CD23D-22CC-8C6F-C670-9053634D65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8BAC8-91BE-6355-93D7-A8577A778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A6EE5-CF67-C781-F12B-84A6DC8B2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74E5-7FAA-5A40-B47B-4B33B3C6DB30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5BCFD4-7011-F5E0-A0BA-01E84A62B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FE178-77B8-E0E8-BCA0-286BD3528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FCFC0-2DEB-1647-A978-878F0D8A4B1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29879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B4DBD-D10E-F4ED-18C9-9E5864047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1D33FB-DB7B-AEA4-C37E-287A24E8C3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FEC52-9791-D805-EA16-4465AB058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74E5-7FAA-5A40-B47B-4B33B3C6DB30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42393-48FD-4583-36AA-8A875FD56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23225-4DC5-C47F-9D1F-EA24C4F0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FCFC0-2DEB-1647-A978-878F0D8A4B1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88187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752E60-C6DB-C5C6-9CDC-4581EF96F7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82B012-D56E-3595-27F7-E5E02CF65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308B6-8AF6-40BE-8695-4A315ECD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74E5-7FAA-5A40-B47B-4B33B3C6DB30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1DEA7-3048-7C8F-3581-D77B99566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B89CA-0AA3-6770-EDCA-D7C2C8FC3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FCFC0-2DEB-1647-A978-878F0D8A4B1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52602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985592-4A0D-B4A3-3D2A-9143C6B24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A0EDD-1BB4-A737-D49B-E3FF9C49F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10B64-C638-45C8-D501-82D7355C1E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8174E5-7FAA-5A40-B47B-4B33B3C6DB30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0C9C8-646A-61B5-1597-615B254E8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C8B90-E273-BC14-C7ED-2A76132915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AFCFC0-2DEB-1647-A978-878F0D8A4B1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4869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819">
            <a:extLst>
              <a:ext uri="{FF2B5EF4-FFF2-40B4-BE49-F238E27FC236}">
                <a16:creationId xmlns:a16="http://schemas.microsoft.com/office/drawing/2014/main" id="{B0D98EAF-CD5B-4189-62D4-D4928C22A696}"/>
              </a:ext>
            </a:extLst>
          </p:cNvPr>
          <p:cNvSpPr/>
          <p:nvPr/>
        </p:nvSpPr>
        <p:spPr>
          <a:xfrm>
            <a:off x="12065000" y="0"/>
            <a:ext cx="127000" cy="68580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C6BA66-6B1F-C50B-0035-9E8676AAA283}"/>
              </a:ext>
            </a:extLst>
          </p:cNvPr>
          <p:cNvSpPr txBox="1"/>
          <p:nvPr/>
        </p:nvSpPr>
        <p:spPr>
          <a:xfrm>
            <a:off x="5207000" y="869310"/>
            <a:ext cx="60325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4800" b="1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4800" b="1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40EEA3-DC82-F4B4-5931-0A4E5F34CA4A}"/>
              </a:ext>
            </a:extLst>
          </p:cNvPr>
          <p:cNvSpPr txBox="1"/>
          <p:nvPr/>
        </p:nvSpPr>
        <p:spPr>
          <a:xfrm>
            <a:off x="5207000" y="1894577"/>
            <a:ext cx="60325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3000" b="1">
                <a:solidFill>
                  <a:srgbClr val="DDE7F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מטרת שינוי וחוסרים פונקציונליים בקוד</a:t>
            </a:r>
            <a:endParaRPr lang="en-IL" sz="3000" b="1">
              <a:solidFill>
                <a:srgbClr val="DDE7F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51FF44-0A1F-7A37-8653-B3D18E04D9F9}"/>
              </a:ext>
            </a:extLst>
          </p:cNvPr>
          <p:cNvSpPr txBox="1"/>
          <p:nvPr/>
        </p:nvSpPr>
        <p:spPr>
          <a:xfrm>
            <a:off x="9144000" y="3098304"/>
            <a:ext cx="20955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29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RTL</a:t>
            </a:r>
            <a:endParaRPr lang="en-IL" sz="29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4DC26C-4931-5434-E110-868AF946FF08}"/>
              </a:ext>
            </a:extLst>
          </p:cNvPr>
          <p:cNvCxnSpPr/>
          <p:nvPr/>
        </p:nvCxnSpPr>
        <p:spPr>
          <a:xfrm>
            <a:off x="825500" y="3987800"/>
            <a:ext cx="10414000" cy="0"/>
          </a:xfrm>
          <a:prstGeom prst="line">
            <a:avLst/>
          </a:prstGeom>
          <a:ln w="19050">
            <a:solidFill>
              <a:srgbClr val="405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17DA184-0ED6-9AF1-7123-4351168FB766}"/>
              </a:ext>
            </a:extLst>
          </p:cNvPr>
          <p:cNvSpPr txBox="1"/>
          <p:nvPr/>
        </p:nvSpPr>
        <p:spPr>
          <a:xfrm>
            <a:off x="5207000" y="4348653"/>
            <a:ext cx="60325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קורן הנס ונועה סבג</a:t>
            </a:r>
            <a:endParaRPr lang="en-IL" sz="2000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897B67-2897-C363-F2E5-73C4AF46D915}"/>
              </a:ext>
            </a:extLst>
          </p:cNvPr>
          <p:cNvSpPr txBox="1"/>
          <p:nvPr/>
        </p:nvSpPr>
        <p:spPr>
          <a:xfrm>
            <a:off x="825500" y="4384436"/>
            <a:ext cx="4445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7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Deep Learning Project</a:t>
            </a:r>
            <a:endParaRPr lang="en-IL" sz="17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B3B1D0-9702-3E71-1C70-5132EFCB2691}"/>
              </a:ext>
            </a:extLst>
          </p:cNvPr>
          <p:cNvSpPr txBox="1"/>
          <p:nvPr/>
        </p:nvSpPr>
        <p:spPr>
          <a:xfrm>
            <a:off x="825500" y="5741019"/>
            <a:ext cx="1651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15 min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657B70-41FE-4679-EFFC-574566E4BC91}"/>
              </a:ext>
            </a:extLst>
          </p:cNvPr>
          <p:cNvSpPr txBox="1"/>
          <p:nvPr/>
        </p:nvSpPr>
        <p:spPr>
          <a:xfrm>
            <a:off x="825500" y="6150108"/>
            <a:ext cx="3302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2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Final Presentation</a:t>
            </a:r>
            <a:endParaRPr lang="en-IL" sz="12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1796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820">
            <a:extLst>
              <a:ext uri="{FF2B5EF4-FFF2-40B4-BE49-F238E27FC236}">
                <a16:creationId xmlns:a16="http://schemas.microsoft.com/office/drawing/2014/main" id="{BFB46CB8-6F3E-072E-188F-B41BB19E57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821">
            <a:extLst>
              <a:ext uri="{FF2B5EF4-FFF2-40B4-BE49-F238E27FC236}">
                <a16:creationId xmlns:a16="http://schemas.microsoft.com/office/drawing/2014/main" id="{4A5BE9B1-141E-7FE3-A3FF-CD0444812CB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ADB31B-429C-9F80-AEFA-E16A2E48EF52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חוסר גדול מסתתר בשינוי קטן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A3B55-AD86-D960-1E32-77F4229DCB08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A8DBF1-640F-CDA8-4C6A-FCF41B56AFAD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0D85B96-C7D3-2EDC-D9FC-3A048542EB4C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02 / 14</a:t>
            </a:r>
          </a:p>
        </p:txBody>
      </p:sp>
      <p:sp>
        <p:nvSpPr>
          <p:cNvPr id="10" name="Shape_822">
            <a:extLst>
              <a:ext uri="{FF2B5EF4-FFF2-40B4-BE49-F238E27FC236}">
                <a16:creationId xmlns:a16="http://schemas.microsoft.com/office/drawing/2014/main" id="{FFC8A7FA-1622-F51E-DD15-E37B39DE2BDC}"/>
              </a:ext>
            </a:extLst>
          </p:cNvPr>
          <p:cNvSpPr/>
          <p:nvPr/>
        </p:nvSpPr>
        <p:spPr>
          <a:xfrm>
            <a:off x="609600" y="1333500"/>
            <a:ext cx="6413500" cy="41910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023027-4270-E794-EE22-96C0735C7817}"/>
              </a:ext>
            </a:extLst>
          </p:cNvPr>
          <p:cNvSpPr txBox="1"/>
          <p:nvPr/>
        </p:nvSpPr>
        <p:spPr>
          <a:xfrm>
            <a:off x="914400" y="1676400"/>
            <a:ext cx="5778500" cy="20313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@@ always_ff @(posedge clk_i) @@
- if (!rst_ni) state_q &lt;= IDLE;
+ if (!rst_ni) state_q &lt;= IDLE;
+ else if (req_i) begin
+   state_q &lt;= BUSY;
+   valid_o &lt;= 1'b1;
+ end</a:t>
            </a:r>
            <a:endParaRPr lang="en-IL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2" name="Shape_823">
            <a:extLst>
              <a:ext uri="{FF2B5EF4-FFF2-40B4-BE49-F238E27FC236}">
                <a16:creationId xmlns:a16="http://schemas.microsoft.com/office/drawing/2014/main" id="{03FB5070-1812-4EDB-9407-05637748C262}"/>
              </a:ext>
            </a:extLst>
          </p:cNvPr>
          <p:cNvSpPr/>
          <p:nvPr/>
        </p:nvSpPr>
        <p:spPr>
          <a:xfrm>
            <a:off x="914400" y="4749800"/>
            <a:ext cx="5778500" cy="457200"/>
          </a:xfrm>
          <a:prstGeom prst="rect">
            <a:avLst/>
          </a:prstGeom>
          <a:solidFill>
            <a:srgbClr val="23364A"/>
          </a:solidFill>
          <a:ln w="0" cap="flat" cmpd="sng" algn="ctr">
            <a:solidFill>
              <a:srgbClr val="23364A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CD4222-2266-EE49-185D-75C5714D2605}"/>
              </a:ext>
            </a:extLst>
          </p:cNvPr>
          <p:cNvSpPr txBox="1"/>
          <p:nvPr/>
        </p:nvSpPr>
        <p:spPr>
          <a:xfrm>
            <a:off x="1079500" y="4869725"/>
            <a:ext cx="5461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What if the final assignment is missing?</a:t>
            </a:r>
            <a:endParaRPr lang="en-IL" sz="15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08AD8D-5FA3-9ED8-CCDD-08AE27893848}"/>
              </a:ext>
            </a:extLst>
          </p:cNvPr>
          <p:cNvSpPr txBox="1"/>
          <p:nvPr/>
        </p:nvSpPr>
        <p:spPr>
          <a:xfrm>
            <a:off x="7429500" y="1428110"/>
            <a:ext cx="4064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4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השינוי עדיין יכול להיות תקין תחבירית</a:t>
            </a:r>
            <a:endParaRPr lang="en-IL" sz="24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41F6E2-16A4-5A25-0B8C-FF4CAEC59E31}"/>
              </a:ext>
            </a:extLst>
          </p:cNvPr>
          <p:cNvSpPr txBox="1"/>
          <p:nvPr/>
        </p:nvSpPr>
        <p:spPr>
          <a:xfrm>
            <a:off x="7429500" y="2141999"/>
            <a:ext cx="40640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3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אבל ההתנהגות הרצויה אינה שלמה</a:t>
            </a:r>
            <a:endParaRPr lang="en-IL" sz="23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33CCC4-0E04-679F-E930-CCC4B7C22751}"/>
              </a:ext>
            </a:extLst>
          </p:cNvPr>
          <p:cNvCxnSpPr/>
          <p:nvPr/>
        </p:nvCxnSpPr>
        <p:spPr>
          <a:xfrm>
            <a:off x="7366000" y="3175000"/>
            <a:ext cx="41275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43C76FE-4018-EEA3-06F3-04D1A0F93ECE}"/>
              </a:ext>
            </a:extLst>
          </p:cNvPr>
          <p:cNvSpPr txBox="1"/>
          <p:nvPr/>
        </p:nvSpPr>
        <p:spPr>
          <a:xfrm>
            <a:off x="7429500" y="3454275"/>
            <a:ext cx="40640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קורא הקשר, מבנה והבדלים בין שורות. המודל חייב לקבל את אותם רמזים.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D950FE-2066-23FB-B9A4-D8B84670CE07}"/>
              </a:ext>
            </a:extLst>
          </p:cNvPr>
          <p:cNvSpPr txBox="1"/>
          <p:nvPr/>
        </p:nvSpPr>
        <p:spPr>
          <a:xfrm>
            <a:off x="7429500" y="4999042"/>
            <a:ext cx="4064000" cy="85664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בתהליך </a:t>
            </a:r>
            <a:r>
              <a:rPr lang="en-US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⁦Code Review⁩ </a:t>
            </a:r>
            <a:r>
              <a:rPr lang="he-IL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קורא יחד את ההקשר, המבנה וההבדל בין השורות.</a:t>
            </a:r>
            <a:endParaRPr lang="en-IL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3070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824">
            <a:extLst>
              <a:ext uri="{FF2B5EF4-FFF2-40B4-BE49-F238E27FC236}">
                <a16:creationId xmlns:a16="http://schemas.microsoft.com/office/drawing/2014/main" id="{605CC53D-F1AF-AABB-AFEA-2CB4BFD12A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825">
            <a:extLst>
              <a:ext uri="{FF2B5EF4-FFF2-40B4-BE49-F238E27FC236}">
                <a16:creationId xmlns:a16="http://schemas.microsoft.com/office/drawing/2014/main" id="{CCFB7528-2CE6-A1B0-13CD-E25E46A1E02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302EB-D475-9A68-3C3C-51B99AE38E35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שתי שאלות מחקר, אובייקט למידה אחד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14DCD1-45A6-33EC-D442-539C15089C54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F0176B-C7D3-57A2-19D5-A9302D0C9EA0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B354CE1-C913-BCE6-BCF3-C2C603F9EC52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03 / 14</a:t>
            </a:r>
          </a:p>
        </p:txBody>
      </p:sp>
      <p:sp>
        <p:nvSpPr>
          <p:cNvPr id="10" name="Shape_826">
            <a:extLst>
              <a:ext uri="{FF2B5EF4-FFF2-40B4-BE49-F238E27FC236}">
                <a16:creationId xmlns:a16="http://schemas.microsoft.com/office/drawing/2014/main" id="{F45042D2-8ED7-3B6B-72E9-8CE771447E4E}"/>
              </a:ext>
            </a:extLst>
          </p:cNvPr>
          <p:cNvSpPr/>
          <p:nvPr/>
        </p:nvSpPr>
        <p:spPr>
          <a:xfrm>
            <a:off x="6350000" y="1498600"/>
            <a:ext cx="5143500" cy="2616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740904-7609-21F0-1BCE-AA5FE404455A}"/>
              </a:ext>
            </a:extLst>
          </p:cNvPr>
          <p:cNvSpPr txBox="1"/>
          <p:nvPr/>
        </p:nvSpPr>
        <p:spPr>
          <a:xfrm>
            <a:off x="67945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</a:t>
            </a:r>
            <a:endParaRPr lang="en-IL" sz="30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B4AEC0-245A-2E06-4BB7-10BB512E5C20}"/>
              </a:ext>
            </a:extLst>
          </p:cNvPr>
          <p:cNvSpPr txBox="1"/>
          <p:nvPr/>
        </p:nvSpPr>
        <p:spPr>
          <a:xfrm>
            <a:off x="67945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איזו מטרה עומדת מאחורי השינוי?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82053B-DE36-C56C-9D35-6C86F3E1661D}"/>
              </a:ext>
            </a:extLst>
          </p:cNvPr>
          <p:cNvSpPr txBox="1"/>
          <p:nvPr/>
        </p:nvSpPr>
        <p:spPr>
          <a:xfrm>
            <a:off x="90170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 classes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827">
            <a:extLst>
              <a:ext uri="{FF2B5EF4-FFF2-40B4-BE49-F238E27FC236}">
                <a16:creationId xmlns:a16="http://schemas.microsoft.com/office/drawing/2014/main" id="{2E13EFFC-3DC3-A1C2-A78D-23E466BEDEAD}"/>
              </a:ext>
            </a:extLst>
          </p:cNvPr>
          <p:cNvSpPr/>
          <p:nvPr/>
        </p:nvSpPr>
        <p:spPr>
          <a:xfrm>
            <a:off x="698500" y="1498600"/>
            <a:ext cx="5143500" cy="2616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78A5D3-407C-1487-D101-FE21D78E54A1}"/>
              </a:ext>
            </a:extLst>
          </p:cNvPr>
          <p:cNvSpPr txBox="1"/>
          <p:nvPr/>
        </p:nvSpPr>
        <p:spPr>
          <a:xfrm>
            <a:off x="11430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Completeness</a:t>
            </a:r>
            <a:endParaRPr lang="en-IL" sz="30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5A3BCC-70B2-3630-1216-B79501ACED00}"/>
              </a:ext>
            </a:extLst>
          </p:cNvPr>
          <p:cNvSpPr txBox="1"/>
          <p:nvPr/>
        </p:nvSpPr>
        <p:spPr>
          <a:xfrm>
            <a:off x="11430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האם השינוי נראה שלם?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4430A1-88CB-4BC2-1E26-28F56B7A7681}"/>
              </a:ext>
            </a:extLst>
          </p:cNvPr>
          <p:cNvSpPr txBox="1"/>
          <p:nvPr/>
        </p:nvSpPr>
        <p:spPr>
          <a:xfrm>
            <a:off x="33655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binary task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21A8DAF-1451-3FB7-888C-E04380F46110}"/>
              </a:ext>
            </a:extLst>
          </p:cNvPr>
          <p:cNvCxnSpPr/>
          <p:nvPr/>
        </p:nvCxnSpPr>
        <p:spPr>
          <a:xfrm>
            <a:off x="6096000" y="1676400"/>
            <a:ext cx="0" cy="2260600"/>
          </a:xfrm>
          <a:prstGeom prst="line">
            <a:avLst/>
          </a:prstGeom>
          <a:ln w="254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F58C586-5324-16DB-BDA5-1B067CBE8692}"/>
              </a:ext>
            </a:extLst>
          </p:cNvPr>
          <p:cNvSpPr txBox="1"/>
          <p:nvPr/>
        </p:nvSpPr>
        <p:spPr>
          <a:xfrm>
            <a:off x="9842500" y="4542670"/>
            <a:ext cx="1651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ההשערה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27CBB0-3B8B-8A1E-3CA0-CD7605CA83B3}"/>
              </a:ext>
            </a:extLst>
          </p:cNvPr>
          <p:cNvSpPr txBox="1"/>
          <p:nvPr/>
        </p:nvSpPr>
        <p:spPr>
          <a:xfrm>
            <a:off x="3276600" y="4763576"/>
            <a:ext cx="82169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היררכי שמבחין בין שורות שנוספו, נמחקו ונשמרו ישפר את זיהוי החוסר.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218B5A-D015-FBC9-DFF4-555BF159F661}"/>
              </a:ext>
            </a:extLst>
          </p:cNvPr>
          <p:cNvSpPr txBox="1"/>
          <p:nvPr/>
        </p:nvSpPr>
        <p:spPr>
          <a:xfrm>
            <a:off x="698500" y="5886553"/>
            <a:ext cx="10795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4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CC2Vec   PatchNet   DeepJIT   CodeReviewer</a:t>
            </a:r>
            <a:endParaRPr lang="en-IL" sz="14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68596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828">
            <a:extLst>
              <a:ext uri="{FF2B5EF4-FFF2-40B4-BE49-F238E27FC236}">
                <a16:creationId xmlns:a16="http://schemas.microsoft.com/office/drawing/2014/main" id="{1ED5CA39-9FFB-B81C-FA8C-D7F494F638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829">
            <a:extLst>
              <a:ext uri="{FF2B5EF4-FFF2-40B4-BE49-F238E27FC236}">
                <a16:creationId xmlns:a16="http://schemas.microsoft.com/office/drawing/2014/main" id="{982A1EAE-6337-F2A1-366D-1CD3463B4EE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DD85A4-AA90-EF1E-1A19-03B48E33D830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מהיסטוריית קוד לניסוי מבוקר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418168-1C64-C29E-D5CA-8ED7055C7A2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0500E7-E521-E56D-A9D5-100E5F66BE12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7B5F7AF-0A62-9B46-5A7E-561A6309782F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04 / 14</a:t>
            </a:r>
          </a:p>
        </p:txBody>
      </p:sp>
      <p:sp>
        <p:nvSpPr>
          <p:cNvPr id="10" name="Shape_830">
            <a:extLst>
              <a:ext uri="{FF2B5EF4-FFF2-40B4-BE49-F238E27FC236}">
                <a16:creationId xmlns:a16="http://schemas.microsoft.com/office/drawing/2014/main" id="{3ACCB9F1-EC94-45FB-50BE-A800CBCAA808}"/>
              </a:ext>
            </a:extLst>
          </p:cNvPr>
          <p:cNvSpPr/>
          <p:nvPr/>
        </p:nvSpPr>
        <p:spPr>
          <a:xfrm>
            <a:off x="939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EBF8AC-F061-970E-E0C7-B47D00A9DCAD}"/>
              </a:ext>
            </a:extLst>
          </p:cNvPr>
          <p:cNvSpPr txBox="1"/>
          <p:nvPr/>
        </p:nvSpPr>
        <p:spPr>
          <a:xfrm>
            <a:off x="952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OpenTitan Git History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D0098BA-C653-A61F-CCB1-DB9E0242BB71}"/>
              </a:ext>
            </a:extLst>
          </p:cNvPr>
          <p:cNvCxnSpPr/>
          <p:nvPr/>
        </p:nvCxnSpPr>
        <p:spPr>
          <a:xfrm flipH="1">
            <a:off x="9169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831">
            <a:extLst>
              <a:ext uri="{FF2B5EF4-FFF2-40B4-BE49-F238E27FC236}">
                <a16:creationId xmlns:a16="http://schemas.microsoft.com/office/drawing/2014/main" id="{BB7F37EB-9170-05D9-D088-2796AC8D1562}"/>
              </a:ext>
            </a:extLst>
          </p:cNvPr>
          <p:cNvSpPr/>
          <p:nvPr/>
        </p:nvSpPr>
        <p:spPr>
          <a:xfrm>
            <a:off x="7175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69B69D-6500-4993-6840-5D264D5B6AF0}"/>
              </a:ext>
            </a:extLst>
          </p:cNvPr>
          <p:cNvSpPr txBox="1"/>
          <p:nvPr/>
        </p:nvSpPr>
        <p:spPr>
          <a:xfrm>
            <a:off x="7302500" y="2301636"/>
            <a:ext cx="1587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 Mining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49F66D-6FBF-63AA-7F6A-D3B602F8712A}"/>
              </a:ext>
            </a:extLst>
          </p:cNvPr>
          <p:cNvCxnSpPr/>
          <p:nvPr/>
        </p:nvCxnSpPr>
        <p:spPr>
          <a:xfrm flipH="1">
            <a:off x="6946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832">
            <a:extLst>
              <a:ext uri="{FF2B5EF4-FFF2-40B4-BE49-F238E27FC236}">
                <a16:creationId xmlns:a16="http://schemas.microsoft.com/office/drawing/2014/main" id="{E0FE4C49-FBB5-79E7-6A66-F9565998443C}"/>
              </a:ext>
            </a:extLst>
          </p:cNvPr>
          <p:cNvSpPr/>
          <p:nvPr/>
        </p:nvSpPr>
        <p:spPr>
          <a:xfrm>
            <a:off x="4953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25C344-E3E6-C448-5129-7EFC82EF9308}"/>
              </a:ext>
            </a:extLst>
          </p:cNvPr>
          <p:cNvSpPr txBox="1"/>
          <p:nvPr/>
        </p:nvSpPr>
        <p:spPr>
          <a:xfrm>
            <a:off x="5080000" y="2317025"/>
            <a:ext cx="15875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Labels + Synthetic Holes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095AAC-81EC-6177-F8C2-9EA008241238}"/>
              </a:ext>
            </a:extLst>
          </p:cNvPr>
          <p:cNvCxnSpPr/>
          <p:nvPr/>
        </p:nvCxnSpPr>
        <p:spPr>
          <a:xfrm flipH="1">
            <a:off x="4724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833">
            <a:extLst>
              <a:ext uri="{FF2B5EF4-FFF2-40B4-BE49-F238E27FC236}">
                <a16:creationId xmlns:a16="http://schemas.microsoft.com/office/drawing/2014/main" id="{DFD5B11E-2A6F-1A00-291A-7D0446845EF3}"/>
              </a:ext>
            </a:extLst>
          </p:cNvPr>
          <p:cNvSpPr/>
          <p:nvPr/>
        </p:nvSpPr>
        <p:spPr>
          <a:xfrm>
            <a:off x="2730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7C072E-7C3C-439F-637D-DDCEDCF7925C}"/>
              </a:ext>
            </a:extLst>
          </p:cNvPr>
          <p:cNvSpPr txBox="1"/>
          <p:nvPr/>
        </p:nvSpPr>
        <p:spPr>
          <a:xfrm>
            <a:off x="28575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Chronological Split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BCD35FC-C3B8-F78E-11D0-90348665305D}"/>
              </a:ext>
            </a:extLst>
          </p:cNvPr>
          <p:cNvCxnSpPr/>
          <p:nvPr/>
        </p:nvCxnSpPr>
        <p:spPr>
          <a:xfrm flipH="1">
            <a:off x="2501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834">
            <a:extLst>
              <a:ext uri="{FF2B5EF4-FFF2-40B4-BE49-F238E27FC236}">
                <a16:creationId xmlns:a16="http://schemas.microsoft.com/office/drawing/2014/main" id="{EFC7EC55-D85F-F106-335B-9251BB4C9600}"/>
              </a:ext>
            </a:extLst>
          </p:cNvPr>
          <p:cNvSpPr/>
          <p:nvPr/>
        </p:nvSpPr>
        <p:spPr>
          <a:xfrm>
            <a:off x="50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9F9BD5-FE03-205B-A553-CA22A233A927}"/>
              </a:ext>
            </a:extLst>
          </p:cNvPr>
          <p:cNvSpPr txBox="1"/>
          <p:nvPr/>
        </p:nvSpPr>
        <p:spPr>
          <a:xfrm>
            <a:off x="63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Training &amp; Evaluation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200692-DEBF-762F-B2B0-57D77CB5B390}"/>
              </a:ext>
            </a:extLst>
          </p:cNvPr>
          <p:cNvSpPr txBox="1"/>
          <p:nvPr/>
        </p:nvSpPr>
        <p:spPr>
          <a:xfrm>
            <a:off x="9626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E42499-BD4F-0751-44D7-9E87CF7A0642}"/>
              </a:ext>
            </a:extLst>
          </p:cNvPr>
          <p:cNvSpPr txBox="1"/>
          <p:nvPr/>
        </p:nvSpPr>
        <p:spPr>
          <a:xfrm>
            <a:off x="5181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0137F2-BE41-1FF7-6A83-4AD217D3F533}"/>
              </a:ext>
            </a:extLst>
          </p:cNvPr>
          <p:cNvSpPr txBox="1"/>
          <p:nvPr/>
        </p:nvSpPr>
        <p:spPr>
          <a:xfrm>
            <a:off x="29337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4E9246-F006-EDD4-6700-B1D356169BF7}"/>
              </a:ext>
            </a:extLst>
          </p:cNvPr>
          <p:cNvSpPr txBox="1"/>
          <p:nvPr/>
        </p:nvSpPr>
        <p:spPr>
          <a:xfrm>
            <a:off x="9423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8B217D-6B6E-A810-C9F4-13194340CC28}"/>
              </a:ext>
            </a:extLst>
          </p:cNvPr>
          <p:cNvSpPr txBox="1"/>
          <p:nvPr/>
        </p:nvSpPr>
        <p:spPr>
          <a:xfrm>
            <a:off x="4978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48EE06-1628-060A-3428-F4AB59D64AA8}"/>
              </a:ext>
            </a:extLst>
          </p:cNvPr>
          <p:cNvSpPr txBox="1"/>
          <p:nvPr/>
        </p:nvSpPr>
        <p:spPr>
          <a:xfrm>
            <a:off x="27305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total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Shape_835">
            <a:extLst>
              <a:ext uri="{FF2B5EF4-FFF2-40B4-BE49-F238E27FC236}">
                <a16:creationId xmlns:a16="http://schemas.microsoft.com/office/drawing/2014/main" id="{56F2F56E-3046-FF98-BEED-1F3949E7EC7B}"/>
              </a:ext>
            </a:extLst>
          </p:cNvPr>
          <p:cNvSpPr/>
          <p:nvPr/>
        </p:nvSpPr>
        <p:spPr>
          <a:xfrm>
            <a:off x="698500" y="5181600"/>
            <a:ext cx="10795000" cy="774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2C308C-3ACE-DC2B-5D09-7ADDF6317101}"/>
              </a:ext>
            </a:extLst>
          </p:cNvPr>
          <p:cNvSpPr txBox="1"/>
          <p:nvPr/>
        </p:nvSpPr>
        <p:spPr>
          <a:xfrm>
            <a:off x="1054100" y="5359648"/>
            <a:ext cx="100838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כל שינוי נשמר ברמת קובץ, והזוג המקורי והסינתטי נשאר באותה חלוקה.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99779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836">
            <a:extLst>
              <a:ext uri="{FF2B5EF4-FFF2-40B4-BE49-F238E27FC236}">
                <a16:creationId xmlns:a16="http://schemas.microsoft.com/office/drawing/2014/main" id="{F12797BE-C029-A2A2-F699-94C9E79A8C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837">
            <a:extLst>
              <a:ext uri="{FF2B5EF4-FFF2-40B4-BE49-F238E27FC236}">
                <a16:creationId xmlns:a16="http://schemas.microsoft.com/office/drawing/2014/main" id="{62DC5C93-1121-C909-ABB8-C023EFAB907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CB66A5-B76B-62AF-2E58-FAB736715E50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מערך הנתונים: כרונולוגי, מאוזן בזוגות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AAC706-2EB3-A84F-5F2B-CE77CB3313C3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A90C5C-25E5-1D08-9865-8222F9C52DB5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DEB7746-92FE-14AC-5E58-EFCFE70099A5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05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7B34FB-A147-EB05-6876-DA8BD40DE74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71600"/>
            <a:ext cx="4953000" cy="4432300"/>
          </a:xfrm>
          <a:prstGeom prst="rect">
            <a:avLst/>
          </a:prstGeom>
        </p:spPr>
      </p:pic>
      <p:sp>
        <p:nvSpPr>
          <p:cNvPr id="12" name="Shape_838">
            <a:extLst>
              <a:ext uri="{FF2B5EF4-FFF2-40B4-BE49-F238E27FC236}">
                <a16:creationId xmlns:a16="http://schemas.microsoft.com/office/drawing/2014/main" id="{3DD69F50-D9E1-6529-B4B2-AF3F7C3B5AB2}"/>
              </a:ext>
            </a:extLst>
          </p:cNvPr>
          <p:cNvSpPr/>
          <p:nvPr/>
        </p:nvSpPr>
        <p:spPr>
          <a:xfrm>
            <a:off x="6261100" y="1447800"/>
            <a:ext cx="52324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839">
            <a:extLst>
              <a:ext uri="{FF2B5EF4-FFF2-40B4-BE49-F238E27FC236}">
                <a16:creationId xmlns:a16="http://schemas.microsoft.com/office/drawing/2014/main" id="{6DE68575-C9A2-440C-AF6F-641B0B7E0994}"/>
              </a:ext>
            </a:extLst>
          </p:cNvPr>
          <p:cNvSpPr/>
          <p:nvPr/>
        </p:nvSpPr>
        <p:spPr>
          <a:xfrm>
            <a:off x="11404600" y="1447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A76DE-E913-197C-7EFA-CCE4393F68E5}"/>
              </a:ext>
            </a:extLst>
          </p:cNvPr>
          <p:cNvSpPr txBox="1"/>
          <p:nvPr/>
        </p:nvSpPr>
        <p:spPr>
          <a:xfrm>
            <a:off x="6464300" y="15285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6C336C-1951-7F48-24AB-B65089F103EF}"/>
              </a:ext>
            </a:extLst>
          </p:cNvPr>
          <p:cNvSpPr txBox="1"/>
          <p:nvPr/>
        </p:nvSpPr>
        <p:spPr>
          <a:xfrm>
            <a:off x="6464300" y="21800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Shape_840">
            <a:extLst>
              <a:ext uri="{FF2B5EF4-FFF2-40B4-BE49-F238E27FC236}">
                <a16:creationId xmlns:a16="http://schemas.microsoft.com/office/drawing/2014/main" id="{3A14BE9E-48C9-574C-64DC-D674BA3FBBED}"/>
              </a:ext>
            </a:extLst>
          </p:cNvPr>
          <p:cNvSpPr/>
          <p:nvPr/>
        </p:nvSpPr>
        <p:spPr>
          <a:xfrm>
            <a:off x="6261100" y="2705100"/>
            <a:ext cx="52324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Shape_841">
            <a:extLst>
              <a:ext uri="{FF2B5EF4-FFF2-40B4-BE49-F238E27FC236}">
                <a16:creationId xmlns:a16="http://schemas.microsoft.com/office/drawing/2014/main" id="{3EE7125E-0818-AB6F-1C69-3A61136CB0F9}"/>
              </a:ext>
            </a:extLst>
          </p:cNvPr>
          <p:cNvSpPr/>
          <p:nvPr/>
        </p:nvSpPr>
        <p:spPr>
          <a:xfrm>
            <a:off x="11404600" y="27051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D8ECF3-1FF5-3507-E6B3-9DA50189C197}"/>
              </a:ext>
            </a:extLst>
          </p:cNvPr>
          <p:cNvSpPr txBox="1"/>
          <p:nvPr/>
        </p:nvSpPr>
        <p:spPr>
          <a:xfrm>
            <a:off x="6464300" y="27858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A74FAE-CC63-0924-86CB-2FF40DF74F56}"/>
              </a:ext>
            </a:extLst>
          </p:cNvPr>
          <p:cNvSpPr txBox="1"/>
          <p:nvPr/>
        </p:nvSpPr>
        <p:spPr>
          <a:xfrm>
            <a:off x="6464300" y="34373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weak-labeled real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842">
            <a:extLst>
              <a:ext uri="{FF2B5EF4-FFF2-40B4-BE49-F238E27FC236}">
                <a16:creationId xmlns:a16="http://schemas.microsoft.com/office/drawing/2014/main" id="{002BC9DB-67B4-1FC4-351C-D8B75DC77BB0}"/>
              </a:ext>
            </a:extLst>
          </p:cNvPr>
          <p:cNvSpPr/>
          <p:nvPr/>
        </p:nvSpPr>
        <p:spPr>
          <a:xfrm>
            <a:off x="6261100" y="3962400"/>
            <a:ext cx="52324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Shape_843">
            <a:extLst>
              <a:ext uri="{FF2B5EF4-FFF2-40B4-BE49-F238E27FC236}">
                <a16:creationId xmlns:a16="http://schemas.microsoft.com/office/drawing/2014/main" id="{32AEBFCD-4935-5D0D-5441-20CF1A5AACD6}"/>
              </a:ext>
            </a:extLst>
          </p:cNvPr>
          <p:cNvSpPr/>
          <p:nvPr/>
        </p:nvSpPr>
        <p:spPr>
          <a:xfrm>
            <a:off x="11404600" y="39624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20CC05-5394-9862-6B24-FFB5C6818FB8}"/>
              </a:ext>
            </a:extLst>
          </p:cNvPr>
          <p:cNvSpPr txBox="1"/>
          <p:nvPr/>
        </p:nvSpPr>
        <p:spPr>
          <a:xfrm>
            <a:off x="6464300" y="40431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436AF6-B710-4636-66D7-9FCCCDAAEC9E}"/>
              </a:ext>
            </a:extLst>
          </p:cNvPr>
          <p:cNvSpPr txBox="1"/>
          <p:nvPr/>
        </p:nvSpPr>
        <p:spPr>
          <a:xfrm>
            <a:off x="6464300" y="46946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after synthetic holes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9171C8-1B00-06E8-826A-49A30932E2F1}"/>
              </a:ext>
            </a:extLst>
          </p:cNvPr>
          <p:cNvSpPr txBox="1"/>
          <p:nvPr/>
        </p:nvSpPr>
        <p:spPr>
          <a:xfrm>
            <a:off x="6261100" y="5408131"/>
            <a:ext cx="52324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 3,873    validation 830    test 797</a:t>
            </a:r>
            <a:endParaRPr lang="en-IL" sz="16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78354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844">
            <a:extLst>
              <a:ext uri="{FF2B5EF4-FFF2-40B4-BE49-F238E27FC236}">
                <a16:creationId xmlns:a16="http://schemas.microsoft.com/office/drawing/2014/main" id="{AD04B103-C0BE-9054-42F2-23DC3DD197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845">
            <a:extLst>
              <a:ext uri="{FF2B5EF4-FFF2-40B4-BE49-F238E27FC236}">
                <a16:creationId xmlns:a16="http://schemas.microsoft.com/office/drawing/2014/main" id="{3CFFF537-41DD-892D-3EFF-141DA0AE867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9737B0-821C-CCB5-987A-A73358699E70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יצירת חוסרים סינתטיים בתוך אזור השינוי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4B445F-8B20-620F-F53B-75D7A32CBA92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9E66A2-6BF9-0DCE-BD46-5F5D35C6C740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D512529-7303-4A26-CF51-59F5D1DA5CBB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06 / 14</a:t>
            </a:r>
          </a:p>
        </p:txBody>
      </p:sp>
      <p:sp>
        <p:nvSpPr>
          <p:cNvPr id="10" name="Shape_846">
            <a:extLst>
              <a:ext uri="{FF2B5EF4-FFF2-40B4-BE49-F238E27FC236}">
                <a16:creationId xmlns:a16="http://schemas.microsoft.com/office/drawing/2014/main" id="{B3808B23-67B8-7C28-100F-C1AE5C26085D}"/>
              </a:ext>
            </a:extLst>
          </p:cNvPr>
          <p:cNvSpPr/>
          <p:nvPr/>
        </p:nvSpPr>
        <p:spPr>
          <a:xfrm>
            <a:off x="6413500" y="1498600"/>
            <a:ext cx="5080000" cy="32385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2002CD-874B-F0B4-98F4-A4728A16EB7F}"/>
              </a:ext>
            </a:extLst>
          </p:cNvPr>
          <p:cNvSpPr txBox="1"/>
          <p:nvPr/>
        </p:nvSpPr>
        <p:spPr>
          <a:xfrm>
            <a:off x="6794500" y="1740519"/>
            <a:ext cx="1778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</a:t>
            </a:r>
            <a:endParaRPr lang="en-IL" sz="14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B3E9FA-83DB-B414-88C3-05D0FE164DEA}"/>
              </a:ext>
            </a:extLst>
          </p:cNvPr>
          <p:cNvSpPr txBox="1"/>
          <p:nvPr/>
        </p:nvSpPr>
        <p:spPr>
          <a:xfrm>
            <a:off x="6794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  valid_d = 1'b1;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3" name="Shape_847">
            <a:extLst>
              <a:ext uri="{FF2B5EF4-FFF2-40B4-BE49-F238E27FC236}">
                <a16:creationId xmlns:a16="http://schemas.microsoft.com/office/drawing/2014/main" id="{2C9C6ED1-A07D-7A32-F499-B9B3E26550DE}"/>
              </a:ext>
            </a:extLst>
          </p:cNvPr>
          <p:cNvSpPr/>
          <p:nvPr/>
        </p:nvSpPr>
        <p:spPr>
          <a:xfrm>
            <a:off x="698500" y="1498600"/>
            <a:ext cx="5080000" cy="3238500"/>
          </a:xfrm>
          <a:prstGeom prst="rect">
            <a:avLst/>
          </a:prstGeom>
          <a:solidFill>
            <a:srgbClr val="262F3E"/>
          </a:solidFill>
          <a:ln w="0" cap="flat" cmpd="sng" algn="ctr">
            <a:solidFill>
              <a:srgbClr val="262F3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9AC2B7-B556-DEF7-34EC-03FAF8CE6C62}"/>
              </a:ext>
            </a:extLst>
          </p:cNvPr>
          <p:cNvSpPr txBox="1"/>
          <p:nvPr/>
        </p:nvSpPr>
        <p:spPr>
          <a:xfrm>
            <a:off x="1079500" y="1740519"/>
            <a:ext cx="2667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HOLE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0DFFF7-22E9-0463-8F00-D9A803295548}"/>
              </a:ext>
            </a:extLst>
          </p:cNvPr>
          <p:cNvSpPr txBox="1"/>
          <p:nvPr/>
        </p:nvSpPr>
        <p:spPr>
          <a:xfrm>
            <a:off x="1079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B2535DA-1379-CAAF-2469-D6F255FED95D}"/>
              </a:ext>
            </a:extLst>
          </p:cNvPr>
          <p:cNvCxnSpPr/>
          <p:nvPr/>
        </p:nvCxnSpPr>
        <p:spPr>
          <a:xfrm flipH="1">
            <a:off x="6286500" y="3111500"/>
            <a:ext cx="381000" cy="0"/>
          </a:xfrm>
          <a:prstGeom prst="line">
            <a:avLst/>
          </a:prstGeom>
          <a:ln w="381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03511DC-A4C6-3E66-4AB4-7DB1031FD24B}"/>
              </a:ext>
            </a:extLst>
          </p:cNvPr>
          <p:cNvSpPr txBox="1"/>
          <p:nvPr/>
        </p:nvSpPr>
        <p:spPr>
          <a:xfrm>
            <a:off x="4279900" y="4979476"/>
            <a:ext cx="36195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BA2AC5-05E4-D861-27D2-DCD6D7C982F1}"/>
              </a:ext>
            </a:extLst>
          </p:cNvPr>
          <p:cNvSpPr txBox="1"/>
          <p:nvPr/>
        </p:nvSpPr>
        <p:spPr>
          <a:xfrm>
            <a:off x="4470400" y="5330815"/>
            <a:ext cx="3238500" cy="5027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1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B09698-1CB2-59AF-58A9-F5CB4913DD47}"/>
              </a:ext>
            </a:extLst>
          </p:cNvPr>
          <p:cNvSpPr txBox="1"/>
          <p:nvPr/>
        </p:nvSpPr>
        <p:spPr>
          <a:xfrm>
            <a:off x="4330700" y="6048508"/>
            <a:ext cx="35306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of test synthetic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36247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848">
            <a:extLst>
              <a:ext uri="{FF2B5EF4-FFF2-40B4-BE49-F238E27FC236}">
                <a16:creationId xmlns:a16="http://schemas.microsoft.com/office/drawing/2014/main" id="{223ECACC-A30C-E70B-3641-95298ED418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849">
            <a:extLst>
              <a:ext uri="{FF2B5EF4-FFF2-40B4-BE49-F238E27FC236}">
                <a16:creationId xmlns:a16="http://schemas.microsoft.com/office/drawing/2014/main" id="{ED9DF460-CE8D-99BC-0CDA-3C302AFC0AC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9F87EE-50AA-4785-0385-1029D32509F6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השוואת ארבע משפחות מודלים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9A7AAD-74D2-1591-CB97-F18ECC9A95F4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A7C594-2730-6FDB-B652-19A80398781A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A9C7AAD-AE8D-0AF1-726C-39E66EAACCA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07 / 14</a:t>
            </a:r>
          </a:p>
        </p:txBody>
      </p:sp>
      <p:sp>
        <p:nvSpPr>
          <p:cNvPr id="10" name="Shape_850">
            <a:extLst>
              <a:ext uri="{FF2B5EF4-FFF2-40B4-BE49-F238E27FC236}">
                <a16:creationId xmlns:a16="http://schemas.microsoft.com/office/drawing/2014/main" id="{17753B07-5146-9324-D2E1-EC9B47BE2F7F}"/>
              </a:ext>
            </a:extLst>
          </p:cNvPr>
          <p:cNvSpPr/>
          <p:nvPr/>
        </p:nvSpPr>
        <p:spPr>
          <a:xfrm>
            <a:off x="9080500" y="1524000"/>
            <a:ext cx="2413000" cy="30226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F4D52A-AB26-A324-A16B-4CE1CD848D2F}"/>
              </a:ext>
            </a:extLst>
          </p:cNvPr>
          <p:cNvSpPr txBox="1"/>
          <p:nvPr/>
        </p:nvSpPr>
        <p:spPr>
          <a:xfrm>
            <a:off x="9309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899D47-6979-A520-404F-1B3B1D4610A9}"/>
              </a:ext>
            </a:extLst>
          </p:cNvPr>
          <p:cNvSpPr txBox="1"/>
          <p:nvPr/>
        </p:nvSpPr>
        <p:spPr>
          <a:xfrm>
            <a:off x="9309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TF-IDF + Logistic Regression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594937-26EC-84C7-2A49-E613DDE446A9}"/>
              </a:ext>
            </a:extLst>
          </p:cNvPr>
          <p:cNvSpPr txBox="1"/>
          <p:nvPr/>
        </p:nvSpPr>
        <p:spPr>
          <a:xfrm>
            <a:off x="9309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sparse lexical features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851">
            <a:extLst>
              <a:ext uri="{FF2B5EF4-FFF2-40B4-BE49-F238E27FC236}">
                <a16:creationId xmlns:a16="http://schemas.microsoft.com/office/drawing/2014/main" id="{8A84C0A6-E0DE-52F2-DB1C-11CCD353DB99}"/>
              </a:ext>
            </a:extLst>
          </p:cNvPr>
          <p:cNvSpPr/>
          <p:nvPr/>
        </p:nvSpPr>
        <p:spPr>
          <a:xfrm>
            <a:off x="6286500" y="1524000"/>
            <a:ext cx="2413000" cy="30226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7D179A-F48B-70D5-1B50-087495753E8B}"/>
              </a:ext>
            </a:extLst>
          </p:cNvPr>
          <p:cNvSpPr txBox="1"/>
          <p:nvPr/>
        </p:nvSpPr>
        <p:spPr>
          <a:xfrm>
            <a:off x="6515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06BBC1-1706-A2A3-E1CA-C123BDFA3949}"/>
              </a:ext>
            </a:extLst>
          </p:cNvPr>
          <p:cNvSpPr txBox="1"/>
          <p:nvPr/>
        </p:nvSpPr>
        <p:spPr>
          <a:xfrm>
            <a:off x="6515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MLP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A09546-50B1-6A7F-F862-30BB3077FD3E}"/>
              </a:ext>
            </a:extLst>
          </p:cNvPr>
          <p:cNvSpPr txBox="1"/>
          <p:nvPr/>
        </p:nvSpPr>
        <p:spPr>
          <a:xfrm>
            <a:off x="6515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pooled token embeddings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852">
            <a:extLst>
              <a:ext uri="{FF2B5EF4-FFF2-40B4-BE49-F238E27FC236}">
                <a16:creationId xmlns:a16="http://schemas.microsoft.com/office/drawing/2014/main" id="{17CA0EDE-726A-992C-035B-486B0AC18E2E}"/>
              </a:ext>
            </a:extLst>
          </p:cNvPr>
          <p:cNvSpPr/>
          <p:nvPr/>
        </p:nvSpPr>
        <p:spPr>
          <a:xfrm>
            <a:off x="3492500" y="1524000"/>
            <a:ext cx="2413000" cy="30226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3089FE-33BA-5F11-CA19-B2954ED00F93}"/>
              </a:ext>
            </a:extLst>
          </p:cNvPr>
          <p:cNvSpPr txBox="1"/>
          <p:nvPr/>
        </p:nvSpPr>
        <p:spPr>
          <a:xfrm>
            <a:off x="3721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8229CC-1669-82B5-5463-B0DBA4FDCA13}"/>
              </a:ext>
            </a:extLst>
          </p:cNvPr>
          <p:cNvSpPr txBox="1"/>
          <p:nvPr/>
        </p:nvSpPr>
        <p:spPr>
          <a:xfrm>
            <a:off x="3721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BiGRU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AA9F30-148B-5F5E-D487-852F54B6527E}"/>
              </a:ext>
            </a:extLst>
          </p:cNvPr>
          <p:cNvSpPr txBox="1"/>
          <p:nvPr/>
        </p:nvSpPr>
        <p:spPr>
          <a:xfrm>
            <a:off x="3721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flat sequence encoder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Shape_853">
            <a:extLst>
              <a:ext uri="{FF2B5EF4-FFF2-40B4-BE49-F238E27FC236}">
                <a16:creationId xmlns:a16="http://schemas.microsoft.com/office/drawing/2014/main" id="{0F050C33-EA32-56DC-7D6A-E05C4B08D29C}"/>
              </a:ext>
            </a:extLst>
          </p:cNvPr>
          <p:cNvSpPr/>
          <p:nvPr/>
        </p:nvSpPr>
        <p:spPr>
          <a:xfrm>
            <a:off x="698500" y="1524000"/>
            <a:ext cx="2413000" cy="30226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36F3B8-221F-07D2-81D9-50B0BFB1BA97}"/>
              </a:ext>
            </a:extLst>
          </p:cNvPr>
          <p:cNvSpPr txBox="1"/>
          <p:nvPr/>
        </p:nvSpPr>
        <p:spPr>
          <a:xfrm>
            <a:off x="927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AAC05-1683-DE04-94E4-A0718414C46E}"/>
              </a:ext>
            </a:extLst>
          </p:cNvPr>
          <p:cNvSpPr txBox="1"/>
          <p:nvPr/>
        </p:nvSpPr>
        <p:spPr>
          <a:xfrm>
            <a:off x="927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Hierarchical Transformer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303893-6202-4A1C-FBC1-A91F60EAC08F}"/>
              </a:ext>
            </a:extLst>
          </p:cNvPr>
          <p:cNvSpPr txBox="1"/>
          <p:nvPr/>
        </p:nvSpPr>
        <p:spPr>
          <a:xfrm>
            <a:off x="927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encoder + diff structure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Shape_854">
            <a:extLst>
              <a:ext uri="{FF2B5EF4-FFF2-40B4-BE49-F238E27FC236}">
                <a16:creationId xmlns:a16="http://schemas.microsoft.com/office/drawing/2014/main" id="{D327A3C7-76A5-C271-6E6B-39C9462623FC}"/>
              </a:ext>
            </a:extLst>
          </p:cNvPr>
          <p:cNvSpPr/>
          <p:nvPr/>
        </p:nvSpPr>
        <p:spPr>
          <a:xfrm>
            <a:off x="698500" y="4927600"/>
            <a:ext cx="10795000" cy="1028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CBEBD5-0F47-13BC-68E7-23DD5666BBC0}"/>
              </a:ext>
            </a:extLst>
          </p:cNvPr>
          <p:cNvSpPr txBox="1"/>
          <p:nvPr/>
        </p:nvSpPr>
        <p:spPr>
          <a:xfrm>
            <a:off x="990600" y="5067548"/>
            <a:ext cx="101219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אותו ייצוג משמש לשתי המשימות באמצעות </a:t>
            </a:r>
            <a:r>
              <a:rPr lang="en-US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⁦Multi-task head⁩ </a:t>
            </a:r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וכל משימה מקבלת פלט נפרד.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28043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855">
            <a:extLst>
              <a:ext uri="{FF2B5EF4-FFF2-40B4-BE49-F238E27FC236}">
                <a16:creationId xmlns:a16="http://schemas.microsoft.com/office/drawing/2014/main" id="{CA97AB9A-E95C-5B09-F6C3-6F616A555B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856">
            <a:extLst>
              <a:ext uri="{FF2B5EF4-FFF2-40B4-BE49-F238E27FC236}">
                <a16:creationId xmlns:a16="http://schemas.microsoft.com/office/drawing/2014/main" id="{BD5C0B14-3086-5A38-EB59-41F01FE31C3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65E8A6-FD7B-7CDA-24F1-AD4E1FF87FBA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הארכיטקטורה ההיררכית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4269C2-E66D-E5AA-9BCD-69D6F60A39DA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8311FA-2AE4-91DC-4C6D-D48275DE6901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60F1224-8983-AF69-CBD4-20E540C4BEC3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08 / 14</a:t>
            </a:r>
          </a:p>
        </p:txBody>
      </p:sp>
      <p:sp>
        <p:nvSpPr>
          <p:cNvPr id="10" name="Shape_857">
            <a:extLst>
              <a:ext uri="{FF2B5EF4-FFF2-40B4-BE49-F238E27FC236}">
                <a16:creationId xmlns:a16="http://schemas.microsoft.com/office/drawing/2014/main" id="{8E59468D-562A-E27B-CA0E-AA83074014D0}"/>
              </a:ext>
            </a:extLst>
          </p:cNvPr>
          <p:cNvSpPr/>
          <p:nvPr/>
        </p:nvSpPr>
        <p:spPr>
          <a:xfrm>
            <a:off x="9334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4431BE-7F0E-256F-0A14-3EEA89056647}"/>
              </a:ext>
            </a:extLst>
          </p:cNvPr>
          <p:cNvSpPr txBox="1"/>
          <p:nvPr/>
        </p:nvSpPr>
        <p:spPr>
          <a:xfrm>
            <a:off x="9486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Typed Diff Lines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D447C1-90EE-5235-45C7-662122DFF8FB}"/>
              </a:ext>
            </a:extLst>
          </p:cNvPr>
          <p:cNvCxnSpPr/>
          <p:nvPr/>
        </p:nvCxnSpPr>
        <p:spPr>
          <a:xfrm flipH="1">
            <a:off x="9296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858">
            <a:extLst>
              <a:ext uri="{FF2B5EF4-FFF2-40B4-BE49-F238E27FC236}">
                <a16:creationId xmlns:a16="http://schemas.microsoft.com/office/drawing/2014/main" id="{3DB57344-00E0-001A-2743-42C4F584E9EF}"/>
              </a:ext>
            </a:extLst>
          </p:cNvPr>
          <p:cNvSpPr/>
          <p:nvPr/>
        </p:nvSpPr>
        <p:spPr>
          <a:xfrm>
            <a:off x="7175500" y="1955800"/>
            <a:ext cx="1905000" cy="16764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CE8301-51E6-54E1-4F85-F12553A72004}"/>
              </a:ext>
            </a:extLst>
          </p:cNvPr>
          <p:cNvSpPr txBox="1"/>
          <p:nvPr/>
        </p:nvSpPr>
        <p:spPr>
          <a:xfrm>
            <a:off x="7327900" y="2304325"/>
            <a:ext cx="16002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Token Embedding + BiGRU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B2EA24-DB7A-3203-7983-57A828D24D0C}"/>
              </a:ext>
            </a:extLst>
          </p:cNvPr>
          <p:cNvCxnSpPr/>
          <p:nvPr/>
        </p:nvCxnSpPr>
        <p:spPr>
          <a:xfrm flipH="1">
            <a:off x="7137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859">
            <a:extLst>
              <a:ext uri="{FF2B5EF4-FFF2-40B4-BE49-F238E27FC236}">
                <a16:creationId xmlns:a16="http://schemas.microsoft.com/office/drawing/2014/main" id="{90E1346C-75A8-D839-4118-2BF25CFBB500}"/>
              </a:ext>
            </a:extLst>
          </p:cNvPr>
          <p:cNvSpPr/>
          <p:nvPr/>
        </p:nvSpPr>
        <p:spPr>
          <a:xfrm>
            <a:off x="5016500" y="1955800"/>
            <a:ext cx="1905000" cy="16764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073444-49E1-279C-9334-D03E59C8D271}"/>
              </a:ext>
            </a:extLst>
          </p:cNvPr>
          <p:cNvSpPr txBox="1"/>
          <p:nvPr/>
        </p:nvSpPr>
        <p:spPr>
          <a:xfrm>
            <a:off x="5168900" y="2288936"/>
            <a:ext cx="16002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Vector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8DAEFDB-13F7-F6DF-330A-1C25F0C348B4}"/>
              </a:ext>
            </a:extLst>
          </p:cNvPr>
          <p:cNvCxnSpPr/>
          <p:nvPr/>
        </p:nvCxnSpPr>
        <p:spPr>
          <a:xfrm flipH="1">
            <a:off x="4978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860">
            <a:extLst>
              <a:ext uri="{FF2B5EF4-FFF2-40B4-BE49-F238E27FC236}">
                <a16:creationId xmlns:a16="http://schemas.microsoft.com/office/drawing/2014/main" id="{93325D55-0F64-C010-B903-403DC82A2712}"/>
              </a:ext>
            </a:extLst>
          </p:cNvPr>
          <p:cNvSpPr/>
          <p:nvPr/>
        </p:nvSpPr>
        <p:spPr>
          <a:xfrm>
            <a:off x="2857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CCE940-12CF-2287-EBEF-A982AF60018E}"/>
              </a:ext>
            </a:extLst>
          </p:cNvPr>
          <p:cNvSpPr txBox="1"/>
          <p:nvPr/>
        </p:nvSpPr>
        <p:spPr>
          <a:xfrm>
            <a:off x="3009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Transformer Encoder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373A9E-1391-8E1E-AAD8-3207008DB918}"/>
              </a:ext>
            </a:extLst>
          </p:cNvPr>
          <p:cNvCxnSpPr/>
          <p:nvPr/>
        </p:nvCxnSpPr>
        <p:spPr>
          <a:xfrm flipH="1">
            <a:off x="2819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861">
            <a:extLst>
              <a:ext uri="{FF2B5EF4-FFF2-40B4-BE49-F238E27FC236}">
                <a16:creationId xmlns:a16="http://schemas.microsoft.com/office/drawing/2014/main" id="{9F9628CD-B896-ECCD-5840-C1F3E417405A}"/>
              </a:ext>
            </a:extLst>
          </p:cNvPr>
          <p:cNvSpPr/>
          <p:nvPr/>
        </p:nvSpPr>
        <p:spPr>
          <a:xfrm>
            <a:off x="698500" y="1955800"/>
            <a:ext cx="1905000" cy="16764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D6FFDB-1C67-2792-2138-5B316298EA16}"/>
              </a:ext>
            </a:extLst>
          </p:cNvPr>
          <p:cNvSpPr txBox="1"/>
          <p:nvPr/>
        </p:nvSpPr>
        <p:spPr>
          <a:xfrm>
            <a:off x="850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Head
Hole Head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FBF6B6-D690-0BBE-A99F-22E269901B14}"/>
              </a:ext>
            </a:extLst>
          </p:cNvPr>
          <p:cNvSpPr txBox="1"/>
          <p:nvPr/>
        </p:nvSpPr>
        <p:spPr>
          <a:xfrm>
            <a:off x="9410700" y="3996486"/>
            <a:ext cx="17526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ADD   DEL   CONTEXT</a:t>
            </a:r>
            <a:endParaRPr lang="en-IL" sz="13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Shape_862">
            <a:extLst>
              <a:ext uri="{FF2B5EF4-FFF2-40B4-BE49-F238E27FC236}">
                <a16:creationId xmlns:a16="http://schemas.microsoft.com/office/drawing/2014/main" id="{36789EF3-1944-0BBE-4F84-485989DD229B}"/>
              </a:ext>
            </a:extLst>
          </p:cNvPr>
          <p:cNvSpPr/>
          <p:nvPr/>
        </p:nvSpPr>
        <p:spPr>
          <a:xfrm>
            <a:off x="698500" y="4673600"/>
            <a:ext cx="10795000" cy="11557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E83251-1948-3CA8-9517-2804A403CE43}"/>
              </a:ext>
            </a:extLst>
          </p:cNvPr>
          <p:cNvSpPr txBox="1"/>
          <p:nvPr/>
        </p:nvSpPr>
        <p:spPr>
          <a:xfrm>
            <a:off x="990600" y="4882053"/>
            <a:ext cx="101219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הייצוג </a:t>
            </a:r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⁦line-type embedding⁩ </a:t>
            </a:r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מוסיף מידע מפורש על תפקיד כל שורה בתוך השינוי.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83897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863">
            <a:extLst>
              <a:ext uri="{FF2B5EF4-FFF2-40B4-BE49-F238E27FC236}">
                <a16:creationId xmlns:a16="http://schemas.microsoft.com/office/drawing/2014/main" id="{E864A3E0-D87C-C1AD-3D4F-48541BEAF4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864">
            <a:extLst>
              <a:ext uri="{FF2B5EF4-FFF2-40B4-BE49-F238E27FC236}">
                <a16:creationId xmlns:a16="http://schemas.microsoft.com/office/drawing/2014/main" id="{82998F05-D7BA-5E61-6F0B-870BB7C5D82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50AA03-B9E8-3012-F839-C18A7C555CCA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סיווג המטרה: המודל הפשוט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7EBBAF-163E-386F-5349-6E50F2104AE7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22F757-1401-E4AE-03D6-5940B8F51EF6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1507973-802C-2FAD-7E6F-31C563CFFB2D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09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DBAF1B-E3E2-F8A8-5565-FBCC666C216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25600"/>
            <a:ext cx="7239000" cy="4241800"/>
          </a:xfrm>
          <a:prstGeom prst="rect">
            <a:avLst/>
          </a:prstGeom>
        </p:spPr>
      </p:pic>
      <p:sp>
        <p:nvSpPr>
          <p:cNvPr id="12" name="Shape_865">
            <a:extLst>
              <a:ext uri="{FF2B5EF4-FFF2-40B4-BE49-F238E27FC236}">
                <a16:creationId xmlns:a16="http://schemas.microsoft.com/office/drawing/2014/main" id="{677EF166-CFB2-D0B3-3771-7A743AC1A914}"/>
              </a:ext>
            </a:extLst>
          </p:cNvPr>
          <p:cNvSpPr/>
          <p:nvPr/>
        </p:nvSpPr>
        <p:spPr>
          <a:xfrm>
            <a:off x="8343900" y="1739900"/>
            <a:ext cx="31496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866">
            <a:extLst>
              <a:ext uri="{FF2B5EF4-FFF2-40B4-BE49-F238E27FC236}">
                <a16:creationId xmlns:a16="http://schemas.microsoft.com/office/drawing/2014/main" id="{1A2D2E01-6DE8-17FF-CAEA-ED737D91BA09}"/>
              </a:ext>
            </a:extLst>
          </p:cNvPr>
          <p:cNvSpPr/>
          <p:nvPr/>
        </p:nvSpPr>
        <p:spPr>
          <a:xfrm>
            <a:off x="11404600" y="17399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9C3F4B-D2DA-6900-A680-BC6760CCCBAF}"/>
              </a:ext>
            </a:extLst>
          </p:cNvPr>
          <p:cNvSpPr txBox="1"/>
          <p:nvPr/>
        </p:nvSpPr>
        <p:spPr>
          <a:xfrm>
            <a:off x="8547100" y="1820609"/>
            <a:ext cx="27051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4CFFA2-253C-B2A1-E54E-E2051A252B3F}"/>
              </a:ext>
            </a:extLst>
          </p:cNvPr>
          <p:cNvSpPr txBox="1"/>
          <p:nvPr/>
        </p:nvSpPr>
        <p:spPr>
          <a:xfrm>
            <a:off x="8547100" y="2472114"/>
            <a:ext cx="27051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test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7DF506-3F13-527C-0C41-B88727B79807}"/>
              </a:ext>
            </a:extLst>
          </p:cNvPr>
          <p:cNvSpPr txBox="1"/>
          <p:nvPr/>
        </p:nvSpPr>
        <p:spPr>
          <a:xfrm>
            <a:off x="8343900" y="2892787"/>
            <a:ext cx="3149600" cy="125675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 הבסיס </a:t>
            </a:r>
            <a:r>
              <a:rPr lang="en-US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⁦TF-IDF⁩ </a:t>
            </a:r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השיג את התוצאה הטובה ביותר. האות הלקסיקלי הספיק כדי לעקוף את המודלים העמוקים.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Shape_867">
            <a:extLst>
              <a:ext uri="{FF2B5EF4-FFF2-40B4-BE49-F238E27FC236}">
                <a16:creationId xmlns:a16="http://schemas.microsoft.com/office/drawing/2014/main" id="{953CAA99-CE31-0287-08CD-88775EA3ABE3}"/>
              </a:ext>
            </a:extLst>
          </p:cNvPr>
          <p:cNvSpPr/>
          <p:nvPr/>
        </p:nvSpPr>
        <p:spPr>
          <a:xfrm>
            <a:off x="8343900" y="5270500"/>
            <a:ext cx="3149600" cy="5969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F799AA-657D-8173-5A7B-E81F6B91F0B3}"/>
              </a:ext>
            </a:extLst>
          </p:cNvPr>
          <p:cNvSpPr txBox="1"/>
          <p:nvPr/>
        </p:nvSpPr>
        <p:spPr>
          <a:xfrm>
            <a:off x="8559800" y="5461619"/>
            <a:ext cx="27305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refactor_cleanup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76354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868">
            <a:extLst>
              <a:ext uri="{FF2B5EF4-FFF2-40B4-BE49-F238E27FC236}">
                <a16:creationId xmlns:a16="http://schemas.microsoft.com/office/drawing/2014/main" id="{E526879F-E943-673D-120F-5DA304E902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869">
            <a:extLst>
              <a:ext uri="{FF2B5EF4-FFF2-40B4-BE49-F238E27FC236}">
                <a16:creationId xmlns:a16="http://schemas.microsoft.com/office/drawing/2014/main" id="{8152B9EF-44F0-DB21-55E1-EA7E9A7D24A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7AC6B5-E2AC-D387-C012-8796F506D79C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בדיקת בקרה חושפת דליפה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0AA2B5-50A0-C8A3-C6D2-BD9EF9F15823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C521762-288F-5F27-D79B-9B3AD45D586A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6FFAB31-7EFF-CF80-2A79-4CD76E2B5069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10 / 14</a:t>
            </a:r>
          </a:p>
        </p:txBody>
      </p:sp>
      <p:sp>
        <p:nvSpPr>
          <p:cNvPr id="10" name="Shape_870">
            <a:extLst>
              <a:ext uri="{FF2B5EF4-FFF2-40B4-BE49-F238E27FC236}">
                <a16:creationId xmlns:a16="http://schemas.microsoft.com/office/drawing/2014/main" id="{64375983-DE0E-0476-DE1E-EFEBD6F5FD27}"/>
              </a:ext>
            </a:extLst>
          </p:cNvPr>
          <p:cNvSpPr/>
          <p:nvPr/>
        </p:nvSpPr>
        <p:spPr>
          <a:xfrm>
            <a:off x="7747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4901AD-F96A-2301-7A91-A84CEE045243}"/>
              </a:ext>
            </a:extLst>
          </p:cNvPr>
          <p:cNvSpPr txBox="1"/>
          <p:nvPr/>
        </p:nvSpPr>
        <p:spPr>
          <a:xfrm>
            <a:off x="7975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commit message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AE2A42-94B2-3519-EB7D-C49CB5137275}"/>
              </a:ext>
            </a:extLst>
          </p:cNvPr>
          <p:cNvCxnSpPr/>
          <p:nvPr/>
        </p:nvCxnSpPr>
        <p:spPr>
          <a:xfrm flipH="1">
            <a:off x="7620000" y="2565400"/>
            <a:ext cx="2540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871">
            <a:extLst>
              <a:ext uri="{FF2B5EF4-FFF2-40B4-BE49-F238E27FC236}">
                <a16:creationId xmlns:a16="http://schemas.microsoft.com/office/drawing/2014/main" id="{C699DF2B-E18D-A07C-4271-29DBDFA1311F}"/>
              </a:ext>
            </a:extLst>
          </p:cNvPr>
          <p:cNvSpPr/>
          <p:nvPr/>
        </p:nvSpPr>
        <p:spPr>
          <a:xfrm>
            <a:off x="4318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9E2B93-F723-8BF0-F53D-6DFBEDA4A4F6}"/>
              </a:ext>
            </a:extLst>
          </p:cNvPr>
          <p:cNvSpPr txBox="1"/>
          <p:nvPr/>
        </p:nvSpPr>
        <p:spPr>
          <a:xfrm>
            <a:off x="4546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F1B94C-5690-5968-1F48-AF2C0A064C6D}"/>
              </a:ext>
            </a:extLst>
          </p:cNvPr>
          <p:cNvCxnSpPr/>
          <p:nvPr/>
        </p:nvCxnSpPr>
        <p:spPr>
          <a:xfrm flipH="1">
            <a:off x="4191000" y="2565400"/>
            <a:ext cx="2540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872">
            <a:extLst>
              <a:ext uri="{FF2B5EF4-FFF2-40B4-BE49-F238E27FC236}">
                <a16:creationId xmlns:a16="http://schemas.microsoft.com/office/drawing/2014/main" id="{D3991182-9285-FCEA-B03F-FB5C76216A85}"/>
              </a:ext>
            </a:extLst>
          </p:cNvPr>
          <p:cNvSpPr/>
          <p:nvPr/>
        </p:nvSpPr>
        <p:spPr>
          <a:xfrm>
            <a:off x="889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9FF339-6760-5E54-8B48-675CC1083276}"/>
              </a:ext>
            </a:extLst>
          </p:cNvPr>
          <p:cNvSpPr txBox="1"/>
          <p:nvPr/>
        </p:nvSpPr>
        <p:spPr>
          <a:xfrm>
            <a:off x="1117600" y="2162765"/>
            <a:ext cx="24638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message-only model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31C253-7C94-E694-F4EC-3567E6FC5D0D}"/>
              </a:ext>
            </a:extLst>
          </p:cNvPr>
          <p:cNvSpPr txBox="1"/>
          <p:nvPr/>
        </p:nvSpPr>
        <p:spPr>
          <a:xfrm>
            <a:off x="4279900" y="3485510"/>
            <a:ext cx="3683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48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0.9855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DFD268-F4A0-7BF6-AE49-E59DAFDF266B}"/>
              </a:ext>
            </a:extLst>
          </p:cNvPr>
          <p:cNvSpPr txBox="1"/>
          <p:nvPr/>
        </p:nvSpPr>
        <p:spPr>
          <a:xfrm>
            <a:off x="5054600" y="4587636"/>
            <a:ext cx="21336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Macro-F1</a:t>
            </a:r>
            <a:endParaRPr lang="en-IL" sz="1700" b="1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873">
            <a:extLst>
              <a:ext uri="{FF2B5EF4-FFF2-40B4-BE49-F238E27FC236}">
                <a16:creationId xmlns:a16="http://schemas.microsoft.com/office/drawing/2014/main" id="{E2073A80-8010-6ACB-7000-92401EC48E6A}"/>
              </a:ext>
            </a:extLst>
          </p:cNvPr>
          <p:cNvSpPr/>
          <p:nvPr/>
        </p:nvSpPr>
        <p:spPr>
          <a:xfrm>
            <a:off x="889000" y="5295900"/>
            <a:ext cx="9779000" cy="7493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2085DD-25E4-9EF7-91EE-7686E0234381}"/>
              </a:ext>
            </a:extLst>
          </p:cNvPr>
          <p:cNvSpPr txBox="1"/>
          <p:nvPr/>
        </p:nvSpPr>
        <p:spPr>
          <a:xfrm>
            <a:off x="1206500" y="5440853"/>
            <a:ext cx="9144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המדד כמעט משחזר את מנגנון התיוג, ולכן אינו הוכחה להבנת קוד טהורה.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94473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874">
            <a:extLst>
              <a:ext uri="{FF2B5EF4-FFF2-40B4-BE49-F238E27FC236}">
                <a16:creationId xmlns:a16="http://schemas.microsoft.com/office/drawing/2014/main" id="{3A067962-4845-6F5B-1159-9B7EB48751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875">
            <a:extLst>
              <a:ext uri="{FF2B5EF4-FFF2-40B4-BE49-F238E27FC236}">
                <a16:creationId xmlns:a16="http://schemas.microsoft.com/office/drawing/2014/main" id="{6BBAD7A4-401A-2026-74F6-95464FC4EE9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E5396-BB1E-EC92-50F1-5D3F2B714EB5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חוסר: המבנה ההיררכי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1D7F36-75B2-B13C-D3A1-87A3C1017FFB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C88A7A4-941B-2F30-2612-F83F63606CAA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15D6553-A91D-46A7-12BE-D9A94242E39B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11 / 14</a:t>
            </a:r>
          </a:p>
        </p:txBody>
      </p:sp>
      <p:sp>
        <p:nvSpPr>
          <p:cNvPr id="10" name="Shape_876">
            <a:extLst>
              <a:ext uri="{FF2B5EF4-FFF2-40B4-BE49-F238E27FC236}">
                <a16:creationId xmlns:a16="http://schemas.microsoft.com/office/drawing/2014/main" id="{13156766-06D0-BAA2-B3C4-F8A53E4F4FC7}"/>
              </a:ext>
            </a:extLst>
          </p:cNvPr>
          <p:cNvSpPr/>
          <p:nvPr/>
        </p:nvSpPr>
        <p:spPr>
          <a:xfrm>
            <a:off x="8191500" y="1320800"/>
            <a:ext cx="3302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877">
            <a:extLst>
              <a:ext uri="{FF2B5EF4-FFF2-40B4-BE49-F238E27FC236}">
                <a16:creationId xmlns:a16="http://schemas.microsoft.com/office/drawing/2014/main" id="{D15274F7-00AA-4C49-D327-781BBEF7957E}"/>
              </a:ext>
            </a:extLst>
          </p:cNvPr>
          <p:cNvSpPr/>
          <p:nvPr/>
        </p:nvSpPr>
        <p:spPr>
          <a:xfrm>
            <a:off x="11404600" y="1320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B15403-42D0-3841-4632-60F383C49784}"/>
              </a:ext>
            </a:extLst>
          </p:cNvPr>
          <p:cNvSpPr txBox="1"/>
          <p:nvPr/>
        </p:nvSpPr>
        <p:spPr>
          <a:xfrm>
            <a:off x="8394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BD2634-1C99-4361-5229-949E7D062F8D}"/>
              </a:ext>
            </a:extLst>
          </p:cNvPr>
          <p:cNvSpPr txBox="1"/>
          <p:nvPr/>
        </p:nvSpPr>
        <p:spPr>
          <a:xfrm>
            <a:off x="8394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878">
            <a:extLst>
              <a:ext uri="{FF2B5EF4-FFF2-40B4-BE49-F238E27FC236}">
                <a16:creationId xmlns:a16="http://schemas.microsoft.com/office/drawing/2014/main" id="{6ECDBA6D-28EA-9288-1B04-7706F756A7D3}"/>
              </a:ext>
            </a:extLst>
          </p:cNvPr>
          <p:cNvSpPr/>
          <p:nvPr/>
        </p:nvSpPr>
        <p:spPr>
          <a:xfrm>
            <a:off x="4445000" y="1320800"/>
            <a:ext cx="3302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879">
            <a:extLst>
              <a:ext uri="{FF2B5EF4-FFF2-40B4-BE49-F238E27FC236}">
                <a16:creationId xmlns:a16="http://schemas.microsoft.com/office/drawing/2014/main" id="{55234696-D3D0-F7AF-F553-AC04000CD42D}"/>
              </a:ext>
            </a:extLst>
          </p:cNvPr>
          <p:cNvSpPr/>
          <p:nvPr/>
        </p:nvSpPr>
        <p:spPr>
          <a:xfrm>
            <a:off x="7658100" y="1320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FA9119-1F6E-4537-8BE0-DA0E81974D9B}"/>
              </a:ext>
            </a:extLst>
          </p:cNvPr>
          <p:cNvSpPr txBox="1"/>
          <p:nvPr/>
        </p:nvSpPr>
        <p:spPr>
          <a:xfrm>
            <a:off x="46482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39B4F5-1B93-5C1C-AA8E-00A4A162D6C4}"/>
              </a:ext>
            </a:extLst>
          </p:cNvPr>
          <p:cNvSpPr txBox="1"/>
          <p:nvPr/>
        </p:nvSpPr>
        <p:spPr>
          <a:xfrm>
            <a:off x="46482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880">
            <a:extLst>
              <a:ext uri="{FF2B5EF4-FFF2-40B4-BE49-F238E27FC236}">
                <a16:creationId xmlns:a16="http://schemas.microsoft.com/office/drawing/2014/main" id="{D0C34CD5-92C2-A57C-8513-C48690387A5C}"/>
              </a:ext>
            </a:extLst>
          </p:cNvPr>
          <p:cNvSpPr/>
          <p:nvPr/>
        </p:nvSpPr>
        <p:spPr>
          <a:xfrm>
            <a:off x="698500" y="1320800"/>
            <a:ext cx="3302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881">
            <a:extLst>
              <a:ext uri="{FF2B5EF4-FFF2-40B4-BE49-F238E27FC236}">
                <a16:creationId xmlns:a16="http://schemas.microsoft.com/office/drawing/2014/main" id="{DFC8F9EC-5289-3CC6-41E2-F0A92357714D}"/>
              </a:ext>
            </a:extLst>
          </p:cNvPr>
          <p:cNvSpPr/>
          <p:nvPr/>
        </p:nvSpPr>
        <p:spPr>
          <a:xfrm>
            <a:off x="3911600" y="13208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B8C579-4A11-A6DF-B19C-9CC7BAA2EAF1}"/>
              </a:ext>
            </a:extLst>
          </p:cNvPr>
          <p:cNvSpPr txBox="1"/>
          <p:nvPr/>
        </p:nvSpPr>
        <p:spPr>
          <a:xfrm>
            <a:off x="901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172 → 81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1EB0AE-A3CB-AA77-E829-D89652415F2A}"/>
              </a:ext>
            </a:extLst>
          </p:cNvPr>
          <p:cNvSpPr txBox="1"/>
          <p:nvPr/>
        </p:nvSpPr>
        <p:spPr>
          <a:xfrm>
            <a:off x="901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false positives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83E8721-8A24-4738-06C4-8DA17EA8B4A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717800"/>
            <a:ext cx="9804400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077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882">
            <a:extLst>
              <a:ext uri="{FF2B5EF4-FFF2-40B4-BE49-F238E27FC236}">
                <a16:creationId xmlns:a16="http://schemas.microsoft.com/office/drawing/2014/main" id="{88945EE2-2A43-34AA-7AEB-8981723A77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883">
            <a:extLst>
              <a:ext uri="{FF2B5EF4-FFF2-40B4-BE49-F238E27FC236}">
                <a16:creationId xmlns:a16="http://schemas.microsoft.com/office/drawing/2014/main" id="{FEBF0D69-3A7F-44B8-3F40-4901D374DAD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63E1F9-CC54-97A1-7A26-A66AF6372D87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על סוג השורה הוא רכיב מהותי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37CA94-4453-E0B2-AB78-12516108AEAD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B4E396-AF2C-73F5-B351-C739684A2F7B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05AA964-3C75-652F-51F5-40F5E5D08FDA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12 / 14</a:t>
            </a:r>
          </a:p>
        </p:txBody>
      </p:sp>
      <p:sp>
        <p:nvSpPr>
          <p:cNvPr id="10" name="Shape_884">
            <a:extLst>
              <a:ext uri="{FF2B5EF4-FFF2-40B4-BE49-F238E27FC236}">
                <a16:creationId xmlns:a16="http://schemas.microsoft.com/office/drawing/2014/main" id="{56934F95-512E-EE44-3C39-C12EA72B3D61}"/>
              </a:ext>
            </a:extLst>
          </p:cNvPr>
          <p:cNvSpPr/>
          <p:nvPr/>
        </p:nvSpPr>
        <p:spPr>
          <a:xfrm>
            <a:off x="1778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885">
            <a:extLst>
              <a:ext uri="{FF2B5EF4-FFF2-40B4-BE49-F238E27FC236}">
                <a16:creationId xmlns:a16="http://schemas.microsoft.com/office/drawing/2014/main" id="{1765100B-3CAF-A633-4B2A-201F065CA02B}"/>
              </a:ext>
            </a:extLst>
          </p:cNvPr>
          <p:cNvSpPr/>
          <p:nvPr/>
        </p:nvSpPr>
        <p:spPr>
          <a:xfrm>
            <a:off x="5372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534320-4223-87DC-6D65-246A500FF44B}"/>
              </a:ext>
            </a:extLst>
          </p:cNvPr>
          <p:cNvSpPr txBox="1"/>
          <p:nvPr/>
        </p:nvSpPr>
        <p:spPr>
          <a:xfrm>
            <a:off x="1981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−0.1305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A6EA02-9E18-9772-27EF-76D8EE19BD45}"/>
              </a:ext>
            </a:extLst>
          </p:cNvPr>
          <p:cNvSpPr txBox="1"/>
          <p:nvPr/>
        </p:nvSpPr>
        <p:spPr>
          <a:xfrm>
            <a:off x="1981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886">
            <a:extLst>
              <a:ext uri="{FF2B5EF4-FFF2-40B4-BE49-F238E27FC236}">
                <a16:creationId xmlns:a16="http://schemas.microsoft.com/office/drawing/2014/main" id="{F5062D87-A8B9-40CC-D1B1-80D240726091}"/>
              </a:ext>
            </a:extLst>
          </p:cNvPr>
          <p:cNvSpPr/>
          <p:nvPr/>
        </p:nvSpPr>
        <p:spPr>
          <a:xfrm>
            <a:off x="6731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887">
            <a:extLst>
              <a:ext uri="{FF2B5EF4-FFF2-40B4-BE49-F238E27FC236}">
                <a16:creationId xmlns:a16="http://schemas.microsoft.com/office/drawing/2014/main" id="{BA0E52AF-4960-3A1E-72C2-10EF8F881D03}"/>
              </a:ext>
            </a:extLst>
          </p:cNvPr>
          <p:cNvSpPr/>
          <p:nvPr/>
        </p:nvSpPr>
        <p:spPr>
          <a:xfrm>
            <a:off x="10325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98DD1E-A056-D632-4F08-DC71DFC982B3}"/>
              </a:ext>
            </a:extLst>
          </p:cNvPr>
          <p:cNvSpPr txBox="1"/>
          <p:nvPr/>
        </p:nvSpPr>
        <p:spPr>
          <a:xfrm>
            <a:off x="6934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−0.1058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6F9395-43CB-9093-D150-22524A5BC5C8}"/>
              </a:ext>
            </a:extLst>
          </p:cNvPr>
          <p:cNvSpPr txBox="1"/>
          <p:nvPr/>
        </p:nvSpPr>
        <p:spPr>
          <a:xfrm>
            <a:off x="6934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117313B-0EFB-776D-F068-EB10244B05B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2603500"/>
            <a:ext cx="109474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558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888">
            <a:extLst>
              <a:ext uri="{FF2B5EF4-FFF2-40B4-BE49-F238E27FC236}">
                <a16:creationId xmlns:a16="http://schemas.microsoft.com/office/drawing/2014/main" id="{7C9277CE-6372-1654-852C-8A6C42F7D8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889">
            <a:extLst>
              <a:ext uri="{FF2B5EF4-FFF2-40B4-BE49-F238E27FC236}">
                <a16:creationId xmlns:a16="http://schemas.microsoft.com/office/drawing/2014/main" id="{598373AF-3C77-7250-5D6F-AAAEE31430E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218892-5625-F2C8-7431-E6754D3369C7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 המודל עדיין לא הוכיח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C1D957-768B-A4BB-D128-5E362151650B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8C4368-EAF4-7E9F-1E20-AA3B0C29B293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D7A1383-969D-9150-147E-DCAE81DB9405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13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B874D9-926B-C6E6-DEC4-2E4BB1DB85F9}"/>
              </a:ext>
            </a:extLst>
          </p:cNvPr>
          <p:cNvSpPr txBox="1"/>
          <p:nvPr/>
        </p:nvSpPr>
        <p:spPr>
          <a:xfrm>
            <a:off x="8382000" y="1204888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IL" sz="44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8CAA97-022D-A576-8F4E-9046E40B42AF}"/>
              </a:ext>
            </a:extLst>
          </p:cNvPr>
          <p:cNvSpPr txBox="1"/>
          <p:nvPr/>
        </p:nvSpPr>
        <p:spPr>
          <a:xfrm>
            <a:off x="8382000" y="2288936"/>
            <a:ext cx="3111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Shape_890">
            <a:extLst>
              <a:ext uri="{FF2B5EF4-FFF2-40B4-BE49-F238E27FC236}">
                <a16:creationId xmlns:a16="http://schemas.microsoft.com/office/drawing/2014/main" id="{C77DF963-7DDC-577E-7B71-1E140E8FAB4C}"/>
              </a:ext>
            </a:extLst>
          </p:cNvPr>
          <p:cNvSpPr/>
          <p:nvPr/>
        </p:nvSpPr>
        <p:spPr>
          <a:xfrm>
            <a:off x="8382000" y="2806700"/>
            <a:ext cx="3111500" cy="3048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891">
            <a:extLst>
              <a:ext uri="{FF2B5EF4-FFF2-40B4-BE49-F238E27FC236}">
                <a16:creationId xmlns:a16="http://schemas.microsoft.com/office/drawing/2014/main" id="{C2261E99-F0B5-24B6-A086-ACC09DB6BD49}"/>
              </a:ext>
            </a:extLst>
          </p:cNvPr>
          <p:cNvSpPr/>
          <p:nvPr/>
        </p:nvSpPr>
        <p:spPr>
          <a:xfrm>
            <a:off x="8940800" y="2806700"/>
            <a:ext cx="2552700" cy="3048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C0844C-6681-014E-78B7-A61FD221987E}"/>
              </a:ext>
            </a:extLst>
          </p:cNvPr>
          <p:cNvSpPr txBox="1"/>
          <p:nvPr/>
        </p:nvSpPr>
        <p:spPr>
          <a:xfrm>
            <a:off x="8382000" y="3292608"/>
            <a:ext cx="31115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mutation distribution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Shape_892">
            <a:extLst>
              <a:ext uri="{FF2B5EF4-FFF2-40B4-BE49-F238E27FC236}">
                <a16:creationId xmlns:a16="http://schemas.microsoft.com/office/drawing/2014/main" id="{FF065910-AFF9-CF7A-FC3C-AEEB177C1554}"/>
              </a:ext>
            </a:extLst>
          </p:cNvPr>
          <p:cNvSpPr/>
          <p:nvPr/>
        </p:nvSpPr>
        <p:spPr>
          <a:xfrm>
            <a:off x="698500" y="1346200"/>
            <a:ext cx="7112000" cy="12573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968646-537C-9175-1034-337D242ED872}"/>
              </a:ext>
            </a:extLst>
          </p:cNvPr>
          <p:cNvSpPr txBox="1"/>
          <p:nvPr/>
        </p:nvSpPr>
        <p:spPr>
          <a:xfrm>
            <a:off x="3556000" y="14965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Coverage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A573BC-8B74-C771-9E15-F44EA85F48C6}"/>
              </a:ext>
            </a:extLst>
          </p:cNvPr>
          <p:cNvSpPr txBox="1"/>
          <p:nvPr/>
        </p:nvSpPr>
        <p:spPr>
          <a:xfrm>
            <a:off x="965200" y="18621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רוב הדוגמאות נוצרו מהסרת שורה שנוספה.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893">
            <a:extLst>
              <a:ext uri="{FF2B5EF4-FFF2-40B4-BE49-F238E27FC236}">
                <a16:creationId xmlns:a16="http://schemas.microsoft.com/office/drawing/2014/main" id="{1744BFFD-B602-6652-23EB-01BC5BB5C977}"/>
              </a:ext>
            </a:extLst>
          </p:cNvPr>
          <p:cNvSpPr/>
          <p:nvPr/>
        </p:nvSpPr>
        <p:spPr>
          <a:xfrm>
            <a:off x="698500" y="2921000"/>
            <a:ext cx="7112000" cy="12573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9B4069-BED8-BA87-0224-4D85EADC6D66}"/>
              </a:ext>
            </a:extLst>
          </p:cNvPr>
          <p:cNvSpPr txBox="1"/>
          <p:nvPr/>
        </p:nvSpPr>
        <p:spPr>
          <a:xfrm>
            <a:off x="3556000" y="30713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Rare Mutations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9B7775-AC1C-7304-AF1C-96B65BCBA1ED}"/>
              </a:ext>
            </a:extLst>
          </p:cNvPr>
          <p:cNvSpPr txBox="1"/>
          <p:nvPr/>
        </p:nvSpPr>
        <p:spPr>
          <a:xfrm>
            <a:off x="965200" y="34369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יש מעט דוגמאות לשינויים סמנטיים עדינים.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Shape_894">
            <a:extLst>
              <a:ext uri="{FF2B5EF4-FFF2-40B4-BE49-F238E27FC236}">
                <a16:creationId xmlns:a16="http://schemas.microsoft.com/office/drawing/2014/main" id="{3F6F331D-E492-C32A-0193-923C578765BC}"/>
              </a:ext>
            </a:extLst>
          </p:cNvPr>
          <p:cNvSpPr/>
          <p:nvPr/>
        </p:nvSpPr>
        <p:spPr>
          <a:xfrm>
            <a:off x="698500" y="4495800"/>
            <a:ext cx="7112000" cy="12573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51AF36-92FA-E6A5-E794-AA564EBB17CE}"/>
              </a:ext>
            </a:extLst>
          </p:cNvPr>
          <p:cNvSpPr txBox="1"/>
          <p:nvPr/>
        </p:nvSpPr>
        <p:spPr>
          <a:xfrm>
            <a:off x="3556000" y="46461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External Validity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FCF20E-4CAD-46B7-5F08-F9AF7AE731BC}"/>
              </a:ext>
            </a:extLst>
          </p:cNvPr>
          <p:cNvSpPr txBox="1"/>
          <p:nvPr/>
        </p:nvSpPr>
        <p:spPr>
          <a:xfrm>
            <a:off x="965200" y="50117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לא בוצעה הערכה סופית על פרויקט חיצוני.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B83CC8-D31A-803F-53CC-BE3861A15EAE}"/>
              </a:ext>
            </a:extLst>
          </p:cNvPr>
          <p:cNvSpPr txBox="1"/>
          <p:nvPr/>
        </p:nvSpPr>
        <p:spPr>
          <a:xfrm>
            <a:off x="8382000" y="4162787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נדרש סט בדיקה ידני של חוסרים אמיתיים.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57253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895">
            <a:extLst>
              <a:ext uri="{FF2B5EF4-FFF2-40B4-BE49-F238E27FC236}">
                <a16:creationId xmlns:a16="http://schemas.microsoft.com/office/drawing/2014/main" id="{D02F14AF-8D0F-D61B-F7F7-A685D8FB57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896">
            <a:extLst>
              <a:ext uri="{FF2B5EF4-FFF2-40B4-BE49-F238E27FC236}">
                <a16:creationId xmlns:a16="http://schemas.microsoft.com/office/drawing/2014/main" id="{34976ACE-9346-71BD-899B-3F7319CD7D7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024CE8-E7E1-29FF-A5DB-46CFE6EB935D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מסקנות ושאלות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167632-F57F-AAF9-E2DA-D27714689844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EDDAAC-86CF-4BFC-7640-FCEF89D55AF2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7A20D50-2EDB-B3A8-1A90-163438E4506D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14 / 14</a:t>
            </a:r>
          </a:p>
        </p:txBody>
      </p:sp>
      <p:sp>
        <p:nvSpPr>
          <p:cNvPr id="10" name="Shape_897">
            <a:extLst>
              <a:ext uri="{FF2B5EF4-FFF2-40B4-BE49-F238E27FC236}">
                <a16:creationId xmlns:a16="http://schemas.microsoft.com/office/drawing/2014/main" id="{E5BC331F-9073-FBA4-3138-A48FCFBAC9C9}"/>
              </a:ext>
            </a:extLst>
          </p:cNvPr>
          <p:cNvSpPr/>
          <p:nvPr/>
        </p:nvSpPr>
        <p:spPr>
          <a:xfrm>
            <a:off x="698500" y="1422400"/>
            <a:ext cx="3175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898">
            <a:extLst>
              <a:ext uri="{FF2B5EF4-FFF2-40B4-BE49-F238E27FC236}">
                <a16:creationId xmlns:a16="http://schemas.microsoft.com/office/drawing/2014/main" id="{949F6472-9F98-91B6-2017-FB9A307334D5}"/>
              </a:ext>
            </a:extLst>
          </p:cNvPr>
          <p:cNvSpPr/>
          <p:nvPr/>
        </p:nvSpPr>
        <p:spPr>
          <a:xfrm>
            <a:off x="3784600" y="14224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051963-B645-AB9C-6405-5F0BF8AAD0E2}"/>
              </a:ext>
            </a:extLst>
          </p:cNvPr>
          <p:cNvSpPr txBox="1"/>
          <p:nvPr/>
        </p:nvSpPr>
        <p:spPr>
          <a:xfrm>
            <a:off x="901700" y="15031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F95A71-C155-F70C-A2B9-C8DEA9DCA7A0}"/>
              </a:ext>
            </a:extLst>
          </p:cNvPr>
          <p:cNvSpPr txBox="1"/>
          <p:nvPr/>
        </p:nvSpPr>
        <p:spPr>
          <a:xfrm>
            <a:off x="901700" y="21546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899">
            <a:extLst>
              <a:ext uri="{FF2B5EF4-FFF2-40B4-BE49-F238E27FC236}">
                <a16:creationId xmlns:a16="http://schemas.microsoft.com/office/drawing/2014/main" id="{3F37123F-95B1-894A-C53E-AD29107DA8BF}"/>
              </a:ext>
            </a:extLst>
          </p:cNvPr>
          <p:cNvSpPr/>
          <p:nvPr/>
        </p:nvSpPr>
        <p:spPr>
          <a:xfrm>
            <a:off x="698500" y="2717800"/>
            <a:ext cx="3175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900">
            <a:extLst>
              <a:ext uri="{FF2B5EF4-FFF2-40B4-BE49-F238E27FC236}">
                <a16:creationId xmlns:a16="http://schemas.microsoft.com/office/drawing/2014/main" id="{FB4F0ECF-E11F-3FD4-DDB7-FC4EE36097C4}"/>
              </a:ext>
            </a:extLst>
          </p:cNvPr>
          <p:cNvSpPr/>
          <p:nvPr/>
        </p:nvSpPr>
        <p:spPr>
          <a:xfrm>
            <a:off x="3784600" y="2717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E6AF22-EE3E-7F46-A919-B8AE12C93914}"/>
              </a:ext>
            </a:extLst>
          </p:cNvPr>
          <p:cNvSpPr txBox="1"/>
          <p:nvPr/>
        </p:nvSpPr>
        <p:spPr>
          <a:xfrm>
            <a:off x="901700" y="27985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D5A159-3990-266F-EB40-A07C5968EBF6}"/>
              </a:ext>
            </a:extLst>
          </p:cNvPr>
          <p:cNvSpPr txBox="1"/>
          <p:nvPr/>
        </p:nvSpPr>
        <p:spPr>
          <a:xfrm>
            <a:off x="901700" y="34500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901">
            <a:extLst>
              <a:ext uri="{FF2B5EF4-FFF2-40B4-BE49-F238E27FC236}">
                <a16:creationId xmlns:a16="http://schemas.microsoft.com/office/drawing/2014/main" id="{9C0E0808-2841-A845-B0C0-A0368B4EC6D3}"/>
              </a:ext>
            </a:extLst>
          </p:cNvPr>
          <p:cNvSpPr/>
          <p:nvPr/>
        </p:nvSpPr>
        <p:spPr>
          <a:xfrm>
            <a:off x="698500" y="4013200"/>
            <a:ext cx="3175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902">
            <a:extLst>
              <a:ext uri="{FF2B5EF4-FFF2-40B4-BE49-F238E27FC236}">
                <a16:creationId xmlns:a16="http://schemas.microsoft.com/office/drawing/2014/main" id="{B54A83C0-A89C-8444-9E00-00AFF9740D44}"/>
              </a:ext>
            </a:extLst>
          </p:cNvPr>
          <p:cNvSpPr/>
          <p:nvPr/>
        </p:nvSpPr>
        <p:spPr>
          <a:xfrm>
            <a:off x="3784600" y="40132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1230AF-D2C4-D51B-E27A-9BADC5ED826F}"/>
              </a:ext>
            </a:extLst>
          </p:cNvPr>
          <p:cNvSpPr txBox="1"/>
          <p:nvPr/>
        </p:nvSpPr>
        <p:spPr>
          <a:xfrm>
            <a:off x="901700" y="40939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70812F-8923-9F5A-041D-89ADEE1CF566}"/>
              </a:ext>
            </a:extLst>
          </p:cNvPr>
          <p:cNvSpPr txBox="1"/>
          <p:nvPr/>
        </p:nvSpPr>
        <p:spPr>
          <a:xfrm>
            <a:off x="901700" y="47454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DA8952-C59F-6802-ED81-7A2672C32C1D}"/>
              </a:ext>
            </a:extLst>
          </p:cNvPr>
          <p:cNvSpPr txBox="1"/>
          <p:nvPr/>
        </p:nvSpPr>
        <p:spPr>
          <a:xfrm>
            <a:off x="10617200" y="13761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48AA20-79A5-4F4C-DAA6-3FBAB9387881}"/>
              </a:ext>
            </a:extLst>
          </p:cNvPr>
          <p:cNvSpPr txBox="1"/>
          <p:nvPr/>
        </p:nvSpPr>
        <p:spPr>
          <a:xfrm>
            <a:off x="4699000" y="1424965"/>
            <a:ext cx="56642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מבנה השינוי חשוב יותר מנפח המודל.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79BFA4-B3B8-C110-10A9-5030FEE0392A}"/>
              </a:ext>
            </a:extLst>
          </p:cNvPr>
          <p:cNvSpPr txBox="1"/>
          <p:nvPr/>
        </p:nvSpPr>
        <p:spPr>
          <a:xfrm>
            <a:off x="10617200" y="26207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8617D8-226B-940F-7E97-3D51A64A906A}"/>
              </a:ext>
            </a:extLst>
          </p:cNvPr>
          <p:cNvSpPr txBox="1"/>
          <p:nvPr/>
        </p:nvSpPr>
        <p:spPr>
          <a:xfrm>
            <a:off x="4699000" y="2654176"/>
            <a:ext cx="56642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מפורש על סוג השורה מצמצם התראות שווא ומשפר זיהוי 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1327B7-9D12-1F26-C74E-0C1A8A475212}"/>
              </a:ext>
            </a:extLst>
          </p:cNvPr>
          <p:cNvSpPr txBox="1"/>
          <p:nvPr/>
        </p:nvSpPr>
        <p:spPr>
          <a:xfrm>
            <a:off x="10617200" y="38653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DA8729-6A9D-44B7-4656-383380D145D5}"/>
              </a:ext>
            </a:extLst>
          </p:cNvPr>
          <p:cNvSpPr txBox="1"/>
          <p:nvPr/>
        </p:nvSpPr>
        <p:spPr>
          <a:xfrm>
            <a:off x="4699000" y="3825265"/>
            <a:ext cx="56642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מקור התוויות חייב להיות עצמאי. אין להעריך הבנת קוד לפי </a:t>
            </a:r>
            <a:r>
              <a:rPr lang="en-US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⁦commit message⁩</a:t>
            </a:r>
            <a:endParaRPr lang="en-IL" sz="20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B4E330-D178-1A1B-3F0E-B2951070F558}"/>
              </a:ext>
            </a:extLst>
          </p:cNvPr>
          <p:cNvCxnSpPr/>
          <p:nvPr/>
        </p:nvCxnSpPr>
        <p:spPr>
          <a:xfrm>
            <a:off x="698500" y="5651500"/>
            <a:ext cx="107950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9DCD5B5-416D-49E9-A536-F9833E556777}"/>
              </a:ext>
            </a:extLst>
          </p:cNvPr>
          <p:cNvSpPr txBox="1"/>
          <p:nvPr/>
        </p:nvSpPr>
        <p:spPr>
          <a:xfrm>
            <a:off x="698500" y="5944219"/>
            <a:ext cx="5842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github.com/korrenhannes/diffintent-rtl</a:t>
            </a:r>
            <a:endParaRPr lang="en-IL" sz="1400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C31CE7-D59F-C393-2D80-1ED61EFD6F5E}"/>
              </a:ext>
            </a:extLst>
          </p:cNvPr>
          <p:cNvSpPr txBox="1"/>
          <p:nvPr/>
        </p:nvSpPr>
        <p:spPr>
          <a:xfrm>
            <a:off x="8851900" y="5714504"/>
            <a:ext cx="26416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שאלות?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63353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03">
            <a:extLst>
              <a:ext uri="{FF2B5EF4-FFF2-40B4-BE49-F238E27FC236}">
                <a16:creationId xmlns:a16="http://schemas.microsoft.com/office/drawing/2014/main" id="{F9FA1446-6B2C-C634-A3CB-3201B6C5D9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904">
            <a:extLst>
              <a:ext uri="{FF2B5EF4-FFF2-40B4-BE49-F238E27FC236}">
                <a16:creationId xmlns:a16="http://schemas.microsoft.com/office/drawing/2014/main" id="{40C37622-297E-4C3B-1FAB-B9566AC0C5D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E9E4B0-B166-F735-32F9-A453E0D4A8ED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מטריצות בלבול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25A201-B0E5-5A2F-95B6-C62BD5668181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D3B398-3A4F-CAD3-1E27-FD50CD328DCD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6C39418-EE28-A17C-0608-C8B673EFD417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A1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33F718-C0FF-933F-D9AA-E8D660E4B4A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600200"/>
            <a:ext cx="4445000" cy="3708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A23010-8EE0-7F64-ED7E-B93398B2F75C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600200"/>
            <a:ext cx="44450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9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05">
            <a:extLst>
              <a:ext uri="{FF2B5EF4-FFF2-40B4-BE49-F238E27FC236}">
                <a16:creationId xmlns:a16="http://schemas.microsoft.com/office/drawing/2014/main" id="{1E3E74DD-71F4-6887-3F66-D6107C7AD1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906">
            <a:extLst>
              <a:ext uri="{FF2B5EF4-FFF2-40B4-BE49-F238E27FC236}">
                <a16:creationId xmlns:a16="http://schemas.microsoft.com/office/drawing/2014/main" id="{23B311E0-39E0-3F7C-3041-83881758E94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408712-7224-2FB6-2299-D5870E3B637F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ביצועים לפי סוג 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63A8EE-B37D-A746-99F1-7AD137CF05AA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E885E3-B47B-378A-B73C-CAE97C862E5E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F425A4A-0DC2-6A68-BC85-BD7F29ED1053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A2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1DE7BF-91A3-3293-E077-34473AAD78F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1308100"/>
            <a:ext cx="86360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47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07">
            <a:extLst>
              <a:ext uri="{FF2B5EF4-FFF2-40B4-BE49-F238E27FC236}">
                <a16:creationId xmlns:a16="http://schemas.microsoft.com/office/drawing/2014/main" id="{59F69679-D4C3-98E6-6D5D-D452A46DF0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908">
            <a:extLst>
              <a:ext uri="{FF2B5EF4-FFF2-40B4-BE49-F238E27FC236}">
                <a16:creationId xmlns:a16="http://schemas.microsoft.com/office/drawing/2014/main" id="{3F5F3243-463A-8E97-0385-6C0CE877ACD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2AD455-6A07-E7E4-35DA-8D086433DA04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מחקרי הרחבה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D79DA1-B94B-E5D2-AA4F-E9F5F7F5F8C8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84D0DD0-BBB9-D4CB-CB5D-C70611354875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896944B-7802-191A-E080-704927AA04D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A3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7244F7-7E8A-2250-041F-A572840C5528}"/>
              </a:ext>
            </a:extLst>
          </p:cNvPr>
          <p:cNvSpPr txBox="1"/>
          <p:nvPr/>
        </p:nvSpPr>
        <p:spPr>
          <a:xfrm>
            <a:off x="60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Improved Weak Labeling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8B429E-D7B3-AE97-112D-5DD651EAA44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9900"/>
            <a:ext cx="3352800" cy="2159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17CFD6-6915-AA50-E7E4-DDB1456F84AC}"/>
              </a:ext>
            </a:extLst>
          </p:cNvPr>
          <p:cNvSpPr txBox="1"/>
          <p:nvPr/>
        </p:nvSpPr>
        <p:spPr>
          <a:xfrm>
            <a:off x="441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Hardware-aware Features</a:t>
            </a:r>
            <a:endParaRPr lang="en-IL" sz="16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C61100F-7A1E-F1A4-3CB1-6C877773C3C4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39900"/>
            <a:ext cx="3048000" cy="218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2B0080A-5806-629D-CFE3-331521C9F8DC}"/>
              </a:ext>
            </a:extLst>
          </p:cNvPr>
          <p:cNvSpPr txBox="1"/>
          <p:nvPr/>
        </p:nvSpPr>
        <p:spPr>
          <a:xfrm>
            <a:off x="822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Cross-project Study</a:t>
            </a:r>
            <a:endParaRPr lang="en-IL" sz="16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BFCCDA-CFA8-D7B2-0FBC-2E5312D8A7F4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739900"/>
            <a:ext cx="3352800" cy="1308100"/>
          </a:xfrm>
          <a:prstGeom prst="rect">
            <a:avLst/>
          </a:prstGeom>
        </p:spPr>
      </p:pic>
      <p:sp>
        <p:nvSpPr>
          <p:cNvPr id="19" name="Shape_909">
            <a:extLst>
              <a:ext uri="{FF2B5EF4-FFF2-40B4-BE49-F238E27FC236}">
                <a16:creationId xmlns:a16="http://schemas.microsoft.com/office/drawing/2014/main" id="{A263F354-E58E-A541-4334-8019CA475EA6}"/>
              </a:ext>
            </a:extLst>
          </p:cNvPr>
          <p:cNvSpPr/>
          <p:nvPr/>
        </p:nvSpPr>
        <p:spPr>
          <a:xfrm>
            <a:off x="609600" y="4406900"/>
            <a:ext cx="10972800" cy="1422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7151A2-370D-1AE9-E8AE-F3460389535B}"/>
              </a:ext>
            </a:extLst>
          </p:cNvPr>
          <p:cNvSpPr txBox="1"/>
          <p:nvPr/>
        </p:nvSpPr>
        <p:spPr>
          <a:xfrm>
            <a:off x="901700" y="4681542"/>
            <a:ext cx="2921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Medium-scale studies</a:t>
            </a:r>
            <a:endParaRPr lang="en-IL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362456-81A4-411F-62B8-2B141CB8BB7A}"/>
              </a:ext>
            </a:extLst>
          </p:cNvPr>
          <p:cNvSpPr txBox="1"/>
          <p:nvPr/>
        </p:nvSpPr>
        <p:spPr>
          <a:xfrm>
            <a:off x="4064000" y="4592642"/>
            <a:ext cx="71755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המספרים אינם בני השוואה ישירה לניסוי המלא. הם מצביעים על שיפור כיסוי התיוג, ערך של מאפייני חומרה ופער בין פרויקטים.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40072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1930</Words>
  <Application>Microsoft Macintosh PowerPoint</Application>
  <PresentationFormat>Widescreen</PresentationFormat>
  <Paragraphs>199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Korren Hannes</dc:creator>
  <cp:lastModifiedBy>Korren Hannes</cp:lastModifiedBy>
  <cp:revision>1</cp:revision>
  <dcterms:created xsi:type="dcterms:W3CDTF">2026-10-07T17:36:01Z</dcterms:created>
  <dcterms:modified xsi:type="dcterms:W3CDTF">2026-10-07T17:36:17Z</dcterms:modified>
</cp:coreProperties>
</file>