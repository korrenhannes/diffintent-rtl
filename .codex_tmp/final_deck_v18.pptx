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6"/>
  </p:normalViewPr>
  <p:slideViewPr>
    <p:cSldViewPr snapToGrid="0">
      <p:cViewPr varScale="1">
        <p:scale>
          <a:sx n="116" d="100"/>
          <a:sy n="116" d="100"/>
        </p:scale>
        <p:origin x="6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60959A-C0EE-5244-AB34-C284026D5875}" type="datetimeFigureOut">
              <a:rPr lang="en-IL" smtClean="0"/>
              <a:t>07/10/2026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9CA35-789D-BD42-AE44-C6EEF274B62B}" type="slidenum">
              <a:rPr lang="en-IL" smtClean="0"/>
              <a:t>‹#›</a:t>
            </a:fld>
            <a:endParaRPr lang="en-IL"/>
          </a:p>
        </p:txBody>
      </p:sp>
    </p:spTree>
    <p:extLst>
      <p:ext uri="{BB962C8B-B14F-4D97-AF65-F5344CB8AC3E}">
        <p14:creationId xmlns:p14="http://schemas.microsoft.com/office/powerpoint/2010/main" val="328104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00:30
מטרת השקופית: להציג את שאלת המחקר ואת מבנה ההרצאה.
</a:t>
            </a:r>
            <a:r>
              <a:rPr lang="en-US" sz="1100">
                <a:latin typeface="Arial" panose="020B0604020202020204" pitchFamily="34" charset="0"/>
                <a:sym typeface="David" panose="020E0502060401010101" pitchFamily="34" charset="-79"/>
              </a:rPr>
              <a:t>DiffIntent-RTL
</a:t>
            </a:r>
            <a:r>
              <a:rPr lang="he-IL" sz="1100">
                <a:latin typeface="Arial" panose="020B0604020202020204" pitchFamily="34" charset="0"/>
                <a:sym typeface="David" panose="020E0502060401010101" pitchFamily="34" charset="-79"/>
              </a:rPr>
              <a:t>הפרויקט בוחן האם מודל יכול ללמוד מתוך שינוי קוד עצמו, ולא רק מתוך תמונת הקובץ לאחר השינוי. הקלט הוא שינוי אמיתי בקובץ חומרה, והפלט כולל שתי תחזיות משלימות. התחזית הראשונה מתארת את מטרת השינוי. התחזית השנייה מעריכה האם השינוי נראה שלם או שחסר בו רכיב פונקציונלי.
המיקוד הוא בקוד חומרה סינתזבילי, שבו שורה קצרה יכולה להשפיע על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על מכונת מצבים או על אות בקרה. לכן ההקשר המבני של השינוי חשוב במיוחד.
במהלך ההרצאה אציג את בניית מערך הנתונים, את ארבע משפחות המודלים, את תוצאות שתי המשימות ואת המגבלות שמגדירות מה ניתן להסיק.
משפט מעבר: נתחיל מדוגמה קטנה שממחישה מדוע שינוי שעובר בדיקה תחבירית עדיין עלול להיות חסר.
מקורות: הצעת הפרויקט. סעיפים 1 ו-2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a:t>
            </a:fld>
            <a:endParaRPr lang="en-IL"/>
          </a:p>
        </p:txBody>
      </p:sp>
    </p:spTree>
    <p:extLst>
      <p:ext uri="{BB962C8B-B14F-4D97-AF65-F5344CB8AC3E}">
        <p14:creationId xmlns:p14="http://schemas.microsoft.com/office/powerpoint/2010/main" val="3887798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להמחיש את ההבדל בין תקינות תחבירית לבין שלמות פונקציונלית.
בדוגמה מופיע שינוי קטן בבלוק שעוני. נוספה תגובה לבקשה ונוסף עדכון של אות תקפות. אם אחת משורות ההשמה חסרה, הקוד עדיין עשוי לעבור </a:t>
            </a:r>
            <a:r>
              <a:rPr lang="en-US" sz="1100">
                <a:latin typeface="Arial" panose="020B0604020202020204" pitchFamily="34" charset="0"/>
                <a:sym typeface="David" panose="020E0502060401010101" pitchFamily="34" charset="-79"/>
              </a:rPr>
              <a:t>parser </a:t>
            </a:r>
            <a:r>
              <a:rPr lang="he-IL" sz="1100">
                <a:latin typeface="Arial" panose="020B0604020202020204" pitchFamily="34" charset="0"/>
                <a:sym typeface="David" panose="020E0502060401010101" pitchFamily="34" charset="-79"/>
              </a:rPr>
              <a:t>ואף לעבור קומפילציה, אבל ההתנהגות הרצויה כבר אינה שלמה. זו בדיוק הבעיה שמנגנוני בדיקה תחביריים אינם פותרים.
</a:t>
            </a:r>
            <a:r>
              <a:rPr lang="en-US" sz="1100">
                <a:latin typeface="Arial" panose="020B0604020202020204" pitchFamily="34" charset="0"/>
                <a:sym typeface="David" panose="020E0502060401010101" pitchFamily="34" charset="-79"/>
              </a:rPr>
              <a:t>Code Review
</a:t>
            </a:r>
            <a:r>
              <a:rPr lang="he-IL" sz="1100">
                <a:latin typeface="Arial" panose="020B0604020202020204" pitchFamily="34" charset="0"/>
                <a:sym typeface="David" panose="020E0502060401010101" pitchFamily="34" charset="-79"/>
              </a:rPr>
              <a:t>מפתח אנושי אינו קורא רק את המילים בשורה. הוא משווה בין השורות שנוספו ונמחקו, בודק את ההקשר הסמוך ומזהה תבניות חומרה מוכרות כמו </a:t>
            </a:r>
            <a:r>
              <a:rPr lang="en-US" sz="1100">
                <a:latin typeface="Arial" panose="020B0604020202020204" pitchFamily="34" charset="0"/>
                <a:sym typeface="David" panose="020E0502060401010101" pitchFamily="34" charset="-79"/>
              </a:rPr>
              <a:t>reset, guard </a:t>
            </a:r>
            <a:r>
              <a:rPr lang="he-IL" sz="1100">
                <a:latin typeface="Arial" panose="020B0604020202020204" pitchFamily="34" charset="0"/>
                <a:sym typeface="David" panose="020E0502060401010101" pitchFamily="34" charset="-79"/>
              </a:rPr>
              <a:t>ומעבר מצב. לכן מודל שימושי צריך לקבל גם את תוכן השורות וגם את תפקידן בתוך השינוי.
חשוב להדגיש שהמערכת אינה מחליפה אימות פורמלי או סימולציה. מטרתה היא להוסיף אות הסתברותי שמכוון את תשומת הלב של הסוקר לשינויים חשודים.
משפט מעבר: מהדוגמה הזו נגזרות שתי משימות למידה שונות על אותו אובייקט קלט.
מקורות: סעיפים 1 ו-3.3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2</a:t>
            </a:fld>
            <a:endParaRPr lang="en-IL"/>
          </a:p>
        </p:txBody>
      </p:sp>
    </p:spTree>
    <p:extLst>
      <p:ext uri="{BB962C8B-B14F-4D97-AF65-F5344CB8AC3E}">
        <p14:creationId xmlns:p14="http://schemas.microsoft.com/office/powerpoint/2010/main" val="137712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00:55
מטרת השקופית: להגדיר במדויק את שתי שאלות המחקר.
</a:t>
            </a:r>
            <a:r>
              <a:rPr lang="en-US" sz="1100">
                <a:latin typeface="Arial" panose="020B0604020202020204" pitchFamily="34" charset="0"/>
                <a:sym typeface="David" panose="020E0502060401010101" pitchFamily="34" charset="-79"/>
              </a:rPr>
              <a:t>Intent
</a:t>
            </a:r>
            <a:r>
              <a:rPr lang="he-IL" sz="1100">
                <a:latin typeface="Arial" panose="020B0604020202020204" pitchFamily="34" charset="0"/>
                <a:sym typeface="David" panose="020E0502060401010101" pitchFamily="34" charset="-79"/>
              </a:rPr>
              <a:t>המשימה הראשונה היא סיווג מטרת השינוי לאחת מארבע מחלקות: תיקון תקלה, שינוי תכונה או התנהגות, ארגון מחדש וניקוי, או שינוי תצורה ותזמון. התוויות נבנו באופן חלש מהודעות השינוי, ולכן בהמשך נבחן האם הן באמת מודדות הבנת קוד.
</a:t>
            </a:r>
            <a:r>
              <a:rPr lang="en-US" sz="1100">
                <a:latin typeface="Arial" panose="020B0604020202020204" pitchFamily="34" charset="0"/>
                <a:sym typeface="David" panose="020E0502060401010101" pitchFamily="34" charset="-79"/>
              </a:rPr>
              <a:t>Completeness
</a:t>
            </a:r>
            <a:r>
              <a:rPr lang="he-IL" sz="1100">
                <a:latin typeface="Arial" panose="020B0604020202020204" pitchFamily="34" charset="0"/>
                <a:sym typeface="David" panose="020E0502060401010101" pitchFamily="34" charset="-79"/>
              </a:rPr>
              <a:t>המשימה השנייה היא בינארית. המודל מבחין בין שינוי מקורי שנחשב שלם לבין גרסה זוגית שבה יצרנו חוסר מבוקר.
שתי המשימות משתמשות באותו ייצוג פנימי. ההשערה המרכזית היא שמבנה היררכי שמבחין בין שורות שנוספו, נמחקו ונשמרו יסייע בעיקר בזיהוי חוסר. המחקרים הקודמים סיפקו את הבסיס לייצוג שינוי כאובייקט למידה ולשימוש במבנה קובץ, שורה ואסימון.
משפט מעבר: כדי לבדוק את ההשערה נדרש צינור שממיר היסטוריית קוד לניסוי מבוקר.
מקורות: </a:t>
            </a:r>
            <a:r>
              <a:rPr lang="en-US" sz="1100">
                <a:latin typeface="Arial" panose="020B0604020202020204" pitchFamily="34" charset="0"/>
                <a:sym typeface="David" panose="020E0502060401010101" pitchFamily="34" charset="-79"/>
              </a:rPr>
              <a:t>CC2Vec. PatchNet. DeepJIT. CodeReviewer. </a:t>
            </a:r>
            <a:r>
              <a:rPr lang="he-IL" sz="1100">
                <a:latin typeface="Arial" panose="020B0604020202020204" pitchFamily="34" charset="0"/>
                <a:sym typeface="David" panose="020E0502060401010101" pitchFamily="34" charset="-79"/>
              </a:rPr>
              <a:t>סעיפים 1 ו-2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3</a:t>
            </a:fld>
            <a:endParaRPr lang="en-IL"/>
          </a:p>
        </p:txBody>
      </p:sp>
    </p:spTree>
    <p:extLst>
      <p:ext uri="{BB962C8B-B14F-4D97-AF65-F5344CB8AC3E}">
        <p14:creationId xmlns:p14="http://schemas.microsoft.com/office/powerpoint/2010/main" val="3398599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01:15
מטרת השקופית: להסביר את שרשרת הנתונים ואת מנגנוני ההגנה מפני דליפה.
</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הכרייה מתחילה מהיסטוריית המאגר ומקבלת רק שינויים בקבצי חומרה תחת נתיבי </a:t>
            </a:r>
            <a:r>
              <a:rPr lang="en-US" sz="1100">
                <a:latin typeface="Arial" panose="020B0604020202020204" pitchFamily="34" charset="0"/>
                <a:sym typeface="David" panose="020E0502060401010101" pitchFamily="34" charset="-79"/>
              </a:rPr>
              <a:t>RTL. </a:t>
            </a:r>
            <a:r>
              <a:rPr lang="he-IL" sz="1100">
                <a:latin typeface="Arial" panose="020B0604020202020204" pitchFamily="34" charset="0"/>
                <a:sym typeface="David" panose="020E0502060401010101" pitchFamily="34" charset="-79"/>
              </a:rPr>
              <a:t>קבצי בדיקות, קוד צד שלישי, תוצרים שנוצרו אוטומטית ושינויים גדולים מדי מסוננים. כל דוגמה מייצגת שינוי בקובץ אחד.
</a:t>
            </a:r>
            <a:r>
              <a:rPr lang="en-US" sz="1100">
                <a:latin typeface="Arial" panose="020B0604020202020204" pitchFamily="34" charset="0"/>
                <a:sym typeface="David" panose="020E0502060401010101" pitchFamily="34" charset="-79"/>
              </a:rPr>
              <a:t>Weak Labels
</a:t>
            </a:r>
            <a:r>
              <a:rPr lang="he-IL" sz="1100">
                <a:latin typeface="Arial" panose="020B0604020202020204" pitchFamily="34" charset="0"/>
                <a:sym typeface="David" panose="020E0502060401010101" pitchFamily="34" charset="-79"/>
              </a:rPr>
              <a:t>מילות מפתח בהודעת השינוי משייכות את הדוגמה למחלקת מטרה. דוגמאות ללא התאמה או עם התאמה חזקה לכמה קבוצות מושלכות. זה מאפשר קנה מידה גדול, אך יוצר תלות בין מקור התווית לבין הטקסט שממנו היא נגזרה.
</a:t>
            </a:r>
            <a:r>
              <a:rPr lang="en-US" sz="1100">
                <a:latin typeface="Arial" panose="020B0604020202020204" pitchFamily="34" charset="0"/>
                <a:sym typeface="David" panose="020E0502060401010101" pitchFamily="34" charset="-79"/>
              </a:rPr>
              <a:t>Synthetic Holes
</a:t>
            </a:r>
            <a:r>
              <a:rPr lang="he-IL" sz="1100">
                <a:latin typeface="Arial" panose="020B0604020202020204" pitchFamily="34" charset="0"/>
                <a:sym typeface="David" panose="020E0502060401010101" pitchFamily="34" charset="-79"/>
              </a:rPr>
              <a:t>לכל דוגמה אמיתית מנסים ליצור עותק חסר באמצעות שינוי מבוקר בתוך אזור השינוי בלבד.
</a:t>
            </a:r>
            <a:r>
              <a:rPr lang="en-US" sz="1100">
                <a:latin typeface="Arial" panose="020B0604020202020204" pitchFamily="34" charset="0"/>
                <a:sym typeface="David" panose="020E0502060401010101" pitchFamily="34" charset="-79"/>
              </a:rPr>
              <a:t>Chronological Split
</a:t>
            </a:r>
            <a:r>
              <a:rPr lang="he-IL" sz="1100">
                <a:latin typeface="Arial" panose="020B0604020202020204" pitchFamily="34" charset="0"/>
                <a:sym typeface="David" panose="020E0502060401010101" pitchFamily="34" charset="-79"/>
              </a:rPr>
              <a:t>החלוקה נעשית לפי זמן. הזוג המקורי והמוטנטי נשאר תמיד באותה קבוצה. אוצר המילים נבנה מקבוצת האימון בלבד. כך נשמרת הפרדה בין אימון, אימות ובדיקה.
משפט מעבר: כעת נבחן כמה דוגמאות שרדו כל שלב ומהי התפלגות המחלקות.
מקורות: סעיפים 3.1 עד 3.5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4</a:t>
            </a:fld>
            <a:endParaRPr lang="en-IL"/>
          </a:p>
        </p:txBody>
      </p:sp>
    </p:spTree>
    <p:extLst>
      <p:ext uri="{BB962C8B-B14F-4D97-AF65-F5344CB8AC3E}">
        <p14:creationId xmlns:p14="http://schemas.microsoft.com/office/powerpoint/2010/main" val="3811905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לכמת את מערך הנתונים ולהראות היכן נוצרת הטיה.
הכרייה הפיקה 5,903 מועמדים גולמיים. לאחר הסרת דוגמאות ללא התאמת מילות מפתח ולאחר הסרת מקרים עמומים נשארו 2,843 דוגמאות אמיתיות מתויגות. מתוכן נוצרו 2,657 גרסאות חסרות, ולכן מערך הנתונים הסופי כולל 5,500 דוגמאות. לא מכל דוגמה אפשר ליצור חוסר תקף לפי כללי המוטציה.
החלוקה הכרונולוגית היא 3,873 דוגמאות לאימון, 830 לאימות ו-797 לבדיקה. משימת החוסר כמעט מאוזנת: 51.7 אחוז דוגמאות שלמות ו-48.3 אחוז דוגמאות חסרות. לעומת זאת, משימת המטרה אינה מאוזנת. המחלקה הקטנה ביותר מהווה רק 8.5 אחוז מהנתונים, ולכן המדד המרכזי הוא ממוצע שווה בין המחלקות ולא דיוק בלבד.
</a:t>
            </a:r>
            <a:r>
              <a:rPr lang="en-US" sz="1100">
                <a:latin typeface="Arial" panose="020B0604020202020204" pitchFamily="34" charset="0"/>
                <a:sym typeface="David" panose="020E0502060401010101" pitchFamily="34" charset="-79"/>
              </a:rPr>
              <a:t>Macro-F1
</a:t>
            </a:r>
            <a:r>
              <a:rPr lang="he-IL" sz="1100">
                <a:latin typeface="Arial" panose="020B0604020202020204" pitchFamily="34" charset="0"/>
                <a:sym typeface="David" panose="020E0502060401010101" pitchFamily="34" charset="-79"/>
              </a:rPr>
              <a:t>המדד נותן לכל מחלקה משקל שווה, ולכן הוא חושף כשל במחלקה נדירה גם כאשר הדיוק הכולל נראה סביר.
משפט מעבר: השאלה הבאה היא כיצד נוצרה דוגמה חסרה ומה בדיוק היא מייצגת.
מקורות: סעיף 3.4 בדוח. </a:t>
            </a:r>
            <a:r>
              <a:rPr lang="en-US" sz="1100">
                <a:latin typeface="Arial" panose="020B0604020202020204" pitchFamily="34" charset="0"/>
                <a:sym typeface="David" panose="020E0502060401010101" pitchFamily="34" charset="-79"/>
              </a:rPr>
              <a:t>outputs/metrics/dataset_stats.json. figure_dataset_overview.png.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5</a:t>
            </a:fld>
            <a:endParaRPr lang="en-IL"/>
          </a:p>
        </p:txBody>
      </p:sp>
    </p:spTree>
    <p:extLst>
      <p:ext uri="{BB962C8B-B14F-4D97-AF65-F5344CB8AC3E}">
        <p14:creationId xmlns:p14="http://schemas.microsoft.com/office/powerpoint/2010/main" val="3085772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01:10
מטרת השקופית: להסביר את יצירת התווית למשימת החוסר ואת מגבלותיה.
הדוגמה המקורית נשמרת ללא שינוי ומקבלת תווית שלמה. לאחר מכן נוצר עותק שבו מסירים או משנים רכיב בתוך האזור שהשתנה. בדוגמה על המסך הוסרה שורת השמה שנוספה, ולכן המבנה הכללי נשמר אך ההתנהגות חלקית.
</a:t>
            </a:r>
            <a:r>
              <a:rPr lang="en-US" sz="1100">
                <a:latin typeface="Arial" panose="020B0604020202020204" pitchFamily="34" charset="0"/>
                <a:sym typeface="David" panose="020E0502060401010101" pitchFamily="34" charset="-79"/>
              </a:rPr>
              <a:t>drop_added_line
</a:t>
            </a:r>
            <a:r>
              <a:rPr lang="he-IL" sz="1100">
                <a:latin typeface="Arial" panose="020B0604020202020204" pitchFamily="34" charset="0"/>
                <a:sym typeface="David" panose="020E0502060401010101" pitchFamily="34" charset="-79"/>
              </a:rPr>
              <a:t>זו המוטציה הדומיננטית. היא מייצגת 304 מתוך 370 דוגמאות החוסר בקבוצת הבדיקה, כלומר 82.2 אחוז. קיימות גם הסרת תנאי או </a:t>
            </a:r>
            <a:r>
              <a:rPr lang="en-US" sz="1100">
                <a:latin typeface="Arial" panose="020B0604020202020204" pitchFamily="34" charset="0"/>
                <a:sym typeface="David" panose="020E0502060401010101" pitchFamily="34" charset="-79"/>
              </a:rPr>
              <a:t>assertion, </a:t>
            </a:r>
            <a:r>
              <a:rPr lang="he-IL" sz="1100">
                <a:latin typeface="Arial" panose="020B0604020202020204" pitchFamily="34" charset="0"/>
                <a:sym typeface="David" panose="020E0502060401010101" pitchFamily="34" charset="-79"/>
              </a:rPr>
              <a:t>הסרת השמת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החלפת קבוע בינארי ושינוי אופרטורים. חלק מהמשפחות נדירות מאוד או אינן מופיעות כלל בבדיקה.
היתרון המתודולוגי הוא שליטה מלאה בתווית והשוואה זוגית בין שינוי מקורי לגרסה חסרה. החיסרון הוא שהדוגמאות הסינתטיות אינן מכסות את מלוא המורכבות של טעויות אנוש אמיתיות. לכן התוצאה מודדת זיהוי של משפחות חוסר מוגדרות, ולא שלמות פונקציונלית כללית.
משפט מעבר: על אותו מערך נתונים נשווה כעת בין קו בסיס לקסיקלי לשלושה מודלים עצביים.
מקורות: סעיף 3.3. סעיפים 7.4 ו-8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6</a:t>
            </a:fld>
            <a:endParaRPr lang="en-IL"/>
          </a:p>
        </p:txBody>
      </p:sp>
    </p:spTree>
    <p:extLst>
      <p:ext uri="{BB962C8B-B14F-4D97-AF65-F5344CB8AC3E}">
        <p14:creationId xmlns:p14="http://schemas.microsoft.com/office/powerpoint/2010/main" val="2974874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להציג את סולם המורכבות ואת עקרון ההשוואה ההוגנת.
</a:t>
            </a:r>
            <a:r>
              <a:rPr lang="en-US" sz="1100">
                <a:latin typeface="Arial" panose="020B0604020202020204" pitchFamily="34" charset="0"/>
                <a:sym typeface="David" panose="020E0502060401010101" pitchFamily="34" charset="-79"/>
              </a:rPr>
              <a:t>TF-IDF + Logistic Regression
</a:t>
            </a:r>
            <a:r>
              <a:rPr lang="he-IL" sz="1100">
                <a:latin typeface="Arial" panose="020B0604020202020204" pitchFamily="34" charset="0"/>
                <a:sym typeface="David" panose="020E0502060401010101" pitchFamily="34" charset="-79"/>
              </a:rPr>
              <a:t>קו הבסיס משתמש בצירופי מילים ובצירופי תווים. הוא אינו לומד סדר היררכי, אבל מסוגל לזהות רמזים לקסיקליים חזקים כמו שמות אותות, מילות מפתח ואופרטורים.
</a:t>
            </a:r>
            <a:r>
              <a:rPr lang="en-US" sz="1100">
                <a:latin typeface="Arial" panose="020B0604020202020204" pitchFamily="34" charset="0"/>
                <a:sym typeface="David" panose="020E0502060401010101" pitchFamily="34" charset="-79"/>
              </a:rPr>
              <a:t>MLP
</a:t>
            </a:r>
            <a:r>
              <a:rPr lang="he-IL" sz="1100">
                <a:latin typeface="Arial" panose="020B0604020202020204" pitchFamily="34" charset="0"/>
                <a:sym typeface="David" panose="020E0502060401010101" pitchFamily="34" charset="-79"/>
              </a:rPr>
              <a:t>המודל מחשב ממוצע של ייצוגי האסימונים ומעביר אותו דרך שתי שכבות מלאות. סדר האסימונים כמעט ואינו נשמר.
</a:t>
            </a:r>
            <a:r>
              <a:rPr lang="en-US" sz="1100">
                <a:latin typeface="Arial" panose="020B0604020202020204" pitchFamily="34" charset="0"/>
                <a:sym typeface="David" panose="020E0502060401010101" pitchFamily="34" charset="-79"/>
              </a:rPr>
              <a:t>BiGRU
</a:t>
            </a:r>
            <a:r>
              <a:rPr lang="he-IL" sz="1100">
                <a:latin typeface="Arial" panose="020B0604020202020204" pitchFamily="34" charset="0"/>
                <a:sym typeface="David" panose="020E0502060401010101" pitchFamily="34" charset="-79"/>
              </a:rPr>
              <a:t>המודל קורא רצף שטוח של אסימונים בשני הכיוונים ומשתמש במנגנון </a:t>
            </a:r>
            <a:r>
              <a:rPr lang="en-US" sz="1100">
                <a:latin typeface="Arial" panose="020B0604020202020204" pitchFamily="34" charset="0"/>
                <a:sym typeface="David" panose="020E0502060401010101" pitchFamily="34" charset="-79"/>
              </a:rPr>
              <a:t>attention </a:t>
            </a:r>
            <a:r>
              <a:rPr lang="he-IL" sz="1100">
                <a:latin typeface="Arial" panose="020B0604020202020204" pitchFamily="34" charset="0"/>
                <a:sym typeface="David" panose="020E0502060401010101" pitchFamily="34" charset="-79"/>
              </a:rPr>
              <a:t>לצורך איגום. הוא שומר סדר, אך אינו מפריד במפורש בין שורות.
</a:t>
            </a:r>
            <a:r>
              <a:rPr lang="en-US" sz="1100">
                <a:latin typeface="Arial" panose="020B0604020202020204" pitchFamily="34" charset="0"/>
                <a:sym typeface="David" panose="020E0502060401010101" pitchFamily="34" charset="-79"/>
              </a:rPr>
              <a:t>Hierarchical Transformer
</a:t>
            </a:r>
            <a:r>
              <a:rPr lang="he-IL" sz="1100">
                <a:latin typeface="Arial" panose="020B0604020202020204" pitchFamily="34" charset="0"/>
                <a:sym typeface="David" panose="020E0502060401010101" pitchFamily="34" charset="-79"/>
              </a:rPr>
              <a:t>המודל מקודד תחילה כל שורה ולאחר מכן את רצף השורות. הוא מקבל גם מידע על סוג השורה.
במודלים העצביים ייצוג משותף מזין שני ראשי פלט. האימון משתמש ב-</a:t>
            </a:r>
            <a:r>
              <a:rPr lang="en-US" sz="1100">
                <a:latin typeface="Arial" panose="020B0604020202020204" pitchFamily="34" charset="0"/>
                <a:sym typeface="David" panose="020E0502060401010101" pitchFamily="34" charset="-79"/>
              </a:rPr>
              <a:t>cross-entropy </a:t>
            </a:r>
            <a:r>
              <a:rPr lang="he-IL" sz="1100">
                <a:latin typeface="Arial" panose="020B0604020202020204" pitchFamily="34" charset="0"/>
                <a:sym typeface="David" panose="020E0502060401010101" pitchFamily="34" charset="-79"/>
              </a:rPr>
              <a:t>וב-</a:t>
            </a:r>
            <a:r>
              <a:rPr lang="en-US" sz="1100">
                <a:latin typeface="Arial" panose="020B0604020202020204" pitchFamily="34" charset="0"/>
                <a:sym typeface="David" panose="020E0502060401010101" pitchFamily="34" charset="-79"/>
              </a:rPr>
              <a:t>AdamW. </a:t>
            </a:r>
            <a:r>
              <a:rPr lang="he-IL" sz="1100">
                <a:latin typeface="Arial" panose="020B0604020202020204" pitchFamily="34" charset="0"/>
                <a:sym typeface="David" panose="020E0502060401010101" pitchFamily="34" charset="-79"/>
              </a:rPr>
              <a:t>הריצות העיקריות חזרו בשלושה </a:t>
            </a:r>
            <a:r>
              <a:rPr lang="en-US" sz="1100">
                <a:latin typeface="Arial" panose="020B0604020202020204" pitchFamily="34" charset="0"/>
                <a:sym typeface="David" panose="020E0502060401010101" pitchFamily="34" charset="-79"/>
              </a:rPr>
              <a:t>seeds. </a:t>
            </a:r>
            <a:r>
              <a:rPr lang="he-IL" sz="1100">
                <a:latin typeface="Arial" panose="020B0604020202020204" pitchFamily="34" charset="0"/>
                <a:sym typeface="David" panose="020E0502060401010101" pitchFamily="34" charset="-79"/>
              </a:rPr>
              <a:t>תקציב האימון היה שישה </a:t>
            </a:r>
            <a:r>
              <a:rPr lang="en-US" sz="1100">
                <a:latin typeface="Arial" panose="020B0604020202020204" pitchFamily="34" charset="0"/>
                <a:sym typeface="David" panose="020E0502060401010101" pitchFamily="34" charset="-79"/>
              </a:rPr>
              <a:t>epochs </a:t>
            </a:r>
            <a:r>
              <a:rPr lang="he-IL" sz="1100">
                <a:latin typeface="Arial" panose="020B0604020202020204" pitchFamily="34" charset="0"/>
                <a:sym typeface="David" panose="020E0502060401010101" pitchFamily="34" charset="-79"/>
              </a:rPr>
              <a:t>עם </a:t>
            </a:r>
            <a:r>
              <a:rPr lang="en-US" sz="1100">
                <a:latin typeface="Arial" panose="020B0604020202020204" pitchFamily="34" charset="0"/>
                <a:sym typeface="David" panose="020E0502060401010101" pitchFamily="34" charset="-79"/>
              </a:rPr>
              <a:t>early stopping </a:t>
            </a:r>
            <a:r>
              <a:rPr lang="he-IL" sz="1100">
                <a:latin typeface="Arial" panose="020B0604020202020204" pitchFamily="34" charset="0"/>
                <a:sym typeface="David" panose="020E0502060401010101" pitchFamily="34" charset="-79"/>
              </a:rPr>
              <a:t>קצר, ולכן יש להביא בחשבון אפשרות של אימון חסר.
משפט מעבר: נפתח את המודל ההיררכי ונראה היכן נכנס מידע המבנה.
מקורות: סעיפים 4.1 עד 4.3 וסעיף 5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7</a:t>
            </a:fld>
            <a:endParaRPr lang="en-IL"/>
          </a:p>
        </p:txBody>
      </p:sp>
    </p:spTree>
    <p:extLst>
      <p:ext uri="{BB962C8B-B14F-4D97-AF65-F5344CB8AC3E}">
        <p14:creationId xmlns:p14="http://schemas.microsoft.com/office/powerpoint/2010/main" val="2749222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01:20
מטרת השקופית: להסביר את הארכיטקטורה ואת ההטיה המבנית שהיא מכניסה.
</a:t>
            </a:r>
            <a:r>
              <a:rPr lang="en-US" sz="1100">
                <a:latin typeface="Arial" panose="020B0604020202020204" pitchFamily="34" charset="0"/>
                <a:sym typeface="David" panose="020E0502060401010101" pitchFamily="34" charset="-79"/>
              </a:rPr>
              <a:t>Typed Diff Lines
</a:t>
            </a:r>
            <a:r>
              <a:rPr lang="he-IL" sz="1100">
                <a:latin typeface="Arial" panose="020B0604020202020204" pitchFamily="34" charset="0"/>
                <a:sym typeface="David" panose="020E0502060401010101" pitchFamily="34" charset="-79"/>
              </a:rPr>
              <a:t>כל שורה מקבלת סוג מפורש. הסוגים כוללים שורה שנוספה, שורה שנמחקה, שורת הקשר, כותרת מקטע, נתיב קובץ וריפוד. אותו רצף אסימונים עשוי לקבל משמעות שונה לפי סוג השורה.
</a:t>
            </a:r>
            <a:r>
              <a:rPr lang="en-US" sz="1100">
                <a:latin typeface="Arial" panose="020B0604020202020204" pitchFamily="34" charset="0"/>
                <a:sym typeface="David" panose="020E0502060401010101" pitchFamily="34" charset="-79"/>
              </a:rPr>
              <a:t>Token Embedding + BiGRU
</a:t>
            </a:r>
            <a:r>
              <a:rPr lang="he-IL" sz="1100">
                <a:latin typeface="Arial" panose="020B0604020202020204" pitchFamily="34" charset="0"/>
                <a:sym typeface="David" panose="020E0502060401010101" pitchFamily="34" charset="-79"/>
              </a:rPr>
              <a:t>בתוך כל שורה, ייצוגי אסימונים ומיקומים עוברים במקודד דו-כיווני. התוצאה היא וקטור אחד לכל שורה.
</a:t>
            </a:r>
            <a:r>
              <a:rPr lang="en-US" sz="1100">
                <a:latin typeface="Arial" panose="020B0604020202020204" pitchFamily="34" charset="0"/>
                <a:sym typeface="David" panose="020E0502060401010101" pitchFamily="34" charset="-79"/>
              </a:rPr>
              <a:t>Transformer Encoder
</a:t>
            </a:r>
            <a:r>
              <a:rPr lang="he-IL" sz="1100">
                <a:latin typeface="Arial" panose="020B0604020202020204" pitchFamily="34" charset="0"/>
                <a:sym typeface="David" panose="020E0502060401010101" pitchFamily="34" charset="-79"/>
              </a:rPr>
              <a:t>וקטורי השורות עוברים בשתי שכבות עם ארבעה ראשי </a:t>
            </a:r>
            <a:r>
              <a:rPr lang="en-US" sz="1100">
                <a:latin typeface="Arial" panose="020B0604020202020204" pitchFamily="34" charset="0"/>
                <a:sym typeface="David" panose="020E0502060401010101" pitchFamily="34" charset="-79"/>
              </a:rPr>
              <a:t>attention. </a:t>
            </a:r>
            <a:r>
              <a:rPr lang="he-IL" sz="1100">
                <a:latin typeface="Arial" panose="020B0604020202020204" pitchFamily="34" charset="0"/>
                <a:sym typeface="David" panose="020E0502060401010101" pitchFamily="34" charset="-79"/>
              </a:rPr>
              <a:t>כך המודל יכול לקשר בין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שנמחק במקום אחד לבין השמה שנוספה במקום אחר. לאחר איגום מתקבל ייצוג יחיד של כל השינוי.
</a:t>
            </a:r>
            <a:r>
              <a:rPr lang="en-US" sz="1100">
                <a:latin typeface="Arial" panose="020B0604020202020204" pitchFamily="34" charset="0"/>
                <a:sym typeface="David" panose="020E0502060401010101" pitchFamily="34" charset="-79"/>
              </a:rPr>
              <a:t>Intent Head
Hole Head
</a:t>
            </a:r>
            <a:r>
              <a:rPr lang="he-IL" sz="1100">
                <a:latin typeface="Arial" panose="020B0604020202020204" pitchFamily="34" charset="0"/>
                <a:sym typeface="David" panose="020E0502060401010101" pitchFamily="34" charset="-79"/>
              </a:rPr>
              <a:t>כל ראש מפיק תחזית נפרדת, אך שניהם משתמשים בייצוג המשותף. הקלט מוגבל ל-128 שורות ול-64 אסימונים בשורה. בעת קיטום נשמרות קודם השורות שנוספו ונמחקו ולאחר מכן ההקשר הקרוב.
הניסוי הסיבתי המרכזי מסיר רק את ייצוג סוג השורה ומשאיר את שאר הארכיטקטורה קבועה.
משפט מעבר: נבחן תחילה את משימת המטרה, שבה דווקא קו הבסיס הפשוט מוביל.
מקורות: סעיפים 3.5, 4.3 ו-4.4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8</a:t>
            </a:fld>
            <a:endParaRPr lang="en-IL"/>
          </a:p>
        </p:txBody>
      </p:sp>
    </p:spTree>
    <p:extLst>
      <p:ext uri="{BB962C8B-B14F-4D97-AF65-F5344CB8AC3E}">
        <p14:creationId xmlns:p14="http://schemas.microsoft.com/office/powerpoint/2010/main" val="449692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01:10
מטרת השקופית: להציג את התוצאה השלילית החשובה במשימת המטרה.
</a:t>
            </a:r>
            <a:r>
              <a:rPr lang="en-US" sz="1100">
                <a:latin typeface="Arial" panose="020B0604020202020204" pitchFamily="34" charset="0"/>
                <a:sym typeface="David" panose="020E0502060401010101" pitchFamily="34" charset="-79"/>
              </a:rPr>
              <a:t>TF-IDF
Macro-F1 = 0.4197
</a:t>
            </a:r>
            <a:r>
              <a:rPr lang="he-IL" sz="1100">
                <a:latin typeface="Arial" panose="020B0604020202020204" pitchFamily="34" charset="0"/>
                <a:sym typeface="David" panose="020E0502060401010101" pitchFamily="34" charset="-79"/>
              </a:rPr>
              <a:t>זהו הערך הגבוה ביותר בניסוי העיקרי. שלושת המודלים העצביים נמצאים סביב 0.296 עד 0.302. התוצאה מראה שבמערך הנתונים הנוכחי רמזים לקסיקליים מספיקים כדי לעקוף ייצוגים עמוקים יותר.
היתרון אינו אחיד בין המחלקות. בריצת הייחוס, המחלקה של שינוי תכונה או התנהגות מגיעה ל-</a:t>
            </a:r>
            <a:r>
              <a:rPr lang="en-US" sz="1100">
                <a:latin typeface="Arial" panose="020B0604020202020204" pitchFamily="34" charset="0"/>
                <a:sym typeface="David" panose="020E0502060401010101" pitchFamily="34" charset="-79"/>
              </a:rPr>
              <a:t>F1 </a:t>
            </a:r>
            <a:r>
              <a:rPr lang="he-IL" sz="1100">
                <a:latin typeface="Arial" panose="020B0604020202020204" pitchFamily="34" charset="0"/>
                <a:sym typeface="David" panose="020E0502060401010101" pitchFamily="34" charset="-79"/>
              </a:rPr>
              <a:t>של 0.6387, בעוד המחלקה הנדירה של ארגון מחדש וניקוי מגיעה ל-0.1642 בלבד. במודל ההיררכי אותה מחלקה קורסת ל-0.0. היא גם נדירה וגם חופפת סמנטית לתיקוני תקלה ולשינויי התנהגות.
יש שתי הסתייגויות. ראשית, התוויות נגזרו ממילים בהודעות השינוי ולכן צפוי אות לקסיקלי חזק. שנית, תקציב האימון העצבּי היה קצר, ולכן חלק מהפער עשוי לנבוע מאימון חסר. למרות זאת, הפער העקבי מחייב בדיקת בקרה.
משפט מעבר: נבדוק מה קורה כאשר המודל מקבל רק את המקור שממנו נוצרה התווית.
מקורות: סעיפים 6.1, 6.3 ו-7.1 בדוח. </a:t>
            </a:r>
            <a:r>
              <a:rPr lang="en-US" sz="1100">
                <a:latin typeface="Arial" panose="020B0604020202020204" pitchFamily="34" charset="0"/>
                <a:sym typeface="David" panose="020E0502060401010101" pitchFamily="34" charset="-79"/>
              </a:rPr>
              <a:t>figure_intent_per_class_f1.png.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9</a:t>
            </a:fld>
            <a:endParaRPr lang="en-IL"/>
          </a:p>
        </p:txBody>
      </p:sp>
    </p:spTree>
    <p:extLst>
      <p:ext uri="{BB962C8B-B14F-4D97-AF65-F5344CB8AC3E}">
        <p14:creationId xmlns:p14="http://schemas.microsoft.com/office/powerpoint/2010/main" val="755902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לבדוק את תקפות משימת המטרה ולא רק את ביצועי המודל.
התיוג החלש נוצר באמצעות התאמה בין מילות מפתח לבין הודעת השינוי. לכן אימנו בדיקת בקרה שמקבלת רק את אותה הודעה ואינה רואה את קוד החומרה.
</a:t>
            </a:r>
            <a:r>
              <a:rPr lang="en-US" sz="1100">
                <a:latin typeface="Arial" panose="020B0604020202020204" pitchFamily="34" charset="0"/>
                <a:sym typeface="David" panose="020E0502060401010101" pitchFamily="34" charset="-79"/>
              </a:rPr>
              <a:t>Message-only TF-IDF
Macro-F1 = 0.9855
</a:t>
            </a:r>
            <a:r>
              <a:rPr lang="he-IL" sz="1100">
                <a:latin typeface="Arial" panose="020B0604020202020204" pitchFamily="34" charset="0"/>
                <a:sym typeface="David" panose="020E0502060401010101" pitchFamily="34" charset="-79"/>
              </a:rPr>
              <a:t>התוצאה כמעט מושלמת. המשמעות אינה שהמודל מבין היטב את השינוי, אלא שהוא משחזר את הכלל שיצר את התווית. זהו מקרה של דליפת יעד ברמת הגדרת המשימה. הבדיקה עדיין שימושית למחקר בקנה מידה גדול, אך היא אינה יכולה לשמש הוכחה להבנת קוד טהורה.
הפתרון למחקר המשך הוא מקור תוויות עצמאי. אפשר לבנות מדגם מתויג ידנית, להשתמש בנתוני </a:t>
            </a:r>
            <a:r>
              <a:rPr lang="en-US" sz="1100">
                <a:latin typeface="Arial" panose="020B0604020202020204" pitchFamily="34" charset="0"/>
                <a:sym typeface="David" panose="020E0502060401010101" pitchFamily="34" charset="-79"/>
              </a:rPr>
              <a:t>review </a:t>
            </a:r>
            <a:r>
              <a:rPr lang="he-IL" sz="1100">
                <a:latin typeface="Arial" panose="020B0604020202020204" pitchFamily="34" charset="0"/>
                <a:sym typeface="David" panose="020E0502060401010101" pitchFamily="34" charset="-79"/>
              </a:rPr>
              <a:t>או </a:t>
            </a:r>
            <a:r>
              <a:rPr lang="en-US" sz="1100">
                <a:latin typeface="Arial" panose="020B0604020202020204" pitchFamily="34" charset="0"/>
                <a:sym typeface="David" panose="020E0502060401010101" pitchFamily="34" charset="-79"/>
              </a:rPr>
              <a:t>issue, </a:t>
            </a:r>
            <a:r>
              <a:rPr lang="he-IL" sz="1100">
                <a:latin typeface="Arial" panose="020B0604020202020204" pitchFamily="34" charset="0"/>
                <a:sym typeface="David" panose="020E0502060401010101" pitchFamily="34" charset="-79"/>
              </a:rPr>
              <a:t>או לבצע הסכמה בין כמה מעריכים. חשוב שהמידע שמגדיר את התווית לא יהיה אותו מידע שהמודל מקבל כקלט בבדיקת הבקרה.
משפט מעבר: משימת החוסר אינה משתמשת בהודעת השינוי ליצירת התווית, ולכן שם אפשר לבחון באופן נקי יותר את תרומת המבנה.
מקורות: סעיפים 6.2, 7.1 ו-8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10</a:t>
            </a:fld>
            <a:endParaRPr lang="en-IL"/>
          </a:p>
        </p:txBody>
      </p:sp>
    </p:spTree>
    <p:extLst>
      <p:ext uri="{BB962C8B-B14F-4D97-AF65-F5344CB8AC3E}">
        <p14:creationId xmlns:p14="http://schemas.microsoft.com/office/powerpoint/2010/main" val="2352376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01:20
מטרת השקופית: להציג את התוצאה החיובית המרכזית של הפרויקט ולהסביר את מקור השיפור.
</a:t>
            </a:r>
            <a:r>
              <a:rPr lang="en-US" sz="1100">
                <a:latin typeface="Arial" panose="020B0604020202020204" pitchFamily="34" charset="0"/>
                <a:sym typeface="David" panose="020E0502060401010101" pitchFamily="34" charset="-79"/>
              </a:rPr>
              <a:t>Hierarchical Transformer
Hole F1 = 0.6029
AUROC = 0.7352
</a:t>
            </a:r>
            <a:r>
              <a:rPr lang="he-IL" sz="1100">
                <a:latin typeface="Arial" panose="020B0604020202020204" pitchFamily="34" charset="0"/>
                <a:sym typeface="David" panose="020E0502060401010101" pitchFamily="34" charset="-79"/>
              </a:rPr>
              <a:t>אלה הממוצעים על פני שלושה </a:t>
            </a:r>
            <a:r>
              <a:rPr lang="en-US" sz="1100">
                <a:latin typeface="Arial" panose="020B0604020202020204" pitchFamily="34" charset="0"/>
                <a:sym typeface="David" panose="020E0502060401010101" pitchFamily="34" charset="-79"/>
              </a:rPr>
              <a:t>seeds, </a:t>
            </a:r>
            <a:r>
              <a:rPr lang="he-IL" sz="1100">
                <a:latin typeface="Arial" panose="020B0604020202020204" pitchFamily="34" charset="0"/>
                <a:sym typeface="David" panose="020E0502060401010101" pitchFamily="34" charset="-79"/>
              </a:rPr>
              <a:t>והם הגבוהים ביותר במשימת החוסר. המדד </a:t>
            </a:r>
            <a:r>
              <a:rPr lang="en-US" sz="1100">
                <a:latin typeface="Arial" panose="020B0604020202020204" pitchFamily="34" charset="0"/>
                <a:sym typeface="David" panose="020E0502060401010101" pitchFamily="34" charset="-79"/>
              </a:rPr>
              <a:t>F1 </a:t>
            </a:r>
            <a:r>
              <a:rPr lang="he-IL" sz="1100">
                <a:latin typeface="Arial" panose="020B0604020202020204" pitchFamily="34" charset="0"/>
                <a:sym typeface="David" panose="020E0502060401010101" pitchFamily="34" charset="-79"/>
              </a:rPr>
              <a:t>מאזן בין </a:t>
            </a:r>
            <a:r>
              <a:rPr lang="en-US" sz="1100">
                <a:latin typeface="Arial" panose="020B0604020202020204" pitchFamily="34" charset="0"/>
                <a:sym typeface="David" panose="020E0502060401010101" pitchFamily="34" charset="-79"/>
              </a:rPr>
              <a:t>precision </a:t>
            </a:r>
            <a:r>
              <a:rPr lang="he-IL" sz="1100">
                <a:latin typeface="Arial" panose="020B0604020202020204" pitchFamily="34" charset="0"/>
                <a:sym typeface="David" panose="020E0502060401010101" pitchFamily="34" charset="-79"/>
              </a:rPr>
              <a:t>לבין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עבור מחלקת החוסר. המדד </a:t>
            </a:r>
            <a:r>
              <a:rPr lang="en-US" sz="1100">
                <a:latin typeface="Arial" panose="020B0604020202020204" pitchFamily="34" charset="0"/>
                <a:sym typeface="David" panose="020E0502060401010101" pitchFamily="34" charset="-79"/>
              </a:rPr>
              <a:t>AUROC </a:t>
            </a:r>
            <a:r>
              <a:rPr lang="he-IL" sz="1100">
                <a:latin typeface="Arial" panose="020B0604020202020204" pitchFamily="34" charset="0"/>
                <a:sym typeface="David" panose="020E0502060401010101" pitchFamily="34" charset="-79"/>
              </a:rPr>
              <a:t>בוחן את יכולת הדירוג של המודל על פני כל ספי ההחלטה ולא רק בסף אחד.
מטריצות הבלבול מציגות ריצת ייחוס. קו הבסיס מסווג נכון 202 דוגמאות חסרות, והמודל ההיררכי מסווג נכון 203. מספר החוסרים שהתגלו כמעט זהה. ההבדל הגדול הוא בדוגמאות השלמות: מספר התראות השווא יורד מ-172 ל-81.
</a:t>
            </a:r>
            <a:r>
              <a:rPr lang="en-US" sz="1100">
                <a:latin typeface="Arial" panose="020B0604020202020204" pitchFamily="34" charset="0"/>
                <a:sym typeface="David" panose="020E0502060401010101" pitchFamily="34" charset="-79"/>
              </a:rPr>
              <a:t>TF-IDF
[[255, 172], [168, 202]]
Hierarchical Transformer
[[346, 81], [167, 203]]
</a:t>
            </a:r>
            <a:r>
              <a:rPr lang="he-IL" sz="1100">
                <a:latin typeface="Arial" panose="020B0604020202020204" pitchFamily="34" charset="0"/>
                <a:sym typeface="David" panose="020E0502060401010101" pitchFamily="34" charset="-79"/>
              </a:rPr>
              <a:t>לשימוש ב-</a:t>
            </a:r>
            <a:r>
              <a:rPr lang="en-US" sz="1100">
                <a:latin typeface="Arial" panose="020B0604020202020204" pitchFamily="34" charset="0"/>
                <a:sym typeface="David" panose="020E0502060401010101" pitchFamily="34" charset="-79"/>
              </a:rPr>
              <a:t>Code Review </a:t>
            </a:r>
            <a:r>
              <a:rPr lang="he-IL" sz="1100">
                <a:latin typeface="Arial" panose="020B0604020202020204" pitchFamily="34" charset="0"/>
                <a:sym typeface="David" panose="020E0502060401010101" pitchFamily="34" charset="-79"/>
              </a:rPr>
              <a:t>זו תוצאה חשובה. כלי שמתריע יותר מדי נשחק במהירות. הפחתת התראות שווא תוך שמירה על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דומה הופכת את המודל לשמרני ושימושי יותר.
משפט מעבר: כדי לבדוק אם השיפור נובע באמת מסוג השורה, נסיר רק את הרכיב הזה.
מקורות: סעיפים 6.1, 7.2 ו-7.6 בדוח. </a:t>
            </a:r>
            <a:r>
              <a:rPr lang="en-US" sz="1100">
                <a:latin typeface="Arial" panose="020B0604020202020204" pitchFamily="34" charset="0"/>
                <a:sym typeface="David" panose="020E0502060401010101" pitchFamily="34" charset="-79"/>
              </a:rPr>
              <a:t>figure_hole_confusion_panels.png.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11</a:t>
            </a:fld>
            <a:endParaRPr lang="en-IL"/>
          </a:p>
        </p:txBody>
      </p:sp>
    </p:spTree>
    <p:extLst>
      <p:ext uri="{BB962C8B-B14F-4D97-AF65-F5344CB8AC3E}">
        <p14:creationId xmlns:p14="http://schemas.microsoft.com/office/powerpoint/2010/main" val="661777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01:10
מטרת השקופית: לבודד את התרומה של מידע סוג השורה.
</a:t>
            </a:r>
            <a:r>
              <a:rPr lang="en-US" sz="1100">
                <a:latin typeface="Arial" panose="020B0604020202020204" pitchFamily="34" charset="0"/>
                <a:sym typeface="David" panose="020E0502060401010101" pitchFamily="34" charset="-79"/>
              </a:rPr>
              <a:t>No Line-Type Embeddings
</a:t>
            </a:r>
            <a:r>
              <a:rPr lang="he-IL" sz="1100">
                <a:latin typeface="Arial" panose="020B0604020202020204" pitchFamily="34" charset="0"/>
                <a:sym typeface="David" panose="020E0502060401010101" pitchFamily="34" charset="-79"/>
              </a:rPr>
              <a:t>בניסוי הזה נשמרים מקודד האסימונים, המקודד ההיררכי, מספר השכבות, תקציב האימון והחלוקה. הרכיב היחיד שמוסר הוא הייצוג שמציין אם השורה נוספה, נמחקה או משמשת כהקשר.
</a:t>
            </a:r>
            <a:r>
              <a:rPr lang="en-US" sz="1100">
                <a:latin typeface="Arial" panose="020B0604020202020204" pitchFamily="34" charset="0"/>
                <a:sym typeface="David" panose="020E0502060401010101" pitchFamily="34" charset="-79"/>
              </a:rPr>
              <a:t>Delta Hole F1 = -0.1305
Delta AUROC = -0.1058
</a:t>
            </a:r>
            <a:r>
              <a:rPr lang="he-IL" sz="1100">
                <a:latin typeface="Arial" panose="020B0604020202020204" pitchFamily="34" charset="0"/>
                <a:sym typeface="David" panose="020E0502060401010101" pitchFamily="34" charset="-79"/>
              </a:rPr>
              <a:t>בממוצע של שלושה </a:t>
            </a:r>
            <a:r>
              <a:rPr lang="en-US" sz="1100">
                <a:latin typeface="Arial" panose="020B0604020202020204" pitchFamily="34" charset="0"/>
                <a:sym typeface="David" panose="020E0502060401010101" pitchFamily="34" charset="-79"/>
              </a:rPr>
              <a:t>seeds, </a:t>
            </a:r>
            <a:r>
              <a:rPr lang="he-IL" sz="1100">
                <a:latin typeface="Arial" panose="020B0604020202020204" pitchFamily="34" charset="0"/>
                <a:sym typeface="David" panose="020E0502060401010101" pitchFamily="34" charset="-79"/>
              </a:rPr>
              <a:t>המדד </a:t>
            </a:r>
            <a:r>
              <a:rPr lang="en-US" sz="1100">
                <a:latin typeface="Arial" panose="020B0604020202020204" pitchFamily="34" charset="0"/>
                <a:sym typeface="David" panose="020E0502060401010101" pitchFamily="34" charset="-79"/>
              </a:rPr>
              <a:t>F1 </a:t>
            </a:r>
            <a:r>
              <a:rPr lang="he-IL" sz="1100">
                <a:latin typeface="Arial" panose="020B0604020202020204" pitchFamily="34" charset="0"/>
                <a:sym typeface="David" panose="020E0502060401010101" pitchFamily="34" charset="-79"/>
              </a:rPr>
              <a:t>יורד מ-0.6029 ל-0.4724 והמדד </a:t>
            </a:r>
            <a:r>
              <a:rPr lang="en-US" sz="1100">
                <a:latin typeface="Arial" panose="020B0604020202020204" pitchFamily="34" charset="0"/>
                <a:sym typeface="David" panose="020E0502060401010101" pitchFamily="34" charset="-79"/>
              </a:rPr>
              <a:t>AUROC </a:t>
            </a:r>
            <a:r>
              <a:rPr lang="he-IL" sz="1100">
                <a:latin typeface="Arial" panose="020B0604020202020204" pitchFamily="34" charset="0"/>
                <a:sym typeface="David" panose="020E0502060401010101" pitchFamily="34" charset="-79"/>
              </a:rPr>
              <a:t>יורד מ-0.7352 ל-0.6294. בריצת הייחוס השורה הראשונה במטריצת הבלבול נשארת זהה, אבל המודל מאבד 66 זיהויים נכונים של חוסרים. כלומר המידע המבני מסייע בעיקר לזהות שהשינוי החסר אכן חשוד, ולא רק לדחות דוגמאות שלמות.
זו הראיה הסיבתית החזקה ביותר בפרויקט. השיפור אינו נובע רק ממספר פרמטרים גדול יותר. הוא קשור להטיה מבנית שמתאימה לאופי של שינוי קוד. ניסויי הסרת הקשר והפרדת המשימות מספקים תמונה נוספת, אך הם בוצעו על </a:t>
            </a:r>
            <a:r>
              <a:rPr lang="en-US" sz="1100">
                <a:latin typeface="Arial" panose="020B0604020202020204" pitchFamily="34" charset="0"/>
                <a:sym typeface="David" panose="020E0502060401010101" pitchFamily="34" charset="-79"/>
              </a:rPr>
              <a:t>seed </a:t>
            </a:r>
            <a:r>
              <a:rPr lang="he-IL" sz="1100">
                <a:latin typeface="Arial" panose="020B0604020202020204" pitchFamily="34" charset="0"/>
                <a:sym typeface="David" panose="020E0502060401010101" pitchFamily="34" charset="-79"/>
              </a:rPr>
              <a:t>יחיד ולכן המסקנה מהם חלשה יותר.
משפט מעבר: גם תוצאה חזקה זו חייבת להיקרא בתוך גבולות מערך הנתונים.
מקורות: סעיפים 6.2 ו-7.3 בדוח. </a:t>
            </a:r>
            <a:r>
              <a:rPr lang="en-US" sz="1100">
                <a:latin typeface="Arial" panose="020B0604020202020204" pitchFamily="34" charset="0"/>
                <a:sym typeface="David" panose="020E0502060401010101" pitchFamily="34" charset="-79"/>
              </a:rPr>
              <a:t>figure_ablation_results.png.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12</a:t>
            </a:fld>
            <a:endParaRPr lang="en-IL"/>
          </a:p>
        </p:txBody>
      </p:sp>
    </p:spTree>
    <p:extLst>
      <p:ext uri="{BB962C8B-B14F-4D97-AF65-F5344CB8AC3E}">
        <p14:creationId xmlns:p14="http://schemas.microsoft.com/office/powerpoint/2010/main" val="99983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להגדיר במפורש את גבול התוקף של המסקנות.
המגבלה הראשונה היא כיסוי סינתטי. 82.2 אחוז מדוגמאות החוסר בבדיקה נוצרו מהסרת שורה שנוספה. לכן המדד הכולל מושפע בעיקר ממשפחה שקל יחסית לזהות.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עבור הסרת </a:t>
            </a:r>
            <a:r>
              <a:rPr lang="en-US" sz="1100">
                <a:latin typeface="Arial" panose="020B0604020202020204" pitchFamily="34" charset="0"/>
                <a:sym typeface="David" panose="020E0502060401010101" pitchFamily="34" charset="-79"/>
              </a:rPr>
              <a:t>guard </a:t>
            </a:r>
            <a:r>
              <a:rPr lang="he-IL" sz="1100">
                <a:latin typeface="Arial" panose="020B0604020202020204" pitchFamily="34" charset="0"/>
                <a:sym typeface="David" panose="020E0502060401010101" pitchFamily="34" charset="-79"/>
              </a:rPr>
              <a:t>או </a:t>
            </a:r>
            <a:r>
              <a:rPr lang="en-US" sz="1100">
                <a:latin typeface="Arial" panose="020B0604020202020204" pitchFamily="34" charset="0"/>
                <a:sym typeface="David" panose="020E0502060401010101" pitchFamily="34" charset="-79"/>
              </a:rPr>
              <a:t>assertion </a:t>
            </a:r>
            <a:r>
              <a:rPr lang="he-IL" sz="1100">
                <a:latin typeface="Arial" panose="020B0604020202020204" pitchFamily="34" charset="0"/>
                <a:sym typeface="David" panose="020E0502060401010101" pitchFamily="34" charset="-79"/>
              </a:rPr>
              <a:t>הוא רק 0.2931. עבור החלפת קבוע בינארי הוא 0.0, אך קיימות רק שש דוגמאות.
המגבלה השנייה היא תמיכה נמוכה. בבדיקה יש שתי דוגמאות בלבד להסרת השמת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או </a:t>
            </a:r>
            <a:r>
              <a:rPr lang="en-US" sz="1100">
                <a:latin typeface="Arial" panose="020B0604020202020204" pitchFamily="34" charset="0"/>
                <a:sym typeface="David" panose="020E0502060401010101" pitchFamily="34" charset="-79"/>
              </a:rPr>
              <a:t>default, </a:t>
            </a:r>
            <a:r>
              <a:rPr lang="he-IL" sz="1100">
                <a:latin typeface="Arial" panose="020B0604020202020204" pitchFamily="34" charset="0"/>
                <a:sym typeface="David" panose="020E0502060401010101" pitchFamily="34" charset="-79"/>
              </a:rPr>
              <a:t>ואין כלל דוגמאות לכמה משפחות של החלפת אופרטורים והסרת מקטע. אי אפשר להסיק מהן יכולת הכללה.
המגבלה השלישית היא תוקף חיצוני. המחקר על </a:t>
            </a:r>
            <a:r>
              <a:rPr lang="en-US" sz="1100">
                <a:latin typeface="Arial" panose="020B0604020202020204" pitchFamily="34" charset="0"/>
                <a:sym typeface="David" panose="020E0502060401010101" pitchFamily="34" charset="-79"/>
              </a:rPr>
              <a:t>Caliptra </a:t>
            </a:r>
            <a:r>
              <a:rPr lang="he-IL" sz="1100">
                <a:latin typeface="Arial" panose="020B0604020202020204" pitchFamily="34" charset="0"/>
                <a:sym typeface="David" panose="020E0502060401010101" pitchFamily="34" charset="-79"/>
              </a:rPr>
              <a:t>בוצע בקנה מידה קטן ובפרוטוקול שונה. הוא מראה שינוי בהתפלגות ובכיסוי התיוג, אך אינו שקול לניסוי המלא על </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ניתוח איכותני מצא גם התראות שווא בטוחות בשינויי </a:t>
            </a:r>
            <a:r>
              <a:rPr lang="en-US" sz="1100">
                <a:latin typeface="Arial" panose="020B0604020202020204" pitchFamily="34" charset="0"/>
                <a:sym typeface="David" panose="020E0502060401010101" pitchFamily="34" charset="-79"/>
              </a:rPr>
              <a:t>clock </a:t>
            </a:r>
            <a:r>
              <a:rPr lang="he-IL" sz="1100">
                <a:latin typeface="Arial" panose="020B0604020202020204" pitchFamily="34" charset="0"/>
                <a:sym typeface="David" panose="020E0502060401010101" pitchFamily="34" charset="-79"/>
              </a:rPr>
              <a:t>ו-</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והחמצות בטוחות בהסרת </a:t>
            </a:r>
            <a:r>
              <a:rPr lang="en-US" sz="1100">
                <a:latin typeface="Arial" panose="020B0604020202020204" pitchFamily="34" charset="0"/>
                <a:sym typeface="David" panose="020E0502060401010101" pitchFamily="34" charset="-79"/>
              </a:rPr>
              <a:t>assertion </a:t>
            </a:r>
            <a:r>
              <a:rPr lang="he-IL" sz="1100">
                <a:latin typeface="Arial" panose="020B0604020202020204" pitchFamily="34" charset="0"/>
                <a:sym typeface="David" panose="020E0502060401010101" pitchFamily="34" charset="-79"/>
              </a:rPr>
              <a:t>או בשינויי </a:t>
            </a:r>
            <a:r>
              <a:rPr lang="en-US" sz="1100">
                <a:latin typeface="Arial" panose="020B0604020202020204" pitchFamily="34" charset="0"/>
                <a:sym typeface="David" panose="020E0502060401010101" pitchFamily="34" charset="-79"/>
              </a:rPr>
              <a:t>parameter. </a:t>
            </a:r>
            <a:r>
              <a:rPr lang="he-IL" sz="1100">
                <a:latin typeface="Arial" panose="020B0604020202020204" pitchFamily="34" charset="0"/>
                <a:sym typeface="David" panose="020E0502060401010101" pitchFamily="34" charset="-79"/>
              </a:rPr>
              <a:t>לכן נדרש מערך בדיקה ידני של חוסרים אמיתיים לפני שימוש מעשי.
משפט מעבר: לאחר ההסתייגויות אפשר לסכם שלוש מסקנות שמגובות ישירות בניסוי.
מקורות: סעיפים 7.4, 7.5, 7.7 ו-8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13</a:t>
            </a:fld>
            <a:endParaRPr lang="en-IL"/>
          </a:p>
        </p:txBody>
      </p:sp>
    </p:spTree>
    <p:extLst>
      <p:ext uri="{BB962C8B-B14F-4D97-AF65-F5344CB8AC3E}">
        <p14:creationId xmlns:p14="http://schemas.microsoft.com/office/powerpoint/2010/main" val="1892561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00:45
מטרת השקופית: לסיים בשלוש טענות מדויקות ולפתוח לשאלות.
מסקנה ראשונה. במשימת המטרה, קו בסיס לקסיקלי פשוט השיג את התוצאה הטובה ביותר. זו אינה כישלון של המחקר, אלא עדות לכך שהתיוג והנתונים מכילים אות מילולי חזק ושמודלים עמוקים אינם עדיפים אוטומטית.
מסקנה שנייה. במשימת החוסר, המבנה ההיררכי השיג את המדדים הטובים ביותר והפחית באופן משמעותי התראות שווא. ניסוי הסרת ייצוג סוג השורה תומך בטענה שמידע מפורש על תפקיד השורה הוא רכיב מהותי.
מסקנה שלישית. מקור התוויות למשימת המטרה חייב להיות עצמאי. אין להעריך הבנת קוד באמצעות תווית שנגזרה מהודעת השינוי ואז להציג את שחזור ההודעה כהבנת קוד.
המשך העבודה הטבעי הוא מדגם מתויג ידנית, איזון טוב יותר בין משפחות חוסר, הרחבה לפרויקטים נוספים ושילוב מבנה חומרה עשיר יותר.
משפט סיום מוצע: הפרויקט מספק צינור מלא ושחזורי למחקר בשינויי </a:t>
            </a:r>
            <a:r>
              <a:rPr lang="en-US" sz="1100">
                <a:latin typeface="Arial" panose="020B0604020202020204" pitchFamily="34" charset="0"/>
                <a:sym typeface="David" panose="020E0502060401010101" pitchFamily="34" charset="-79"/>
              </a:rPr>
              <a:t>RTL, </a:t>
            </a:r>
            <a:r>
              <a:rPr lang="he-IL" sz="1100">
                <a:latin typeface="Arial" panose="020B0604020202020204" pitchFamily="34" charset="0"/>
                <a:sym typeface="David" panose="020E0502060401010101" pitchFamily="34" charset="-79"/>
              </a:rPr>
              <a:t>יחד עם תוצאה חיובית על מבנה השינוי ותוצאה שלילית חשובה על תקפות התיוג.
כעת אפשר לעבור לשאלות.
מקור: סעיפים 6 עד 8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14</a:t>
            </a:fld>
            <a:endParaRPr lang="en-IL"/>
          </a:p>
        </p:txBody>
      </p:sp>
    </p:spTree>
    <p:extLst>
      <p:ext uri="{BB962C8B-B14F-4D97-AF65-F5344CB8AC3E}">
        <p14:creationId xmlns:p14="http://schemas.microsoft.com/office/powerpoint/2010/main" val="524722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שקופית גיבוי. מומלץ לפתוח אותה רק אם נשאלת שאלה על דפוסי הטעות במשימת המטרה.
כך קוראים את התרשימים: כל שורה מייצגת מחלקה אמיתית וכל עמודה מייצגת תחזית. ערך גבוה על האלכסון הוא סיווג נכון. ערכים מחוץ לאלכסון מראים בין אילו מחלקות המודל מתבלבל.
</a:t>
            </a:r>
            <a:r>
              <a:rPr lang="en-US" sz="1100">
                <a:latin typeface="Arial" panose="020B0604020202020204" pitchFamily="34" charset="0"/>
                <a:sym typeface="David" panose="020E0502060401010101" pitchFamily="34" charset="-79"/>
              </a:rPr>
              <a:t>TF-IDF
</a:t>
            </a:r>
            <a:r>
              <a:rPr lang="he-IL" sz="1100">
                <a:latin typeface="Arial" panose="020B0604020202020204" pitchFamily="34" charset="0"/>
                <a:sym typeface="David" panose="020E0502060401010101" pitchFamily="34" charset="-79"/>
              </a:rPr>
              <a:t>קו הבסיס מזהה היטב יחסית שינויי תכונה או התנהגות, אך מתקשה במחלקת ארגון מחדש וניקוי. בריצת הייחוס רק 11 מתוך 102 דוגמאות במחלקה זו מסווגות נכון. חלק גדול מועבר לתיקון תקלה או לשינוי התנהגות.
</a:t>
            </a:r>
            <a:r>
              <a:rPr lang="en-US" sz="1100">
                <a:latin typeface="Arial" panose="020B0604020202020204" pitchFamily="34" charset="0"/>
                <a:sym typeface="David" panose="020E0502060401010101" pitchFamily="34" charset="-79"/>
              </a:rPr>
              <a:t>Hierarchical Transformer
</a:t>
            </a:r>
            <a:r>
              <a:rPr lang="he-IL" sz="1100">
                <a:latin typeface="Arial" panose="020B0604020202020204" pitchFamily="34" charset="0"/>
                <a:sym typeface="David" panose="020E0502060401010101" pitchFamily="34" charset="-79"/>
              </a:rPr>
              <a:t>המודל ההיררכי קורס לחלוטין במחלקת ארגון מחדש וניקוי באותה ריצה. בנוסף, 92 מתוך 188 דוגמאות של תצורה ותזמון מסווגות כשינוי תכונה או התנהגות. דוגמאות כמו הוספת </a:t>
            </a:r>
            <a:r>
              <a:rPr lang="en-US" sz="1100">
                <a:latin typeface="Arial" panose="020B0604020202020204" pitchFamily="34" charset="0"/>
                <a:sym typeface="David" panose="020E0502060401010101" pitchFamily="34" charset="-79"/>
              </a:rPr>
              <a:t>clock </a:t>
            </a:r>
            <a:r>
              <a:rPr lang="he-IL" sz="1100">
                <a:latin typeface="Arial" panose="020B0604020202020204" pitchFamily="34" charset="0"/>
                <a:sym typeface="David" panose="020E0502060401010101" pitchFamily="34" charset="-79"/>
              </a:rPr>
              <a:t>ו-</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אכן מכילות גם שינוי תפקודי, ולכן גבולות המחלקות עצמם אינם חדים.
המסר לשאלה: הבעיה אינה רק חוסר איזון. קיימת גם חפיפה סמנטית ורעש בתיוג החלש.
מקורות: סעיף 7.1 בדוח. </a:t>
            </a:r>
            <a:r>
              <a:rPr lang="en-US" sz="1100">
                <a:latin typeface="Arial" panose="020B0604020202020204" pitchFamily="34" charset="0"/>
                <a:sym typeface="David" panose="020E0502060401010101" pitchFamily="34" charset="-79"/>
              </a:rPr>
              <a:t>erroranalysis_confusion_full_tfidf_lr.png. erroranalysis_confusion_full_hierarchical_transformer.png.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15</a:t>
            </a:fld>
            <a:endParaRPr lang="en-IL"/>
          </a:p>
        </p:txBody>
      </p:sp>
    </p:spTree>
    <p:extLst>
      <p:ext uri="{BB962C8B-B14F-4D97-AF65-F5344CB8AC3E}">
        <p14:creationId xmlns:p14="http://schemas.microsoft.com/office/powerpoint/2010/main" val="4029763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שקופית גיבוי. מומלץ לפתוח אותה אם נשאלת שאלה על סוגי החוסרים שהמודל מזהה.
הציר האופקי מפריד בין משפחות המוטציה, והציר האנכי מציג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על דוגמאות חסרות בלבד. גודל המדגם מופיע מתחת לכל משפחה ולכן חשוב לא לפרש כל עמודה באותה רמת ביטחון.
</a:t>
            </a:r>
            <a:r>
              <a:rPr lang="en-US" sz="1100">
                <a:latin typeface="Arial" panose="020B0604020202020204" pitchFamily="34" charset="0"/>
                <a:sym typeface="David" panose="020E0502060401010101" pitchFamily="34" charset="-79"/>
              </a:rPr>
              <a:t>Drop Added Line
Support = 304
Recall = 0.6086
</a:t>
            </a:r>
            <a:r>
              <a:rPr lang="he-IL" sz="1100">
                <a:latin typeface="Arial" panose="020B0604020202020204" pitchFamily="34" charset="0"/>
                <a:sym typeface="David" panose="020E0502060401010101" pitchFamily="34" charset="-79"/>
              </a:rPr>
              <a:t>זו הקבוצה הגדולה ביותר ולכן היא שולטת במדד הכולל.
</a:t>
            </a:r>
            <a:r>
              <a:rPr lang="en-US" sz="1100">
                <a:latin typeface="Arial" panose="020B0604020202020204" pitchFamily="34" charset="0"/>
                <a:sym typeface="David" panose="020E0502060401010101" pitchFamily="34" charset="-79"/>
              </a:rPr>
              <a:t>Remove Guard or Assertion
Support = 58
Recall = 0.2931
</a:t>
            </a:r>
            <a:r>
              <a:rPr lang="he-IL" sz="1100">
                <a:latin typeface="Arial" panose="020B0604020202020204" pitchFamily="34" charset="0"/>
                <a:sym typeface="David" panose="020E0502060401010101" pitchFamily="34" charset="-79"/>
              </a:rPr>
              <a:t>המודל מתקשה יותר כאשר החוסר סמנטי ועדיין משאיר שינוי שנראה סביר מבחינה לקסיקלית.
</a:t>
            </a:r>
            <a:r>
              <a:rPr lang="en-US" sz="1100">
                <a:latin typeface="Arial" panose="020B0604020202020204" pitchFamily="34" charset="0"/>
                <a:sym typeface="David" panose="020E0502060401010101" pitchFamily="34" charset="-79"/>
              </a:rPr>
              <a:t>Flip Binary Constant
Support = 6
Recall = 0.0
</a:t>
            </a:r>
            <a:r>
              <a:rPr lang="he-IL" sz="1100">
                <a:latin typeface="Arial" panose="020B0604020202020204" pitchFamily="34" charset="0"/>
                <a:sym typeface="David" panose="020E0502060401010101" pitchFamily="34" charset="-79"/>
              </a:rPr>
              <a:t>המספר מדאיג אך המדגם קטן מדי למסקנה יציבה.
</a:t>
            </a:r>
            <a:r>
              <a:rPr lang="en-US" sz="1100">
                <a:latin typeface="Arial" panose="020B0604020202020204" pitchFamily="34" charset="0"/>
                <a:sym typeface="David" panose="020E0502060401010101" pitchFamily="34" charset="-79"/>
              </a:rPr>
              <a:t>Remove Reset or Default
Support = 2
Recall = 0.5
</a:t>
            </a:r>
            <a:r>
              <a:rPr lang="he-IL" sz="1100">
                <a:latin typeface="Arial" panose="020B0604020202020204" pitchFamily="34" charset="0"/>
                <a:sym typeface="David" panose="020E0502060401010101" pitchFamily="34" charset="-79"/>
              </a:rPr>
              <a:t>גם כאן אין בסיס סטטיסטי להכללה. אין דוגמאות בדיקה לכמה משפחות נוספות.
המסר לשאלה: המדד הכולל משקף בעיקר הסרת שורה, ולא יכולת כללית לזהות כל חוסר חומרה.
מקורות: סעיף 7.4 בדוח. </a:t>
            </a:r>
            <a:r>
              <a:rPr lang="en-US" sz="1100">
                <a:latin typeface="Arial" panose="020B0604020202020204" pitchFamily="34" charset="0"/>
                <a:sym typeface="David" panose="020E0502060401010101" pitchFamily="34" charset="-79"/>
              </a:rPr>
              <a:t>figure_hole_mutation_recall.png.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16</a:t>
            </a:fld>
            <a:endParaRPr lang="en-IL"/>
          </a:p>
        </p:txBody>
      </p:sp>
    </p:spTree>
    <p:extLst>
      <p:ext uri="{BB962C8B-B14F-4D97-AF65-F5344CB8AC3E}">
        <p14:creationId xmlns:p14="http://schemas.microsoft.com/office/powerpoint/2010/main" val="992425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שקופית גיבוי. מומלץ לפתוח אותה אם נשאלת שאלה על הכללה, שיפור התיוג או המשך עבודה.
הסתייגות מרכזית: שלושת המחקרים בוצעו על מערך בינוני או בקנה מידה קטן, עם פרוטוקולים שונים מהניסוי המלא. אין להשוות את הערכים המוחלטים ישירות לטבלה הראשית.
</a:t>
            </a:r>
            <a:r>
              <a:rPr lang="en-US" sz="1100">
                <a:latin typeface="Arial" panose="020B0604020202020204" pitchFamily="34" charset="0"/>
                <a:sym typeface="David" panose="020E0502060401010101" pitchFamily="34" charset="-79"/>
              </a:rPr>
              <a:t>Improved Weak Labeling
</a:t>
            </a:r>
            <a:r>
              <a:rPr lang="he-IL" sz="1100">
                <a:latin typeface="Arial" panose="020B0604020202020204" pitchFamily="34" charset="0"/>
                <a:sym typeface="David" panose="020E0502060401010101" pitchFamily="34" charset="-79"/>
              </a:rPr>
              <a:t>הרחבת מילון המילים הורידה את שיעור ההשלכה ב-</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מ-29 אחוז ל-16 אחוז, וב-</a:t>
            </a:r>
            <a:r>
              <a:rPr lang="en-US" sz="1100">
                <a:latin typeface="Arial" panose="020B0604020202020204" pitchFamily="34" charset="0"/>
                <a:sym typeface="David" panose="020E0502060401010101" pitchFamily="34" charset="-79"/>
              </a:rPr>
              <a:t>Caliptra </a:t>
            </a:r>
            <a:r>
              <a:rPr lang="he-IL" sz="1100">
                <a:latin typeface="Arial" panose="020B0604020202020204" pitchFamily="34" charset="0"/>
                <a:sym typeface="David" panose="020E0502060401010101" pitchFamily="34" charset="-79"/>
              </a:rPr>
              <a:t>מ-53 אחוז ל-25 אחוז. הפער בין הפרויקטים הצטמצם, אך הודעות שמתארות מה השתנה ולא מדוע עדיין אינן פתירות באמצעות מילות מפתח בלבד.
</a:t>
            </a:r>
            <a:r>
              <a:rPr lang="en-US" sz="1100">
                <a:latin typeface="Arial" panose="020B0604020202020204" pitchFamily="34" charset="0"/>
                <a:sym typeface="David" panose="020E0502060401010101" pitchFamily="34" charset="-79"/>
              </a:rPr>
              <a:t>Hardware-aware Features
</a:t>
            </a:r>
            <a:r>
              <a:rPr lang="he-IL" sz="1100">
                <a:latin typeface="Arial" panose="020B0604020202020204" pitchFamily="34" charset="0"/>
                <a:sym typeface="David" panose="020E0502060401010101" pitchFamily="34" charset="-79"/>
              </a:rPr>
              <a:t>מודל </a:t>
            </a:r>
            <a:r>
              <a:rPr lang="en-US" sz="1100">
                <a:latin typeface="Arial" panose="020B0604020202020204" pitchFamily="34" charset="0"/>
                <a:sym typeface="David" panose="020E0502060401010101" pitchFamily="34" charset="-79"/>
              </a:rPr>
              <a:t>Random Forest </a:t>
            </a:r>
            <a:r>
              <a:rPr lang="he-IL" sz="1100">
                <a:latin typeface="Arial" panose="020B0604020202020204" pitchFamily="34" charset="0"/>
                <a:sym typeface="David" panose="020E0502060401010101" pitchFamily="34" charset="-79"/>
              </a:rPr>
              <a:t>עם 18 מאפיינים פרשניים הגיע בחמש חלוקות ל-</a:t>
            </a:r>
            <a:r>
              <a:rPr lang="en-US" sz="1100">
                <a:latin typeface="Arial" panose="020B0604020202020204" pitchFamily="34" charset="0"/>
                <a:sym typeface="David" panose="020E0502060401010101" pitchFamily="34" charset="-79"/>
              </a:rPr>
              <a:t>Macro-F1 </a:t>
            </a:r>
            <a:r>
              <a:rPr lang="he-IL" sz="1100">
                <a:latin typeface="Arial" panose="020B0604020202020204" pitchFamily="34" charset="0"/>
                <a:sym typeface="David" panose="020E0502060401010101" pitchFamily="34" charset="-79"/>
              </a:rPr>
              <a:t>של 0.525 בתוספת או הפחתה של 0.114. קו הבסיס הטקסטואלי באותו פרוטוקול הגיע ל-0.544 בתוספת או הפחתה של 0.053. המסקנה אינה שהמאפיינים מנצחים, אלא שהם מתקרבים לביצועי טקסט וחושפים אילו תכונות שינוי נושאות מידע.
</a:t>
            </a:r>
            <a:r>
              <a:rPr lang="en-US" sz="1100">
                <a:latin typeface="Arial" panose="020B0604020202020204" pitchFamily="34" charset="0"/>
                <a:sym typeface="David" panose="020E0502060401010101" pitchFamily="34" charset="-79"/>
              </a:rPr>
              <a:t>Cross-project Study
</a:t>
            </a:r>
            <a:r>
              <a:rPr lang="he-IL" sz="1100">
                <a:latin typeface="Arial" panose="020B0604020202020204" pitchFamily="34" charset="0"/>
                <a:sym typeface="David" panose="020E0502060401010101" pitchFamily="34" charset="-79"/>
              </a:rPr>
              <a:t>במדגם הקטן, </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היה מוטה לשינויי תכונה ואילו </a:t>
            </a:r>
            <a:r>
              <a:rPr lang="en-US" sz="1100">
                <a:latin typeface="Arial" panose="020B0604020202020204" pitchFamily="34" charset="0"/>
                <a:sym typeface="David" panose="020E0502060401010101" pitchFamily="34" charset="-79"/>
              </a:rPr>
              <a:t>Caliptra </a:t>
            </a:r>
            <a:r>
              <a:rPr lang="he-IL" sz="1100">
                <a:latin typeface="Arial" panose="020B0604020202020204" pitchFamily="34" charset="0"/>
                <a:sym typeface="David" panose="020E0502060401010101" pitchFamily="34" charset="-79"/>
              </a:rPr>
              <a:t>היה מוטה לתיקוני תקלה. השינוי בהתפלגות מסביר מדוע יש לצפות לירידה בהכללה בין פרויקטים.
</a:t>
            </a:r>
            <a:r>
              <a:rPr lang="en-US" sz="1100">
                <a:latin typeface="Arial" panose="020B0604020202020204" pitchFamily="34" charset="0"/>
                <a:sym typeface="David" panose="020E0502060401010101" pitchFamily="34" charset="-79"/>
              </a:rPr>
              <a:t>Code-review Assistant
</a:t>
            </a:r>
            <a:r>
              <a:rPr lang="he-IL" sz="1100">
                <a:latin typeface="Arial" panose="020B0604020202020204" pitchFamily="34" charset="0"/>
                <a:sym typeface="David" panose="020E0502060401010101" pitchFamily="34" charset="-79"/>
              </a:rPr>
              <a:t>נבנתה שכבת יישום שמחזירה תחזית מטרה וציון חוסר. היא מדגימה שימוש אפשרי, אך אינה מהווה הערכת מוצר או אישור לפריסה.
מקורות: סעיף 7.7 בדוח. </a:t>
            </a:r>
            <a:r>
              <a:rPr lang="en-US" sz="1100">
                <a:latin typeface="Arial" panose="020B0604020202020204" pitchFamily="34" charset="0"/>
                <a:sym typeface="David" panose="020E0502060401010101" pitchFamily="34" charset="-79"/>
              </a:rPr>
              <a:t>labeler_improvement.png. rtl_features_cv.png. generalization_compare.png.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17</a:t>
            </a:fld>
            <a:endParaRPr lang="en-IL"/>
          </a:p>
        </p:txBody>
      </p:sp>
    </p:spTree>
    <p:extLst>
      <p:ext uri="{BB962C8B-B14F-4D97-AF65-F5344CB8AC3E}">
        <p14:creationId xmlns:p14="http://schemas.microsoft.com/office/powerpoint/2010/main" val="3641454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1E085-D574-5267-85C8-8EAA81485F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4A0A1978-BA3A-E6B2-35CD-3220067812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D5F94C99-E24E-3F42-06DD-72D021541314}"/>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5" name="Footer Placeholder 4">
            <a:extLst>
              <a:ext uri="{FF2B5EF4-FFF2-40B4-BE49-F238E27FC236}">
                <a16:creationId xmlns:a16="http://schemas.microsoft.com/office/drawing/2014/main" id="{D1306B4D-EB79-D7E2-C576-26FDEFB92F8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C667DD0-55AF-1244-101F-7FDD05427F10}"/>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3243267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ED104-AF04-DE62-0FF5-8AD0698B220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0A45AE4-77C5-5B43-834D-E2DD194E10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F30CE8-4972-BF7B-6A5D-6340B241CF28}"/>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5" name="Footer Placeholder 4">
            <a:extLst>
              <a:ext uri="{FF2B5EF4-FFF2-40B4-BE49-F238E27FC236}">
                <a16:creationId xmlns:a16="http://schemas.microsoft.com/office/drawing/2014/main" id="{4E4C32EC-8DF6-25E8-FA6F-7E9F07D3A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B614A7F-33AB-90FA-A2A5-70E9CD45BC2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124013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FF7B1-E56D-C954-6A02-E232A6C374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81EE815D-7725-85EA-6C1A-6EEE7D2193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335020-C166-57CA-0553-9E36DC997310}"/>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5" name="Footer Placeholder 4">
            <a:extLst>
              <a:ext uri="{FF2B5EF4-FFF2-40B4-BE49-F238E27FC236}">
                <a16:creationId xmlns:a16="http://schemas.microsoft.com/office/drawing/2014/main" id="{0481BAA9-6925-3AAA-6591-B4F1ABC8691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0EC0C9D-084C-664E-6721-A41491384CE0}"/>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66293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1EB5-BBC2-C749-1664-E94506E26D4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44716C3-BDCD-9DD3-11AF-ADE98B7583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AB46D0A4-6545-1600-C207-651AB8588E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C6CE1CB-507F-23FC-4D99-FD9F2A505E4B}"/>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6" name="Footer Placeholder 5">
            <a:extLst>
              <a:ext uri="{FF2B5EF4-FFF2-40B4-BE49-F238E27FC236}">
                <a16:creationId xmlns:a16="http://schemas.microsoft.com/office/drawing/2014/main" id="{8D24E478-8C1F-5395-B719-3718DF7578F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EA6BDAB-44BD-9F9D-31B8-69232239147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3503670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7813-FE5F-15BC-130B-182B34175E3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637CBA8-995E-B2DA-6F05-8DD37312B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EF0B83-63E4-FA8F-82A4-8B4FF250FB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4A8F6A8A-EC19-AFFE-58FD-CA9535DAE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5B607C-F36E-5B8D-4C13-3373AD9A36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0647DADD-AAA5-8C56-ADE9-A66CC4D581F8}"/>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8" name="Footer Placeholder 7">
            <a:extLst>
              <a:ext uri="{FF2B5EF4-FFF2-40B4-BE49-F238E27FC236}">
                <a16:creationId xmlns:a16="http://schemas.microsoft.com/office/drawing/2014/main" id="{0BB244DF-3039-2A7F-058D-FE6A8A0251FF}"/>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9B385A5B-F342-A855-44BC-5CB90F1D4DE8}"/>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86289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BF89-22B0-7026-4F60-C86053FDDD4D}"/>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93F90011-9312-1856-2195-0E3A971F0F52}"/>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4" name="Footer Placeholder 3">
            <a:extLst>
              <a:ext uri="{FF2B5EF4-FFF2-40B4-BE49-F238E27FC236}">
                <a16:creationId xmlns:a16="http://schemas.microsoft.com/office/drawing/2014/main" id="{8DEE9B62-CE08-7821-19A8-087EED0227C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F324015D-3BE4-C01D-9A17-B154201C7B8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72664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419AD7-4D91-D598-28B2-9E222A998CB8}"/>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3" name="Footer Placeholder 2">
            <a:extLst>
              <a:ext uri="{FF2B5EF4-FFF2-40B4-BE49-F238E27FC236}">
                <a16:creationId xmlns:a16="http://schemas.microsoft.com/office/drawing/2014/main" id="{55958DB2-C355-8F80-EA70-087B032A9A9F}"/>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1076559-9A4B-6BDC-2DE4-C56A5E435E1E}"/>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805657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359F-7FEE-0A4A-70C8-39AF1BDF9B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DE1B20BB-2A70-3781-3645-7270A72B9F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2C78808A-DAD4-A1EE-0909-FBE0068CA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B674FD-1A7A-56F4-9601-D72114486E98}"/>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6" name="Footer Placeholder 5">
            <a:extLst>
              <a:ext uri="{FF2B5EF4-FFF2-40B4-BE49-F238E27FC236}">
                <a16:creationId xmlns:a16="http://schemas.microsoft.com/office/drawing/2014/main" id="{0304FCF3-5A00-F4BE-B672-2A5CB2DCB5D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896A373-3A5E-1EC9-489A-14689736A7A3}"/>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92185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8CCC-23D6-779D-DA14-8B2434B4CC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BF60902C-D5A7-285B-E1C1-52F18F4FF8E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85FC43B-3015-5D14-7762-2A99A3B01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D79C6-2C28-30D2-5A71-30C0257947F7}"/>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6" name="Footer Placeholder 5">
            <a:extLst>
              <a:ext uri="{FF2B5EF4-FFF2-40B4-BE49-F238E27FC236}">
                <a16:creationId xmlns:a16="http://schemas.microsoft.com/office/drawing/2014/main" id="{F8A0F51A-E2EF-1AE9-DAF8-7985CF267F7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6C9CF0D-4E3E-E536-1915-E3E8B8FAA54D}"/>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2637929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E27FC-55F9-91F8-D26A-0AE9A0EA138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B241B00-576F-313B-20EB-688FA5B801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C38A2DF-BC72-6EA5-0E0B-F05BDA9F8FD7}"/>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5" name="Footer Placeholder 4">
            <a:extLst>
              <a:ext uri="{FF2B5EF4-FFF2-40B4-BE49-F238E27FC236}">
                <a16:creationId xmlns:a16="http://schemas.microsoft.com/office/drawing/2014/main" id="{BB58DAAC-CE02-C2F6-4BAE-45BAD0A202B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17EC510-A917-B3AB-18F2-28E817F5352E}"/>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440722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95BA6A-E4CA-A29B-6870-EC2BDB8694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183D603-BDEF-012F-038D-F5F82364BD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21ACC08-367F-EFFE-B82D-5B4410D37B63}"/>
              </a:ext>
            </a:extLst>
          </p:cNvPr>
          <p:cNvSpPr>
            <a:spLocks noGrp="1"/>
          </p:cNvSpPr>
          <p:nvPr>
            <p:ph type="dt" sz="half" idx="10"/>
          </p:nvPr>
        </p:nvSpPr>
        <p:spPr/>
        <p:txBody>
          <a:bodyPr/>
          <a:lstStyle/>
          <a:p>
            <a:fld id="{D7C69017-6698-2F4E-A342-121607A55FC2}" type="datetimeFigureOut">
              <a:rPr lang="en-IL" smtClean="0"/>
              <a:t>07/10/2026</a:t>
            </a:fld>
            <a:endParaRPr lang="en-IL"/>
          </a:p>
        </p:txBody>
      </p:sp>
      <p:sp>
        <p:nvSpPr>
          <p:cNvPr id="5" name="Footer Placeholder 4">
            <a:extLst>
              <a:ext uri="{FF2B5EF4-FFF2-40B4-BE49-F238E27FC236}">
                <a16:creationId xmlns:a16="http://schemas.microsoft.com/office/drawing/2014/main" id="{7E9F29F4-8645-EBBC-56D5-0C0E4565C39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70E63EC-A59A-17ED-CFAA-5A76D84C277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213381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32AECD-C005-B953-E4AE-1B9D012E5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6DBD8E3-223C-42F8-5FD4-FB9AF7E6E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72658E-47DA-3901-2225-2BBAA2490F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C69017-6698-2F4E-A342-121607A55FC2}" type="datetimeFigureOut">
              <a:rPr lang="en-IL" smtClean="0"/>
              <a:t>07/10/2026</a:t>
            </a:fld>
            <a:endParaRPr lang="en-IL"/>
          </a:p>
        </p:txBody>
      </p:sp>
      <p:sp>
        <p:nvSpPr>
          <p:cNvPr id="5" name="Footer Placeholder 4">
            <a:extLst>
              <a:ext uri="{FF2B5EF4-FFF2-40B4-BE49-F238E27FC236}">
                <a16:creationId xmlns:a16="http://schemas.microsoft.com/office/drawing/2014/main" id="{A1A7DC4B-4E7B-B81F-8D38-0F87D1F5B9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4C4A0399-6B7C-4EB4-4EB9-6C254678DC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B710CD-0E8A-4140-B64A-B5B51F513AA7}" type="slidenum">
              <a:rPr lang="en-IL" smtClean="0"/>
              <a:t>‹#›</a:t>
            </a:fld>
            <a:endParaRPr lang="en-IL"/>
          </a:p>
        </p:txBody>
      </p:sp>
    </p:spTree>
    <p:extLst>
      <p:ext uri="{BB962C8B-B14F-4D97-AF65-F5344CB8AC3E}">
        <p14:creationId xmlns:p14="http://schemas.microsoft.com/office/powerpoint/2010/main" val="2913050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4" name="Shape_91">
            <a:extLst>
              <a:ext uri="{FF2B5EF4-FFF2-40B4-BE49-F238E27FC236}">
                <a16:creationId xmlns:a16="http://schemas.microsoft.com/office/drawing/2014/main" id="{9D88467D-7D29-67B0-E0F3-005508115680}"/>
              </a:ext>
            </a:extLst>
          </p:cNvPr>
          <p:cNvSpPr/>
          <p:nvPr/>
        </p:nvSpPr>
        <p:spPr>
          <a:xfrm>
            <a:off x="12065000" y="0"/>
            <a:ext cx="127000" cy="68580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TextBox 4">
            <a:extLst>
              <a:ext uri="{FF2B5EF4-FFF2-40B4-BE49-F238E27FC236}">
                <a16:creationId xmlns:a16="http://schemas.microsoft.com/office/drawing/2014/main" id="{AB6888FC-A64D-7F75-09C0-3B70634F744E}"/>
              </a:ext>
            </a:extLst>
          </p:cNvPr>
          <p:cNvSpPr txBox="1"/>
          <p:nvPr/>
        </p:nvSpPr>
        <p:spPr>
          <a:xfrm>
            <a:off x="5207000" y="869310"/>
            <a:ext cx="6032500" cy="764312"/>
          </a:xfrm>
          <a:prstGeom prst="rect">
            <a:avLst/>
          </a:prstGeom>
          <a:noFill/>
        </p:spPr>
        <p:txBody>
          <a:bodyPr vert="horz" wrap="square" lIns="38100" tIns="12700" rIns="38100" bIns="12700" rtlCol="0" anchor="ctr">
            <a:spAutoFit/>
          </a:bodyPr>
          <a:lstStyle/>
          <a:p>
            <a:pPr algn="ctr"/>
            <a:r>
              <a:rPr lang="en-US" sz="4800" b="1">
                <a:solidFill>
                  <a:srgbClr val="FFFFFF"/>
                </a:solidFill>
                <a:latin typeface="Arial" panose="020B0604020202020204" pitchFamily="34" charset="0"/>
                <a:sym typeface="David" panose="020E0502060401010101" pitchFamily="34" charset="-79"/>
              </a:rPr>
              <a:t>DiffIntent-RTL</a:t>
            </a:r>
            <a:endParaRPr lang="en-IL" sz="4800" b="1">
              <a:solidFill>
                <a:srgbClr val="FFFFFF"/>
              </a:solidFill>
              <a:latin typeface="Arial" panose="020B0604020202020204" pitchFamily="34" charset="0"/>
              <a:sym typeface="David" panose="020E0502060401010101" pitchFamily="34" charset="-79"/>
            </a:endParaRPr>
          </a:p>
        </p:txBody>
      </p:sp>
      <p:sp>
        <p:nvSpPr>
          <p:cNvPr id="6" name="TextBox 5">
            <a:extLst>
              <a:ext uri="{FF2B5EF4-FFF2-40B4-BE49-F238E27FC236}">
                <a16:creationId xmlns:a16="http://schemas.microsoft.com/office/drawing/2014/main" id="{8B764B15-C48B-043A-ED8E-2BE40407ABA5}"/>
              </a:ext>
            </a:extLst>
          </p:cNvPr>
          <p:cNvSpPr txBox="1"/>
          <p:nvPr/>
        </p:nvSpPr>
        <p:spPr>
          <a:xfrm>
            <a:off x="5207000" y="1894577"/>
            <a:ext cx="6032500" cy="948978"/>
          </a:xfrm>
          <a:prstGeom prst="rect">
            <a:avLst/>
          </a:prstGeom>
          <a:noFill/>
        </p:spPr>
        <p:txBody>
          <a:bodyPr vert="horz" wrap="square" lIns="38100" tIns="12700" rIns="38100" bIns="12700" rtlCol="0" anchor="ctr">
            <a:spAutoFit/>
          </a:bodyPr>
          <a:lstStyle/>
          <a:p>
            <a:pPr algn="ctr" rtl="1"/>
            <a:r>
              <a:rPr lang="he-IL" sz="3000" b="1">
                <a:solidFill>
                  <a:srgbClr val="DDE7F3"/>
                </a:solidFill>
                <a:latin typeface="Arial" panose="020B0604020202020204" pitchFamily="34" charset="0"/>
                <a:sym typeface="David" panose="020E0502060401010101" pitchFamily="34" charset="-79"/>
              </a:rPr>
              <a:t>זיהוי מטרת שינוי וחוסרים פונקציונליים בקוד</a:t>
            </a:r>
            <a:endParaRPr lang="en-IL" sz="3000" b="1">
              <a:solidFill>
                <a:srgbClr val="DDE7F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F0EEB288-D213-FEEF-28E0-059C81D2A371}"/>
              </a:ext>
            </a:extLst>
          </p:cNvPr>
          <p:cNvSpPr txBox="1"/>
          <p:nvPr/>
        </p:nvSpPr>
        <p:spPr>
          <a:xfrm>
            <a:off x="9144000" y="3098304"/>
            <a:ext cx="2095500" cy="471924"/>
          </a:xfrm>
          <a:prstGeom prst="rect">
            <a:avLst/>
          </a:prstGeom>
          <a:noFill/>
        </p:spPr>
        <p:txBody>
          <a:bodyPr vert="horz" wrap="square" lIns="38100" tIns="12700" rIns="38100" bIns="12700" rtlCol="0" anchor="ctr">
            <a:spAutoFit/>
          </a:bodyPr>
          <a:lstStyle/>
          <a:p>
            <a:pPr algn="ctr"/>
            <a:r>
              <a:rPr lang="en-US" sz="2900" b="1">
                <a:solidFill>
                  <a:srgbClr val="F59E0B"/>
                </a:solidFill>
                <a:latin typeface="Arial" panose="020B0604020202020204" pitchFamily="34" charset="0"/>
                <a:sym typeface="David" panose="020E0502060401010101" pitchFamily="34" charset="-79"/>
              </a:rPr>
              <a:t>RTL</a:t>
            </a:r>
            <a:endParaRPr lang="en-IL" sz="2900" b="1">
              <a:solidFill>
                <a:srgbClr val="F59E0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86529809-4D5A-3512-BA0F-299A4B8D39F9}"/>
              </a:ext>
            </a:extLst>
          </p:cNvPr>
          <p:cNvCxnSpPr/>
          <p:nvPr/>
        </p:nvCxnSpPr>
        <p:spPr>
          <a:xfrm>
            <a:off x="825500" y="3987800"/>
            <a:ext cx="10414000" cy="0"/>
          </a:xfrm>
          <a:prstGeom prst="line">
            <a:avLst/>
          </a:prstGeom>
          <a:ln w="19050">
            <a:solidFill>
              <a:srgbClr val="405B7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5F23FBF-B836-5364-42FC-504A48235DE6}"/>
              </a:ext>
            </a:extLst>
          </p:cNvPr>
          <p:cNvSpPr txBox="1"/>
          <p:nvPr/>
        </p:nvSpPr>
        <p:spPr>
          <a:xfrm>
            <a:off x="5207000" y="4348653"/>
            <a:ext cx="6032500" cy="333425"/>
          </a:xfrm>
          <a:prstGeom prst="rect">
            <a:avLst/>
          </a:prstGeom>
          <a:noFill/>
        </p:spPr>
        <p:txBody>
          <a:bodyPr vert="horz" wrap="square" lIns="38100" tIns="12700" rIns="38100" bIns="12700" rtlCol="0" anchor="ctr">
            <a:spAutoFit/>
          </a:bodyPr>
          <a:lstStyle/>
          <a:p>
            <a:pPr algn="ctr" rtl="1"/>
            <a:r>
              <a:rPr lang="he-IL" sz="2000">
                <a:solidFill>
                  <a:srgbClr val="FFFFFF"/>
                </a:solidFill>
                <a:latin typeface="Arial" panose="020B0604020202020204" pitchFamily="34" charset="0"/>
                <a:sym typeface="David" panose="020E0502060401010101" pitchFamily="34" charset="-79"/>
              </a:rPr>
              <a:t>קורן הנס ונועה סבג</a:t>
            </a:r>
            <a:endParaRPr lang="en-IL" sz="2000">
              <a:solidFill>
                <a:srgbClr val="FFFFFF"/>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7764A7FC-AD95-847F-685F-DA764868A4FD}"/>
              </a:ext>
            </a:extLst>
          </p:cNvPr>
          <p:cNvSpPr txBox="1"/>
          <p:nvPr/>
        </p:nvSpPr>
        <p:spPr>
          <a:xfrm>
            <a:off x="825500" y="4384436"/>
            <a:ext cx="4445000" cy="287258"/>
          </a:xfrm>
          <a:prstGeom prst="rect">
            <a:avLst/>
          </a:prstGeom>
          <a:noFill/>
        </p:spPr>
        <p:txBody>
          <a:bodyPr vert="horz" wrap="square" lIns="38100" tIns="12700" rIns="38100" bIns="12700" rtlCol="0" anchor="ctr">
            <a:spAutoFit/>
          </a:bodyPr>
          <a:lstStyle/>
          <a:p>
            <a:pPr algn="ctr"/>
            <a:r>
              <a:rPr lang="en-US" sz="1700">
                <a:solidFill>
                  <a:srgbClr val="AAC1DB"/>
                </a:solidFill>
                <a:latin typeface="Arial" panose="020B0604020202020204" pitchFamily="34" charset="0"/>
                <a:sym typeface="David" panose="020E0502060401010101" pitchFamily="34" charset="-79"/>
              </a:rPr>
              <a:t>Deep Learning Project</a:t>
            </a:r>
            <a:endParaRPr lang="en-IL" sz="1700">
              <a:solidFill>
                <a:srgbClr val="AAC1DB"/>
              </a:solidFill>
              <a:latin typeface="Arial" panose="020B0604020202020204" pitchFamily="34" charset="0"/>
              <a:sym typeface="David" panose="020E0502060401010101" pitchFamily="34" charset="-79"/>
            </a:endParaRPr>
          </a:p>
        </p:txBody>
      </p:sp>
      <p:sp>
        <p:nvSpPr>
          <p:cNvPr id="11" name="TextBox 10">
            <a:extLst>
              <a:ext uri="{FF2B5EF4-FFF2-40B4-BE49-F238E27FC236}">
                <a16:creationId xmlns:a16="http://schemas.microsoft.com/office/drawing/2014/main" id="{E704DEA0-ED49-C3ED-A5E4-634FCE6F9440}"/>
              </a:ext>
            </a:extLst>
          </p:cNvPr>
          <p:cNvSpPr txBox="1"/>
          <p:nvPr/>
        </p:nvSpPr>
        <p:spPr>
          <a:xfrm>
            <a:off x="825500" y="5741019"/>
            <a:ext cx="16510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15 min</a:t>
            </a:r>
            <a:endParaRPr lang="en-IL" sz="1400" b="1">
              <a:solidFill>
                <a:srgbClr val="F59E0B"/>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A90CB9AE-0DB0-2B8E-60FA-E0E032549F78}"/>
              </a:ext>
            </a:extLst>
          </p:cNvPr>
          <p:cNvSpPr txBox="1"/>
          <p:nvPr/>
        </p:nvSpPr>
        <p:spPr>
          <a:xfrm>
            <a:off x="825500" y="6150108"/>
            <a:ext cx="3302000" cy="210314"/>
          </a:xfrm>
          <a:prstGeom prst="rect">
            <a:avLst/>
          </a:prstGeom>
          <a:noFill/>
        </p:spPr>
        <p:txBody>
          <a:bodyPr vert="horz" wrap="square" lIns="38100" tIns="12700" rIns="38100" bIns="12700" rtlCol="0" anchor="ctr">
            <a:spAutoFit/>
          </a:bodyPr>
          <a:lstStyle/>
          <a:p>
            <a:pPr algn="ctr"/>
            <a:r>
              <a:rPr lang="en-US" sz="1200">
                <a:solidFill>
                  <a:srgbClr val="AAC1DB"/>
                </a:solidFill>
                <a:latin typeface="Arial" panose="020B0604020202020204" pitchFamily="34" charset="0"/>
                <a:sym typeface="David" panose="020E0502060401010101" pitchFamily="34" charset="-79"/>
              </a:rPr>
              <a:t>Final Presentation</a:t>
            </a:r>
            <a:endParaRPr lang="en-IL" sz="1200">
              <a:solidFill>
                <a:srgbClr val="AAC1D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353285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92">
            <a:extLst>
              <a:ext uri="{FF2B5EF4-FFF2-40B4-BE49-F238E27FC236}">
                <a16:creationId xmlns:a16="http://schemas.microsoft.com/office/drawing/2014/main" id="{F136BD7B-E2C0-D261-A6DC-666BB3D7B97F}"/>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93">
            <a:extLst>
              <a:ext uri="{FF2B5EF4-FFF2-40B4-BE49-F238E27FC236}">
                <a16:creationId xmlns:a16="http://schemas.microsoft.com/office/drawing/2014/main" id="{3B8D3389-6EFE-F5D7-0ACA-9793451A762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B10DB0E6-9DB5-0768-3065-0ECDA51D408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חוסר גדול מסתתר בשינוי קטן</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DD800E22-8C6C-7307-F378-76C5C13E6A6B}"/>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D5EFBAB2-A2AF-DC84-362C-87A0EFD00297}"/>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947B5A0-BC1E-28C1-6886-6594E06DC30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02 / 14</a:t>
            </a:r>
          </a:p>
        </p:txBody>
      </p:sp>
      <p:sp>
        <p:nvSpPr>
          <p:cNvPr id="10" name="Shape_94">
            <a:extLst>
              <a:ext uri="{FF2B5EF4-FFF2-40B4-BE49-F238E27FC236}">
                <a16:creationId xmlns:a16="http://schemas.microsoft.com/office/drawing/2014/main" id="{0A1BA6F4-1BFA-A525-6380-EFE6E58B4922}"/>
              </a:ext>
            </a:extLst>
          </p:cNvPr>
          <p:cNvSpPr/>
          <p:nvPr/>
        </p:nvSpPr>
        <p:spPr>
          <a:xfrm>
            <a:off x="609600" y="1333500"/>
            <a:ext cx="6413500" cy="4191000"/>
          </a:xfrm>
          <a:prstGeom prst="rect">
            <a:avLst/>
          </a:prstGeom>
          <a:solidFill>
            <a:srgbClr val="0B1F33"/>
          </a:solidFill>
          <a:ln w="0" cap="flat" cmpd="sng" algn="ctr">
            <a:solidFill>
              <a:srgbClr val="0B1F33">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C277A9F9-5D80-8B3E-8D7B-74D439232B0B}"/>
              </a:ext>
            </a:extLst>
          </p:cNvPr>
          <p:cNvSpPr txBox="1"/>
          <p:nvPr/>
        </p:nvSpPr>
        <p:spPr>
          <a:xfrm>
            <a:off x="914400" y="1676400"/>
            <a:ext cx="5778500" cy="2031325"/>
          </a:xfrm>
          <a:prstGeom prst="rect">
            <a:avLst/>
          </a:prstGeom>
          <a:noFill/>
        </p:spPr>
        <p:txBody>
          <a:bodyPr vert="horz" wrap="square" lIns="38100" tIns="12700" rIns="38100" bIns="12700" rtlCol="0" anchor="ctr">
            <a:spAutoFit/>
          </a:bodyPr>
          <a:lstStyle/>
          <a:p>
            <a:r>
              <a:rPr lang="en-US">
                <a:solidFill>
                  <a:srgbClr val="DDE7F3"/>
                </a:solidFill>
                <a:latin typeface="Menlo" panose="020B0609030804020204" pitchFamily="49" charset="0"/>
                <a:sym typeface="Menlo" panose="020B0609030804020204" pitchFamily="49" charset="0"/>
              </a:rPr>
              <a:t>@@ always_ff @(posedge clk_i) @@
- if (!rst_ni) state_q &lt;= IDLE;
+ if (!rst_ni) state_q &lt;= IDLE;
+ else if (req_i) begin
+   state_q &lt;= BUSY;
+   valid_o &lt;= 1'b1;
+ end</a:t>
            </a:r>
            <a:endParaRPr lang="en-IL">
              <a:solidFill>
                <a:srgbClr val="DDE7F3"/>
              </a:solidFill>
              <a:latin typeface="Menlo" panose="020B0609030804020204" pitchFamily="49" charset="0"/>
              <a:sym typeface="Menlo" panose="020B0609030804020204" pitchFamily="49" charset="0"/>
            </a:endParaRPr>
          </a:p>
        </p:txBody>
      </p:sp>
      <p:sp>
        <p:nvSpPr>
          <p:cNvPr id="12" name="Shape_95">
            <a:extLst>
              <a:ext uri="{FF2B5EF4-FFF2-40B4-BE49-F238E27FC236}">
                <a16:creationId xmlns:a16="http://schemas.microsoft.com/office/drawing/2014/main" id="{D8B0242E-E8BA-7E19-7A0A-778F79FE520D}"/>
              </a:ext>
            </a:extLst>
          </p:cNvPr>
          <p:cNvSpPr/>
          <p:nvPr/>
        </p:nvSpPr>
        <p:spPr>
          <a:xfrm>
            <a:off x="914400" y="4749800"/>
            <a:ext cx="5778500" cy="457200"/>
          </a:xfrm>
          <a:prstGeom prst="rect">
            <a:avLst/>
          </a:prstGeom>
          <a:solidFill>
            <a:srgbClr val="23364A"/>
          </a:solidFill>
          <a:ln w="0" cap="flat" cmpd="sng" algn="ctr">
            <a:solidFill>
              <a:srgbClr val="23364A">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Box 12">
            <a:extLst>
              <a:ext uri="{FF2B5EF4-FFF2-40B4-BE49-F238E27FC236}">
                <a16:creationId xmlns:a16="http://schemas.microsoft.com/office/drawing/2014/main" id="{411F7BF8-D6A9-4721-5547-816F89A02236}"/>
              </a:ext>
            </a:extLst>
          </p:cNvPr>
          <p:cNvSpPr txBox="1"/>
          <p:nvPr/>
        </p:nvSpPr>
        <p:spPr>
          <a:xfrm>
            <a:off x="1079500" y="4869725"/>
            <a:ext cx="5461000" cy="256480"/>
          </a:xfrm>
          <a:prstGeom prst="rect">
            <a:avLst/>
          </a:prstGeom>
          <a:noFill/>
        </p:spPr>
        <p:txBody>
          <a:bodyPr vert="horz" wrap="square" lIns="38100" tIns="12700" rIns="38100" bIns="12700" rtlCol="0" anchor="ctr">
            <a:spAutoFit/>
          </a:bodyPr>
          <a:lstStyle/>
          <a:p>
            <a:pPr algn="ctr"/>
            <a:r>
              <a:rPr lang="en-US" sz="1500" b="1">
                <a:solidFill>
                  <a:srgbClr val="F59E0B"/>
                </a:solidFill>
                <a:latin typeface="Arial" panose="020B0604020202020204" pitchFamily="34" charset="0"/>
                <a:sym typeface="David" panose="020E0502060401010101" pitchFamily="34" charset="-79"/>
              </a:rPr>
              <a:t>What if the final assignment is missing?</a:t>
            </a:r>
            <a:endParaRPr lang="en-IL" sz="1500" b="1">
              <a:solidFill>
                <a:srgbClr val="F59E0B"/>
              </a:solidFill>
              <a:latin typeface="Arial" panose="020B0604020202020204" pitchFamily="34" charset="0"/>
              <a:sym typeface="David" panose="020E0502060401010101" pitchFamily="34" charset="-79"/>
            </a:endParaRPr>
          </a:p>
        </p:txBody>
      </p:sp>
      <p:sp>
        <p:nvSpPr>
          <p:cNvPr id="14" name="TextBox 13">
            <a:extLst>
              <a:ext uri="{FF2B5EF4-FFF2-40B4-BE49-F238E27FC236}">
                <a16:creationId xmlns:a16="http://schemas.microsoft.com/office/drawing/2014/main" id="{ED660430-BDC8-0A8E-AC47-9865B0FFC9DE}"/>
              </a:ext>
            </a:extLst>
          </p:cNvPr>
          <p:cNvSpPr txBox="1"/>
          <p:nvPr/>
        </p:nvSpPr>
        <p:spPr>
          <a:xfrm>
            <a:off x="7429500" y="1428110"/>
            <a:ext cx="4064000" cy="764312"/>
          </a:xfrm>
          <a:prstGeom prst="rect">
            <a:avLst/>
          </a:prstGeom>
          <a:noFill/>
        </p:spPr>
        <p:txBody>
          <a:bodyPr vert="horz" wrap="square" lIns="38100" tIns="12700" rIns="38100" bIns="12700" rtlCol="0" anchor="ctr">
            <a:spAutoFit/>
          </a:bodyPr>
          <a:lstStyle/>
          <a:p>
            <a:pPr algn="ctr" rtl="1"/>
            <a:r>
              <a:rPr lang="he-IL" sz="2400" b="1">
                <a:solidFill>
                  <a:srgbClr val="0B1F33"/>
                </a:solidFill>
                <a:latin typeface="Arial" panose="020B0604020202020204" pitchFamily="34" charset="0"/>
                <a:sym typeface="David" panose="020E0502060401010101" pitchFamily="34" charset="-79"/>
              </a:rPr>
              <a:t>השינוי עדיין יכול להיות תקין תחבירית</a:t>
            </a:r>
            <a:endParaRPr lang="en-IL" sz="2400" b="1">
              <a:solidFill>
                <a:srgbClr val="0B1F33"/>
              </a:solidFill>
              <a:latin typeface="Arial" panose="020B0604020202020204" pitchFamily="34" charset="0"/>
              <a:sym typeface="David" panose="020E0502060401010101" pitchFamily="34" charset="-79"/>
            </a:endParaRPr>
          </a:p>
        </p:txBody>
      </p:sp>
      <p:sp>
        <p:nvSpPr>
          <p:cNvPr id="15" name="TextBox 14">
            <a:extLst>
              <a:ext uri="{FF2B5EF4-FFF2-40B4-BE49-F238E27FC236}">
                <a16:creationId xmlns:a16="http://schemas.microsoft.com/office/drawing/2014/main" id="{5E12BD97-FCEC-570C-2E48-854FF13373CD}"/>
              </a:ext>
            </a:extLst>
          </p:cNvPr>
          <p:cNvSpPr txBox="1"/>
          <p:nvPr/>
        </p:nvSpPr>
        <p:spPr>
          <a:xfrm>
            <a:off x="7429500" y="2141999"/>
            <a:ext cx="4064000" cy="733534"/>
          </a:xfrm>
          <a:prstGeom prst="rect">
            <a:avLst/>
          </a:prstGeom>
          <a:noFill/>
        </p:spPr>
        <p:txBody>
          <a:bodyPr vert="horz" wrap="square" lIns="38100" tIns="12700" rIns="38100" bIns="12700" rtlCol="0" anchor="ctr">
            <a:spAutoFit/>
          </a:bodyPr>
          <a:lstStyle/>
          <a:p>
            <a:pPr algn="ctr" rtl="1"/>
            <a:r>
              <a:rPr lang="he-IL" sz="2300" b="1">
                <a:solidFill>
                  <a:srgbClr val="DC4C64"/>
                </a:solidFill>
                <a:latin typeface="Arial" panose="020B0604020202020204" pitchFamily="34" charset="0"/>
                <a:sym typeface="David" panose="020E0502060401010101" pitchFamily="34" charset="-79"/>
              </a:rPr>
              <a:t>אבל ההתנהגות הרצויה אינה שלמה</a:t>
            </a:r>
            <a:endParaRPr lang="en-IL" sz="2300" b="1">
              <a:solidFill>
                <a:srgbClr val="DC4C64"/>
              </a:solidFill>
              <a:latin typeface="Arial" panose="020B0604020202020204" pitchFamily="34" charset="0"/>
              <a:sym typeface="David" panose="020E0502060401010101" pitchFamily="34" charset="-79"/>
            </a:endParaRPr>
          </a:p>
        </p:txBody>
      </p:sp>
      <p:cxnSp>
        <p:nvCxnSpPr>
          <p:cNvPr id="16" name="Straight Connector 15">
            <a:extLst>
              <a:ext uri="{FF2B5EF4-FFF2-40B4-BE49-F238E27FC236}">
                <a16:creationId xmlns:a16="http://schemas.microsoft.com/office/drawing/2014/main" id="{F0DC2772-F505-371C-752A-0AC707DED017}"/>
              </a:ext>
            </a:extLst>
          </p:cNvPr>
          <p:cNvCxnSpPr/>
          <p:nvPr/>
        </p:nvCxnSpPr>
        <p:spPr>
          <a:xfrm>
            <a:off x="7366000" y="3175000"/>
            <a:ext cx="41275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9E5D3EC-7C7A-2449-100A-AFA7AE94B7CF}"/>
              </a:ext>
            </a:extLst>
          </p:cNvPr>
          <p:cNvSpPr txBox="1"/>
          <p:nvPr/>
        </p:nvSpPr>
        <p:spPr>
          <a:xfrm>
            <a:off x="7429500" y="3454275"/>
            <a:ext cx="4064000" cy="948978"/>
          </a:xfrm>
          <a:prstGeom prst="rect">
            <a:avLst/>
          </a:prstGeom>
          <a:noFill/>
        </p:spPr>
        <p:txBody>
          <a:bodyPr vert="horz" wrap="square" lIns="38100" tIns="12700" rIns="38100" bIns="12700" rtlCol="0" anchor="ctr">
            <a:spAutoFit/>
          </a:bodyPr>
          <a:lstStyle/>
          <a:p>
            <a:pPr algn="ctr" rtl="1"/>
            <a:r>
              <a:rPr lang="he-IL" sz="2000">
                <a:solidFill>
                  <a:srgbClr val="475467"/>
                </a:solidFill>
                <a:latin typeface="Arial" panose="020B0604020202020204" pitchFamily="34" charset="0"/>
                <a:sym typeface="David" panose="020E0502060401010101" pitchFamily="34" charset="-79"/>
              </a:rPr>
              <a:t>מפתח אנושי קורא הקשר, מבנה והבדלים בין שורות. המודל חייב לקבל את אותם רמזים.</a:t>
            </a:r>
            <a:endParaRPr lang="en-IL" sz="2000">
              <a:solidFill>
                <a:srgbClr val="475467"/>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AC093806-3809-726A-E91F-ABABA90DDD33}"/>
              </a:ext>
            </a:extLst>
          </p:cNvPr>
          <p:cNvSpPr txBox="1"/>
          <p:nvPr/>
        </p:nvSpPr>
        <p:spPr>
          <a:xfrm>
            <a:off x="7429500" y="4999042"/>
            <a:ext cx="4064000" cy="856645"/>
          </a:xfrm>
          <a:prstGeom prst="rect">
            <a:avLst/>
          </a:prstGeom>
          <a:noFill/>
        </p:spPr>
        <p:txBody>
          <a:bodyPr vert="horz" wrap="square" lIns="38100" tIns="12700" rIns="38100" bIns="12700" rtlCol="0" anchor="ctr">
            <a:spAutoFit/>
          </a:bodyPr>
          <a:lstStyle/>
          <a:p>
            <a:pPr algn="ctr" rtl="1"/>
            <a:r>
              <a:rPr lang="he-IL" b="1">
                <a:solidFill>
                  <a:srgbClr val="1F6FEB"/>
                </a:solidFill>
                <a:latin typeface="Arial" panose="020B0604020202020204" pitchFamily="34" charset="0"/>
                <a:sym typeface="David" panose="020E0502060401010101" pitchFamily="34" charset="-79"/>
              </a:rPr>
              <a:t>מפתח אנושי בתהליך </a:t>
            </a:r>
            <a:r>
              <a:rPr lang="en-US" b="1">
                <a:solidFill>
                  <a:srgbClr val="1F6FEB"/>
                </a:solidFill>
                <a:latin typeface="Arial" panose="020B0604020202020204" pitchFamily="34" charset="0"/>
                <a:sym typeface="David" panose="020E0502060401010101" pitchFamily="34" charset="-79"/>
              </a:rPr>
              <a:t>⁦Code Review⁩ </a:t>
            </a:r>
            <a:r>
              <a:rPr lang="he-IL" b="1">
                <a:solidFill>
                  <a:srgbClr val="1F6FEB"/>
                </a:solidFill>
                <a:latin typeface="Arial" panose="020B0604020202020204" pitchFamily="34" charset="0"/>
                <a:sym typeface="David" panose="020E0502060401010101" pitchFamily="34" charset="-79"/>
              </a:rPr>
              <a:t>קורא יחד את ההקשר, המבנה וההבדל בין השורות.</a:t>
            </a:r>
            <a:endParaRPr lang="en-IL" b="1">
              <a:solidFill>
                <a:srgbClr val="1F6FE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89639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96">
            <a:extLst>
              <a:ext uri="{FF2B5EF4-FFF2-40B4-BE49-F238E27FC236}">
                <a16:creationId xmlns:a16="http://schemas.microsoft.com/office/drawing/2014/main" id="{5810E788-E835-32F6-6FC2-54A1A8F209EE}"/>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97">
            <a:extLst>
              <a:ext uri="{FF2B5EF4-FFF2-40B4-BE49-F238E27FC236}">
                <a16:creationId xmlns:a16="http://schemas.microsoft.com/office/drawing/2014/main" id="{7846DEF1-56F3-310D-FA83-88223531335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89692C4E-A60B-AA33-DB9C-CAB606C443B8}"/>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שתי שאלות מחקר, אובייקט למידה אחד</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906F9D7B-A55A-3313-921E-7028B08E3184}"/>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6037051D-CA31-22DB-05A9-B84E746661E3}"/>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E4CE133-D35C-26DA-E7BB-11188AE3B540}"/>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03 / 14</a:t>
            </a:r>
          </a:p>
        </p:txBody>
      </p:sp>
      <p:sp>
        <p:nvSpPr>
          <p:cNvPr id="10" name="Shape_98">
            <a:extLst>
              <a:ext uri="{FF2B5EF4-FFF2-40B4-BE49-F238E27FC236}">
                <a16:creationId xmlns:a16="http://schemas.microsoft.com/office/drawing/2014/main" id="{B3D98B46-7BE5-AB97-9D4A-012C355EB3CA}"/>
              </a:ext>
            </a:extLst>
          </p:cNvPr>
          <p:cNvSpPr/>
          <p:nvPr/>
        </p:nvSpPr>
        <p:spPr>
          <a:xfrm>
            <a:off x="6350000" y="1498600"/>
            <a:ext cx="5143500" cy="2616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BD05EBEE-F01E-51C1-D8B9-3F818D367D0A}"/>
              </a:ext>
            </a:extLst>
          </p:cNvPr>
          <p:cNvSpPr txBox="1"/>
          <p:nvPr/>
        </p:nvSpPr>
        <p:spPr>
          <a:xfrm>
            <a:off x="6794500" y="1680909"/>
            <a:ext cx="4254500" cy="487313"/>
          </a:xfrm>
          <a:prstGeom prst="rect">
            <a:avLst/>
          </a:prstGeom>
          <a:noFill/>
        </p:spPr>
        <p:txBody>
          <a:bodyPr vert="horz" wrap="square" lIns="38100" tIns="12700" rIns="38100" bIns="12700" rtlCol="0" anchor="ctr">
            <a:spAutoFit/>
          </a:bodyPr>
          <a:lstStyle/>
          <a:p>
            <a:pPr algn="ctr"/>
            <a:r>
              <a:rPr lang="en-US" sz="3000" b="1">
                <a:solidFill>
                  <a:srgbClr val="1F6FEB"/>
                </a:solidFill>
                <a:latin typeface="Arial" panose="020B0604020202020204" pitchFamily="34" charset="0"/>
                <a:sym typeface="David" panose="020E0502060401010101" pitchFamily="34" charset="-79"/>
              </a:rPr>
              <a:t>Intent</a:t>
            </a:r>
            <a:endParaRPr lang="en-IL" sz="3000" b="1">
              <a:solidFill>
                <a:srgbClr val="1F6FEB"/>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0E376A2E-3838-4633-A89F-94EC9574618D}"/>
              </a:ext>
            </a:extLst>
          </p:cNvPr>
          <p:cNvSpPr txBox="1"/>
          <p:nvPr/>
        </p:nvSpPr>
        <p:spPr>
          <a:xfrm>
            <a:off x="6794500" y="2529865"/>
            <a:ext cx="42545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איזו מטרה עומדת מאחורי השינוי?</a:t>
            </a:r>
            <a:endParaRPr lang="en-IL" sz="2200" b="1">
              <a:solidFill>
                <a:srgbClr val="0B1F33"/>
              </a:solidFill>
              <a:latin typeface="Arial" panose="020B0604020202020204" pitchFamily="34" charset="0"/>
              <a:sym typeface="David" panose="020E0502060401010101" pitchFamily="34" charset="-79"/>
            </a:endParaRPr>
          </a:p>
        </p:txBody>
      </p:sp>
      <p:sp>
        <p:nvSpPr>
          <p:cNvPr id="13" name="TextBox 12">
            <a:extLst>
              <a:ext uri="{FF2B5EF4-FFF2-40B4-BE49-F238E27FC236}">
                <a16:creationId xmlns:a16="http://schemas.microsoft.com/office/drawing/2014/main" id="{32C518E0-D1B8-51A3-EACB-B0A209AF4CA9}"/>
              </a:ext>
            </a:extLst>
          </p:cNvPr>
          <p:cNvSpPr txBox="1"/>
          <p:nvPr/>
        </p:nvSpPr>
        <p:spPr>
          <a:xfrm>
            <a:off x="9017000" y="3447325"/>
            <a:ext cx="2032000" cy="256480"/>
          </a:xfrm>
          <a:prstGeom prst="rect">
            <a:avLst/>
          </a:prstGeom>
          <a:noFill/>
        </p:spPr>
        <p:txBody>
          <a:bodyPr vert="horz" wrap="square" lIns="38100" tIns="12700" rIns="38100" bIns="12700" rtlCol="0" anchor="ctr">
            <a:spAutoFit/>
          </a:bodyPr>
          <a:lstStyle/>
          <a:p>
            <a:pPr algn="ctr"/>
            <a:r>
              <a:rPr lang="en-US" sz="1500">
                <a:solidFill>
                  <a:srgbClr val="475467"/>
                </a:solidFill>
                <a:latin typeface="Arial" panose="020B0604020202020204" pitchFamily="34" charset="0"/>
                <a:sym typeface="David" panose="020E0502060401010101" pitchFamily="34" charset="-79"/>
              </a:rPr>
              <a:t>4 classes</a:t>
            </a:r>
            <a:endParaRPr lang="en-IL" sz="1500">
              <a:solidFill>
                <a:srgbClr val="475467"/>
              </a:solidFill>
              <a:latin typeface="Arial" panose="020B0604020202020204" pitchFamily="34" charset="0"/>
              <a:sym typeface="David" panose="020E0502060401010101" pitchFamily="34" charset="-79"/>
            </a:endParaRPr>
          </a:p>
        </p:txBody>
      </p:sp>
      <p:sp>
        <p:nvSpPr>
          <p:cNvPr id="14" name="Shape_99">
            <a:extLst>
              <a:ext uri="{FF2B5EF4-FFF2-40B4-BE49-F238E27FC236}">
                <a16:creationId xmlns:a16="http://schemas.microsoft.com/office/drawing/2014/main" id="{2247E18C-D034-17EB-50A5-9FC326512894}"/>
              </a:ext>
            </a:extLst>
          </p:cNvPr>
          <p:cNvSpPr/>
          <p:nvPr/>
        </p:nvSpPr>
        <p:spPr>
          <a:xfrm>
            <a:off x="698500" y="1498600"/>
            <a:ext cx="5143500" cy="2616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Box 14">
            <a:extLst>
              <a:ext uri="{FF2B5EF4-FFF2-40B4-BE49-F238E27FC236}">
                <a16:creationId xmlns:a16="http://schemas.microsoft.com/office/drawing/2014/main" id="{B0AEA7F9-C767-5604-444F-96DDD535CEB9}"/>
              </a:ext>
            </a:extLst>
          </p:cNvPr>
          <p:cNvSpPr txBox="1"/>
          <p:nvPr/>
        </p:nvSpPr>
        <p:spPr>
          <a:xfrm>
            <a:off x="1143000" y="1680909"/>
            <a:ext cx="4254500" cy="487313"/>
          </a:xfrm>
          <a:prstGeom prst="rect">
            <a:avLst/>
          </a:prstGeom>
          <a:noFill/>
        </p:spPr>
        <p:txBody>
          <a:bodyPr vert="horz" wrap="square" lIns="38100" tIns="12700" rIns="38100" bIns="12700" rtlCol="0" anchor="ctr">
            <a:spAutoFit/>
          </a:bodyPr>
          <a:lstStyle/>
          <a:p>
            <a:pPr algn="ctr"/>
            <a:r>
              <a:rPr lang="en-US" sz="3000" b="1">
                <a:solidFill>
                  <a:srgbClr val="F59E0B"/>
                </a:solidFill>
                <a:latin typeface="Arial" panose="020B0604020202020204" pitchFamily="34" charset="0"/>
                <a:sym typeface="David" panose="020E0502060401010101" pitchFamily="34" charset="-79"/>
              </a:rPr>
              <a:t>Completeness</a:t>
            </a:r>
            <a:endParaRPr lang="en-IL" sz="3000" b="1">
              <a:solidFill>
                <a:srgbClr val="F59E0B"/>
              </a:solidFill>
              <a:latin typeface="Arial" panose="020B0604020202020204" pitchFamily="34" charset="0"/>
              <a:sym typeface="David" panose="020E0502060401010101" pitchFamily="34" charset="-79"/>
            </a:endParaRPr>
          </a:p>
        </p:txBody>
      </p:sp>
      <p:sp>
        <p:nvSpPr>
          <p:cNvPr id="16" name="TextBox 15">
            <a:extLst>
              <a:ext uri="{FF2B5EF4-FFF2-40B4-BE49-F238E27FC236}">
                <a16:creationId xmlns:a16="http://schemas.microsoft.com/office/drawing/2014/main" id="{0CC755F1-D516-FE68-A84C-ACD4203AC344}"/>
              </a:ext>
            </a:extLst>
          </p:cNvPr>
          <p:cNvSpPr txBox="1"/>
          <p:nvPr/>
        </p:nvSpPr>
        <p:spPr>
          <a:xfrm>
            <a:off x="1143000" y="2529865"/>
            <a:ext cx="42545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האם השינוי נראה שלם?</a:t>
            </a:r>
            <a:endParaRPr lang="en-IL" sz="2200" b="1">
              <a:solidFill>
                <a:srgbClr val="0B1F33"/>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FE1FB1B0-9440-4489-D0BC-3E619132DBFC}"/>
              </a:ext>
            </a:extLst>
          </p:cNvPr>
          <p:cNvSpPr txBox="1"/>
          <p:nvPr/>
        </p:nvSpPr>
        <p:spPr>
          <a:xfrm>
            <a:off x="3365500" y="3447325"/>
            <a:ext cx="2032000" cy="256480"/>
          </a:xfrm>
          <a:prstGeom prst="rect">
            <a:avLst/>
          </a:prstGeom>
          <a:noFill/>
        </p:spPr>
        <p:txBody>
          <a:bodyPr vert="horz" wrap="square" lIns="38100" tIns="12700" rIns="38100" bIns="12700" rtlCol="0" anchor="ctr">
            <a:spAutoFit/>
          </a:bodyPr>
          <a:lstStyle/>
          <a:p>
            <a:pPr algn="ctr"/>
            <a:r>
              <a:rPr lang="en-US" sz="1500">
                <a:solidFill>
                  <a:srgbClr val="475467"/>
                </a:solidFill>
                <a:latin typeface="Arial" panose="020B0604020202020204" pitchFamily="34" charset="0"/>
                <a:sym typeface="David" panose="020E0502060401010101" pitchFamily="34" charset="-79"/>
              </a:rPr>
              <a:t>binary task</a:t>
            </a:r>
            <a:endParaRPr lang="en-IL" sz="1500">
              <a:solidFill>
                <a:srgbClr val="475467"/>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99CCCBD2-5B27-5795-304D-33826D4B258A}"/>
              </a:ext>
            </a:extLst>
          </p:cNvPr>
          <p:cNvCxnSpPr/>
          <p:nvPr/>
        </p:nvCxnSpPr>
        <p:spPr>
          <a:xfrm>
            <a:off x="6096000" y="1676400"/>
            <a:ext cx="0" cy="2260600"/>
          </a:xfrm>
          <a:prstGeom prst="line">
            <a:avLst/>
          </a:prstGeom>
          <a:ln w="25400">
            <a:solidFill>
              <a:srgbClr val="CFD6E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9E06A86-3313-8D34-BEE8-CAF25B152D6F}"/>
              </a:ext>
            </a:extLst>
          </p:cNvPr>
          <p:cNvSpPr txBox="1"/>
          <p:nvPr/>
        </p:nvSpPr>
        <p:spPr>
          <a:xfrm>
            <a:off x="9842500" y="4542670"/>
            <a:ext cx="1651000" cy="287258"/>
          </a:xfrm>
          <a:prstGeom prst="rect">
            <a:avLst/>
          </a:prstGeom>
          <a:noFill/>
        </p:spPr>
        <p:txBody>
          <a:bodyPr vert="horz" wrap="square" lIns="38100" tIns="12700" rIns="38100" bIns="12700" rtlCol="0" anchor="ctr">
            <a:spAutoFit/>
          </a:bodyPr>
          <a:lstStyle/>
          <a:p>
            <a:pPr algn="ctr" rtl="1"/>
            <a:r>
              <a:rPr lang="he-IL" sz="1700" b="1">
                <a:solidFill>
                  <a:srgbClr val="1F6FEB"/>
                </a:solidFill>
                <a:latin typeface="Arial" panose="020B0604020202020204" pitchFamily="34" charset="0"/>
                <a:sym typeface="David" panose="020E0502060401010101" pitchFamily="34" charset="-79"/>
              </a:rPr>
              <a:t>ההשערה</a:t>
            </a:r>
            <a:endParaRPr lang="en-IL" sz="1700" b="1">
              <a:solidFill>
                <a:srgbClr val="1F6FEB"/>
              </a:solidFill>
              <a:latin typeface="Arial" panose="020B0604020202020204" pitchFamily="34" charset="0"/>
              <a:sym typeface="David" panose="020E0502060401010101" pitchFamily="34" charset="-79"/>
            </a:endParaRPr>
          </a:p>
        </p:txBody>
      </p:sp>
      <p:sp>
        <p:nvSpPr>
          <p:cNvPr id="20" name="TextBox 19">
            <a:extLst>
              <a:ext uri="{FF2B5EF4-FFF2-40B4-BE49-F238E27FC236}">
                <a16:creationId xmlns:a16="http://schemas.microsoft.com/office/drawing/2014/main" id="{1E5A9127-EA38-4648-094B-5674DC3A3C3C}"/>
              </a:ext>
            </a:extLst>
          </p:cNvPr>
          <p:cNvSpPr txBox="1"/>
          <p:nvPr/>
        </p:nvSpPr>
        <p:spPr>
          <a:xfrm>
            <a:off x="3276600" y="4763576"/>
            <a:ext cx="8216900" cy="671979"/>
          </a:xfrm>
          <a:prstGeom prst="rect">
            <a:avLst/>
          </a:prstGeom>
          <a:noFill/>
        </p:spPr>
        <p:txBody>
          <a:bodyPr vert="horz" wrap="square" lIns="38100" tIns="12700" rIns="38100" bIns="12700" rtlCol="0" anchor="ctr">
            <a:spAutoFit/>
          </a:bodyPr>
          <a:lstStyle/>
          <a:p>
            <a:pPr algn="ctr" rtl="1"/>
            <a:r>
              <a:rPr lang="he-IL" sz="2100" b="1">
                <a:solidFill>
                  <a:srgbClr val="0B1F33"/>
                </a:solidFill>
                <a:latin typeface="Arial" panose="020B0604020202020204" pitchFamily="34" charset="0"/>
                <a:sym typeface="David" panose="020E0502060401010101" pitchFamily="34" charset="-79"/>
              </a:rPr>
              <a:t>ייצוג היררכי שמבחין בין שורות שנוספו, נמחקו ונשמרו ישפר את זיהוי החוסר.</a:t>
            </a:r>
            <a:endParaRPr lang="en-IL" sz="2100" b="1">
              <a:solidFill>
                <a:srgbClr val="0B1F33"/>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E920E184-EEE6-9C35-8B2D-B452D1A4F2AA}"/>
              </a:ext>
            </a:extLst>
          </p:cNvPr>
          <p:cNvSpPr txBox="1"/>
          <p:nvPr/>
        </p:nvSpPr>
        <p:spPr>
          <a:xfrm>
            <a:off x="698500" y="5886553"/>
            <a:ext cx="10795000" cy="241092"/>
          </a:xfrm>
          <a:prstGeom prst="rect">
            <a:avLst/>
          </a:prstGeom>
          <a:noFill/>
        </p:spPr>
        <p:txBody>
          <a:bodyPr vert="horz" wrap="square" lIns="38100" tIns="12700" rIns="38100" bIns="12700" rtlCol="0" anchor="ctr">
            <a:spAutoFit/>
          </a:bodyPr>
          <a:lstStyle/>
          <a:p>
            <a:pPr algn="ctr"/>
            <a:r>
              <a:rPr lang="en-US" sz="1400">
                <a:solidFill>
                  <a:srgbClr val="475467"/>
                </a:solidFill>
                <a:latin typeface="Arial" panose="020B0604020202020204" pitchFamily="34" charset="0"/>
                <a:sym typeface="David" panose="020E0502060401010101" pitchFamily="34" charset="-79"/>
              </a:rPr>
              <a:t>CC2Vec   PatchNet   DeepJIT   CodeReviewer</a:t>
            </a:r>
            <a:endParaRPr lang="en-IL" sz="1400">
              <a:solidFill>
                <a:srgbClr val="475467"/>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7252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00">
            <a:extLst>
              <a:ext uri="{FF2B5EF4-FFF2-40B4-BE49-F238E27FC236}">
                <a16:creationId xmlns:a16="http://schemas.microsoft.com/office/drawing/2014/main" id="{85774C79-1CF1-B6D5-54CA-6A3B3771ADD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01">
            <a:extLst>
              <a:ext uri="{FF2B5EF4-FFF2-40B4-BE49-F238E27FC236}">
                <a16:creationId xmlns:a16="http://schemas.microsoft.com/office/drawing/2014/main" id="{557A1679-E3F7-BF19-C51D-68F16A3A3E15}"/>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7F6D0EE-EAF8-432B-E561-867545E1600C}"/>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מהיסטוריית קוד לניסוי מבוקר</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4A3EAD2A-DAAF-3A37-18AD-A13041A521CD}"/>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3CF369EF-F1E5-37BA-B4F1-64CB8CEE27E2}"/>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1C5E170-E9FE-0CCF-AF0A-C7405606BC13}"/>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04 / 14</a:t>
            </a:r>
          </a:p>
        </p:txBody>
      </p:sp>
      <p:sp>
        <p:nvSpPr>
          <p:cNvPr id="10" name="Shape_102">
            <a:extLst>
              <a:ext uri="{FF2B5EF4-FFF2-40B4-BE49-F238E27FC236}">
                <a16:creationId xmlns:a16="http://schemas.microsoft.com/office/drawing/2014/main" id="{72DD87BE-0602-7466-1DB4-A254385BD922}"/>
              </a:ext>
            </a:extLst>
          </p:cNvPr>
          <p:cNvSpPr/>
          <p:nvPr/>
        </p:nvSpPr>
        <p:spPr>
          <a:xfrm>
            <a:off x="9398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6C48C36B-D404-391E-E8F5-540FDFD14DB5}"/>
              </a:ext>
            </a:extLst>
          </p:cNvPr>
          <p:cNvSpPr txBox="1"/>
          <p:nvPr/>
        </p:nvSpPr>
        <p:spPr>
          <a:xfrm>
            <a:off x="95250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OpenTitan Git History</a:t>
            </a:r>
            <a:endParaRPr lang="en-IL" sz="17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EFDFF90B-08D6-3FF5-3989-D55FDF3B43AB}"/>
              </a:ext>
            </a:extLst>
          </p:cNvPr>
          <p:cNvCxnSpPr/>
          <p:nvPr/>
        </p:nvCxnSpPr>
        <p:spPr>
          <a:xfrm flipH="1">
            <a:off x="91694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03">
            <a:extLst>
              <a:ext uri="{FF2B5EF4-FFF2-40B4-BE49-F238E27FC236}">
                <a16:creationId xmlns:a16="http://schemas.microsoft.com/office/drawing/2014/main" id="{E6F483F3-4E03-06D7-43DF-C3BC3D047176}"/>
              </a:ext>
            </a:extLst>
          </p:cNvPr>
          <p:cNvSpPr/>
          <p:nvPr/>
        </p:nvSpPr>
        <p:spPr>
          <a:xfrm>
            <a:off x="71755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B1DB582E-8E13-5234-115C-0D4AE4D270E0}"/>
              </a:ext>
            </a:extLst>
          </p:cNvPr>
          <p:cNvSpPr txBox="1"/>
          <p:nvPr/>
        </p:nvSpPr>
        <p:spPr>
          <a:xfrm>
            <a:off x="7302500" y="2301636"/>
            <a:ext cx="15875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Diff Mining</a:t>
            </a:r>
            <a:endParaRPr lang="en-IL" sz="17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1EEF9F2A-62D8-24DB-CA19-8F7DB475C2BC}"/>
              </a:ext>
            </a:extLst>
          </p:cNvPr>
          <p:cNvCxnSpPr/>
          <p:nvPr/>
        </p:nvCxnSpPr>
        <p:spPr>
          <a:xfrm flipH="1">
            <a:off x="69469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04">
            <a:extLst>
              <a:ext uri="{FF2B5EF4-FFF2-40B4-BE49-F238E27FC236}">
                <a16:creationId xmlns:a16="http://schemas.microsoft.com/office/drawing/2014/main" id="{5CDB5905-4FFE-830D-7EAD-D139798C3D96}"/>
              </a:ext>
            </a:extLst>
          </p:cNvPr>
          <p:cNvSpPr/>
          <p:nvPr/>
        </p:nvSpPr>
        <p:spPr>
          <a:xfrm>
            <a:off x="4953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3FF125B4-F5AC-7340-9CC7-0C28BA0F3C8B}"/>
              </a:ext>
            </a:extLst>
          </p:cNvPr>
          <p:cNvSpPr txBox="1"/>
          <p:nvPr/>
        </p:nvSpPr>
        <p:spPr>
          <a:xfrm>
            <a:off x="5080000" y="2317025"/>
            <a:ext cx="1587500" cy="81047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Weak Labels + Synthetic Holes</a:t>
            </a:r>
            <a:endParaRPr lang="en-IL" sz="1700" b="1">
              <a:solidFill>
                <a:srgbClr val="0B1F33"/>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E4FCE5B2-62BD-3706-EAD6-A7F92E85520B}"/>
              </a:ext>
            </a:extLst>
          </p:cNvPr>
          <p:cNvCxnSpPr/>
          <p:nvPr/>
        </p:nvCxnSpPr>
        <p:spPr>
          <a:xfrm flipH="1">
            <a:off x="47244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Shape_105">
            <a:extLst>
              <a:ext uri="{FF2B5EF4-FFF2-40B4-BE49-F238E27FC236}">
                <a16:creationId xmlns:a16="http://schemas.microsoft.com/office/drawing/2014/main" id="{C43C60C6-D2B2-9079-5791-C2387D4DA00D}"/>
              </a:ext>
            </a:extLst>
          </p:cNvPr>
          <p:cNvSpPr/>
          <p:nvPr/>
        </p:nvSpPr>
        <p:spPr>
          <a:xfrm>
            <a:off x="27305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4B4B3FFB-22E4-FE85-8009-9C256C308DEA}"/>
              </a:ext>
            </a:extLst>
          </p:cNvPr>
          <p:cNvSpPr txBox="1"/>
          <p:nvPr/>
        </p:nvSpPr>
        <p:spPr>
          <a:xfrm>
            <a:off x="28575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Chronological Split</a:t>
            </a:r>
            <a:endParaRPr lang="en-IL" sz="1700" b="1">
              <a:solidFill>
                <a:srgbClr val="0B1F33"/>
              </a:solidFill>
              <a:latin typeface="Arial" panose="020B0604020202020204" pitchFamily="34" charset="0"/>
              <a:sym typeface="David" panose="020E0502060401010101" pitchFamily="34" charset="-79"/>
            </a:endParaRPr>
          </a:p>
        </p:txBody>
      </p:sp>
      <p:cxnSp>
        <p:nvCxnSpPr>
          <p:cNvPr id="21" name="Straight Connector 20">
            <a:extLst>
              <a:ext uri="{FF2B5EF4-FFF2-40B4-BE49-F238E27FC236}">
                <a16:creationId xmlns:a16="http://schemas.microsoft.com/office/drawing/2014/main" id="{65821925-48C6-FBB8-82C4-68CFDB3C8755}"/>
              </a:ext>
            </a:extLst>
          </p:cNvPr>
          <p:cNvCxnSpPr/>
          <p:nvPr/>
        </p:nvCxnSpPr>
        <p:spPr>
          <a:xfrm flipH="1">
            <a:off x="25019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2" name="Shape_106">
            <a:extLst>
              <a:ext uri="{FF2B5EF4-FFF2-40B4-BE49-F238E27FC236}">
                <a16:creationId xmlns:a16="http://schemas.microsoft.com/office/drawing/2014/main" id="{E129A12A-0ECC-4ECA-AB76-DCE0A7143B74}"/>
              </a:ext>
            </a:extLst>
          </p:cNvPr>
          <p:cNvSpPr/>
          <p:nvPr/>
        </p:nvSpPr>
        <p:spPr>
          <a:xfrm>
            <a:off x="508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6325E264-C628-4FD3-E6D1-6D56233CCB71}"/>
              </a:ext>
            </a:extLst>
          </p:cNvPr>
          <p:cNvSpPr txBox="1"/>
          <p:nvPr/>
        </p:nvSpPr>
        <p:spPr>
          <a:xfrm>
            <a:off x="6350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Training &amp; Evaluation</a:t>
            </a:r>
            <a:endParaRPr lang="en-IL" sz="17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175FA617-C899-A1B9-8AB9-C3DAF0F9D265}"/>
              </a:ext>
            </a:extLst>
          </p:cNvPr>
          <p:cNvSpPr txBox="1"/>
          <p:nvPr/>
        </p:nvSpPr>
        <p:spPr>
          <a:xfrm>
            <a:off x="96266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1F6FEB"/>
                </a:solidFill>
                <a:latin typeface="Arial" panose="020B0604020202020204" pitchFamily="34" charset="0"/>
                <a:sym typeface="David" panose="020E0502060401010101" pitchFamily="34" charset="-79"/>
              </a:rPr>
              <a:t>5,903</a:t>
            </a:r>
          </a:p>
        </p:txBody>
      </p:sp>
      <p:sp>
        <p:nvSpPr>
          <p:cNvPr id="25" name="TextBox 24">
            <a:extLst>
              <a:ext uri="{FF2B5EF4-FFF2-40B4-BE49-F238E27FC236}">
                <a16:creationId xmlns:a16="http://schemas.microsoft.com/office/drawing/2014/main" id="{B06812F6-6CE7-FDE6-054E-4B616C16D83B}"/>
              </a:ext>
            </a:extLst>
          </p:cNvPr>
          <p:cNvSpPr txBox="1"/>
          <p:nvPr/>
        </p:nvSpPr>
        <p:spPr>
          <a:xfrm>
            <a:off x="51816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F59E0B"/>
                </a:solidFill>
                <a:latin typeface="Arial" panose="020B0604020202020204" pitchFamily="34" charset="0"/>
                <a:sym typeface="David" panose="020E0502060401010101" pitchFamily="34" charset="-79"/>
              </a:rPr>
              <a:t>2,843</a:t>
            </a:r>
          </a:p>
        </p:txBody>
      </p:sp>
      <p:sp>
        <p:nvSpPr>
          <p:cNvPr id="26" name="TextBox 25">
            <a:extLst>
              <a:ext uri="{FF2B5EF4-FFF2-40B4-BE49-F238E27FC236}">
                <a16:creationId xmlns:a16="http://schemas.microsoft.com/office/drawing/2014/main" id="{BB9AA20B-AB6E-746C-49F8-48180BB4A2C9}"/>
              </a:ext>
            </a:extLst>
          </p:cNvPr>
          <p:cNvSpPr txBox="1"/>
          <p:nvPr/>
        </p:nvSpPr>
        <p:spPr>
          <a:xfrm>
            <a:off x="29337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2E9D78"/>
                </a:solidFill>
                <a:latin typeface="Arial" panose="020B0604020202020204" pitchFamily="34" charset="0"/>
                <a:sym typeface="David" panose="020E0502060401010101" pitchFamily="34" charset="-79"/>
              </a:rPr>
              <a:t>5,500</a:t>
            </a:r>
          </a:p>
        </p:txBody>
      </p:sp>
      <p:sp>
        <p:nvSpPr>
          <p:cNvPr id="27" name="TextBox 26">
            <a:extLst>
              <a:ext uri="{FF2B5EF4-FFF2-40B4-BE49-F238E27FC236}">
                <a16:creationId xmlns:a16="http://schemas.microsoft.com/office/drawing/2014/main" id="{8CCA800B-CE12-B91D-10AF-32C11BB1A85D}"/>
              </a:ext>
            </a:extLst>
          </p:cNvPr>
          <p:cNvSpPr txBox="1"/>
          <p:nvPr/>
        </p:nvSpPr>
        <p:spPr>
          <a:xfrm>
            <a:off x="94234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raw candidates</a:t>
            </a:r>
            <a:endParaRPr lang="en-IL" sz="1200">
              <a:solidFill>
                <a:srgbClr val="475467"/>
              </a:solidFill>
              <a:latin typeface="Arial" panose="020B0604020202020204" pitchFamily="34" charset="0"/>
              <a:sym typeface="David" panose="020E0502060401010101" pitchFamily="34" charset="-79"/>
            </a:endParaRPr>
          </a:p>
        </p:txBody>
      </p:sp>
      <p:sp>
        <p:nvSpPr>
          <p:cNvPr id="28" name="TextBox 27">
            <a:extLst>
              <a:ext uri="{FF2B5EF4-FFF2-40B4-BE49-F238E27FC236}">
                <a16:creationId xmlns:a16="http://schemas.microsoft.com/office/drawing/2014/main" id="{5EA52E7B-11E4-3546-AAA5-A42F91D40AC7}"/>
              </a:ext>
            </a:extLst>
          </p:cNvPr>
          <p:cNvSpPr txBox="1"/>
          <p:nvPr/>
        </p:nvSpPr>
        <p:spPr>
          <a:xfrm>
            <a:off x="49784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real examples</a:t>
            </a:r>
            <a:endParaRPr lang="en-IL" sz="1200">
              <a:solidFill>
                <a:srgbClr val="475467"/>
              </a:solidFill>
              <a:latin typeface="Arial" panose="020B0604020202020204" pitchFamily="34" charset="0"/>
              <a:sym typeface="David" panose="020E0502060401010101" pitchFamily="34" charset="-79"/>
            </a:endParaRPr>
          </a:p>
        </p:txBody>
      </p:sp>
      <p:sp>
        <p:nvSpPr>
          <p:cNvPr id="29" name="TextBox 28">
            <a:extLst>
              <a:ext uri="{FF2B5EF4-FFF2-40B4-BE49-F238E27FC236}">
                <a16:creationId xmlns:a16="http://schemas.microsoft.com/office/drawing/2014/main" id="{DB27DB83-2962-1973-294E-7DAC0DE3D385}"/>
              </a:ext>
            </a:extLst>
          </p:cNvPr>
          <p:cNvSpPr txBox="1"/>
          <p:nvPr/>
        </p:nvSpPr>
        <p:spPr>
          <a:xfrm>
            <a:off x="27305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total examples</a:t>
            </a:r>
            <a:endParaRPr lang="en-IL" sz="1200">
              <a:solidFill>
                <a:srgbClr val="475467"/>
              </a:solidFill>
              <a:latin typeface="Arial" panose="020B0604020202020204" pitchFamily="34" charset="0"/>
              <a:sym typeface="David" panose="020E0502060401010101" pitchFamily="34" charset="-79"/>
            </a:endParaRPr>
          </a:p>
        </p:txBody>
      </p:sp>
      <p:sp>
        <p:nvSpPr>
          <p:cNvPr id="30" name="Shape_107">
            <a:extLst>
              <a:ext uri="{FF2B5EF4-FFF2-40B4-BE49-F238E27FC236}">
                <a16:creationId xmlns:a16="http://schemas.microsoft.com/office/drawing/2014/main" id="{115924AB-C671-40DD-6EDF-9EEA917D005B}"/>
              </a:ext>
            </a:extLst>
          </p:cNvPr>
          <p:cNvSpPr/>
          <p:nvPr/>
        </p:nvSpPr>
        <p:spPr>
          <a:xfrm>
            <a:off x="698500" y="5181600"/>
            <a:ext cx="10795000" cy="7747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Box 30">
            <a:extLst>
              <a:ext uri="{FF2B5EF4-FFF2-40B4-BE49-F238E27FC236}">
                <a16:creationId xmlns:a16="http://schemas.microsoft.com/office/drawing/2014/main" id="{9DCFB258-D4A0-4437-5E9D-21070DEA8DCA}"/>
              </a:ext>
            </a:extLst>
          </p:cNvPr>
          <p:cNvSpPr txBox="1"/>
          <p:nvPr/>
        </p:nvSpPr>
        <p:spPr>
          <a:xfrm>
            <a:off x="1054100" y="5359648"/>
            <a:ext cx="10083800" cy="318036"/>
          </a:xfrm>
          <a:prstGeom prst="rect">
            <a:avLst/>
          </a:prstGeom>
          <a:noFill/>
        </p:spPr>
        <p:txBody>
          <a:bodyPr vert="horz" wrap="square" lIns="38100" tIns="12700" rIns="38100" bIns="12700" rtlCol="0" anchor="ctr">
            <a:spAutoFit/>
          </a:bodyPr>
          <a:lstStyle/>
          <a:p>
            <a:pPr algn="ctr" rtl="1"/>
            <a:r>
              <a:rPr lang="he-IL" sz="1900" b="1">
                <a:solidFill>
                  <a:srgbClr val="0B1F33"/>
                </a:solidFill>
                <a:latin typeface="Arial" panose="020B0604020202020204" pitchFamily="34" charset="0"/>
                <a:sym typeface="David" panose="020E0502060401010101" pitchFamily="34" charset="-79"/>
              </a:rPr>
              <a:t>כל שינוי נשמר ברמת קובץ, והזוג המקורי והסינתטי נשאר באותה חלוקה.</a:t>
            </a:r>
            <a:endParaRPr lang="en-IL" sz="1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4115390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08">
            <a:extLst>
              <a:ext uri="{FF2B5EF4-FFF2-40B4-BE49-F238E27FC236}">
                <a16:creationId xmlns:a16="http://schemas.microsoft.com/office/drawing/2014/main" id="{B0CED320-05AA-F0F0-1E4A-B4D72517B706}"/>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09">
            <a:extLst>
              <a:ext uri="{FF2B5EF4-FFF2-40B4-BE49-F238E27FC236}">
                <a16:creationId xmlns:a16="http://schemas.microsoft.com/office/drawing/2014/main" id="{73F265F6-E8C2-6E7E-9291-0394B637C642}"/>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C9CB123C-2644-942F-D3FA-CFB9018532F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מערך הנתונים: כרונולוגי, מאוזן בזוגות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A5C4DC07-DE59-A123-52FB-AE5BC4A3C0D6}"/>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FBF8D90-C478-1991-8F94-825BBDCD7E5C}"/>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85560FB-C822-1ABB-7375-F15EC67579AC}"/>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05 / 14</a:t>
            </a:r>
          </a:p>
        </p:txBody>
      </p:sp>
      <p:pic>
        <p:nvPicPr>
          <p:cNvPr id="11" name="Picture 10">
            <a:extLst>
              <a:ext uri="{FF2B5EF4-FFF2-40B4-BE49-F238E27FC236}">
                <a16:creationId xmlns:a16="http://schemas.microsoft.com/office/drawing/2014/main" id="{E094B16F-270B-C89C-DE92-A89BF27C8044}"/>
              </a:ext>
            </a:extLst>
          </p:cNvPr>
          <p:cNvPicPr>
            <a:picLocks/>
          </p:cNvPicPr>
          <p:nvPr/>
        </p:nvPicPr>
        <p:blipFill>
          <a:blip r:embed="rId3"/>
          <a:stretch>
            <a:fillRect/>
          </a:stretch>
        </p:blipFill>
        <p:spPr>
          <a:xfrm>
            <a:off x="609600" y="1371600"/>
            <a:ext cx="4953000" cy="4432300"/>
          </a:xfrm>
          <a:prstGeom prst="rect">
            <a:avLst/>
          </a:prstGeom>
        </p:spPr>
      </p:pic>
      <p:sp>
        <p:nvSpPr>
          <p:cNvPr id="12" name="Shape_110">
            <a:extLst>
              <a:ext uri="{FF2B5EF4-FFF2-40B4-BE49-F238E27FC236}">
                <a16:creationId xmlns:a16="http://schemas.microsoft.com/office/drawing/2014/main" id="{24822BEF-BDE3-0E0C-581F-58046005C6A4}"/>
              </a:ext>
            </a:extLst>
          </p:cNvPr>
          <p:cNvSpPr/>
          <p:nvPr/>
        </p:nvSpPr>
        <p:spPr>
          <a:xfrm>
            <a:off x="6261100" y="1447800"/>
            <a:ext cx="52324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111">
            <a:extLst>
              <a:ext uri="{FF2B5EF4-FFF2-40B4-BE49-F238E27FC236}">
                <a16:creationId xmlns:a16="http://schemas.microsoft.com/office/drawing/2014/main" id="{3D9DD253-4158-C555-99CE-39631EF711EC}"/>
              </a:ext>
            </a:extLst>
          </p:cNvPr>
          <p:cNvSpPr/>
          <p:nvPr/>
        </p:nvSpPr>
        <p:spPr>
          <a:xfrm>
            <a:off x="11404600" y="14478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1F85EA0C-C26E-E8E5-9249-1791306EABB0}"/>
              </a:ext>
            </a:extLst>
          </p:cNvPr>
          <p:cNvSpPr txBox="1"/>
          <p:nvPr/>
        </p:nvSpPr>
        <p:spPr>
          <a:xfrm>
            <a:off x="6464300" y="1528509"/>
            <a:ext cx="47879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5,903</a:t>
            </a:r>
          </a:p>
        </p:txBody>
      </p:sp>
      <p:sp>
        <p:nvSpPr>
          <p:cNvPr id="15" name="TextBox 14">
            <a:extLst>
              <a:ext uri="{FF2B5EF4-FFF2-40B4-BE49-F238E27FC236}">
                <a16:creationId xmlns:a16="http://schemas.microsoft.com/office/drawing/2014/main" id="{F10A93E5-5F96-4F81-99C5-3888CBFAA9CE}"/>
              </a:ext>
            </a:extLst>
          </p:cNvPr>
          <p:cNvSpPr txBox="1"/>
          <p:nvPr/>
        </p:nvSpPr>
        <p:spPr>
          <a:xfrm>
            <a:off x="6464300" y="21800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raw candidates</a:t>
            </a:r>
            <a:endParaRPr lang="en-IL" sz="1300">
              <a:solidFill>
                <a:srgbClr val="475467"/>
              </a:solidFill>
              <a:latin typeface="Arial" panose="020B0604020202020204" pitchFamily="34" charset="0"/>
              <a:sym typeface="David" panose="020E0502060401010101" pitchFamily="34" charset="-79"/>
            </a:endParaRPr>
          </a:p>
        </p:txBody>
      </p:sp>
      <p:sp>
        <p:nvSpPr>
          <p:cNvPr id="16" name="Shape_112">
            <a:extLst>
              <a:ext uri="{FF2B5EF4-FFF2-40B4-BE49-F238E27FC236}">
                <a16:creationId xmlns:a16="http://schemas.microsoft.com/office/drawing/2014/main" id="{652486E0-01A9-CDF1-2CC5-A76E19B4464C}"/>
              </a:ext>
            </a:extLst>
          </p:cNvPr>
          <p:cNvSpPr/>
          <p:nvPr/>
        </p:nvSpPr>
        <p:spPr>
          <a:xfrm>
            <a:off x="6261100" y="2705100"/>
            <a:ext cx="52324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Shape_113">
            <a:extLst>
              <a:ext uri="{FF2B5EF4-FFF2-40B4-BE49-F238E27FC236}">
                <a16:creationId xmlns:a16="http://schemas.microsoft.com/office/drawing/2014/main" id="{8794CE54-C4BB-1074-9CC4-FEDD2348A1CF}"/>
              </a:ext>
            </a:extLst>
          </p:cNvPr>
          <p:cNvSpPr/>
          <p:nvPr/>
        </p:nvSpPr>
        <p:spPr>
          <a:xfrm>
            <a:off x="11404600" y="27051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Box 17">
            <a:extLst>
              <a:ext uri="{FF2B5EF4-FFF2-40B4-BE49-F238E27FC236}">
                <a16:creationId xmlns:a16="http://schemas.microsoft.com/office/drawing/2014/main" id="{0A042885-29A3-46C8-2AE5-DF0FF11131AD}"/>
              </a:ext>
            </a:extLst>
          </p:cNvPr>
          <p:cNvSpPr txBox="1"/>
          <p:nvPr/>
        </p:nvSpPr>
        <p:spPr>
          <a:xfrm>
            <a:off x="6464300" y="2785809"/>
            <a:ext cx="47879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2,843</a:t>
            </a:r>
          </a:p>
        </p:txBody>
      </p:sp>
      <p:sp>
        <p:nvSpPr>
          <p:cNvPr id="19" name="TextBox 18">
            <a:extLst>
              <a:ext uri="{FF2B5EF4-FFF2-40B4-BE49-F238E27FC236}">
                <a16:creationId xmlns:a16="http://schemas.microsoft.com/office/drawing/2014/main" id="{91FAD029-B09F-BCD9-450F-1959A663217A}"/>
              </a:ext>
            </a:extLst>
          </p:cNvPr>
          <p:cNvSpPr txBox="1"/>
          <p:nvPr/>
        </p:nvSpPr>
        <p:spPr>
          <a:xfrm>
            <a:off x="6464300" y="34373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weak-labeled real</a:t>
            </a:r>
            <a:endParaRPr lang="en-IL" sz="1300">
              <a:solidFill>
                <a:srgbClr val="475467"/>
              </a:solidFill>
              <a:latin typeface="Arial" panose="020B0604020202020204" pitchFamily="34" charset="0"/>
              <a:sym typeface="David" panose="020E0502060401010101" pitchFamily="34" charset="-79"/>
            </a:endParaRPr>
          </a:p>
        </p:txBody>
      </p:sp>
      <p:sp>
        <p:nvSpPr>
          <p:cNvPr id="20" name="Shape_114">
            <a:extLst>
              <a:ext uri="{FF2B5EF4-FFF2-40B4-BE49-F238E27FC236}">
                <a16:creationId xmlns:a16="http://schemas.microsoft.com/office/drawing/2014/main" id="{014F6F12-0D98-CFCA-87D7-502EA30F8E52}"/>
              </a:ext>
            </a:extLst>
          </p:cNvPr>
          <p:cNvSpPr/>
          <p:nvPr/>
        </p:nvSpPr>
        <p:spPr>
          <a:xfrm>
            <a:off x="6261100" y="3962400"/>
            <a:ext cx="52324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Shape_115">
            <a:extLst>
              <a:ext uri="{FF2B5EF4-FFF2-40B4-BE49-F238E27FC236}">
                <a16:creationId xmlns:a16="http://schemas.microsoft.com/office/drawing/2014/main" id="{AC21A61C-4DD6-F56A-E4E6-00B57152E07D}"/>
              </a:ext>
            </a:extLst>
          </p:cNvPr>
          <p:cNvSpPr/>
          <p:nvPr/>
        </p:nvSpPr>
        <p:spPr>
          <a:xfrm>
            <a:off x="11404600" y="39624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Box 21">
            <a:extLst>
              <a:ext uri="{FF2B5EF4-FFF2-40B4-BE49-F238E27FC236}">
                <a16:creationId xmlns:a16="http://schemas.microsoft.com/office/drawing/2014/main" id="{705C5AFA-D98D-1AA8-CEF3-F509AE084C5C}"/>
              </a:ext>
            </a:extLst>
          </p:cNvPr>
          <p:cNvSpPr txBox="1"/>
          <p:nvPr/>
        </p:nvSpPr>
        <p:spPr>
          <a:xfrm>
            <a:off x="6464300" y="4043109"/>
            <a:ext cx="47879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5,500</a:t>
            </a:r>
          </a:p>
        </p:txBody>
      </p:sp>
      <p:sp>
        <p:nvSpPr>
          <p:cNvPr id="23" name="TextBox 22">
            <a:extLst>
              <a:ext uri="{FF2B5EF4-FFF2-40B4-BE49-F238E27FC236}">
                <a16:creationId xmlns:a16="http://schemas.microsoft.com/office/drawing/2014/main" id="{9F6FC61E-6980-9C57-D876-B2DB4A0C9298}"/>
              </a:ext>
            </a:extLst>
          </p:cNvPr>
          <p:cNvSpPr txBox="1"/>
          <p:nvPr/>
        </p:nvSpPr>
        <p:spPr>
          <a:xfrm>
            <a:off x="6464300" y="46946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after synthetic holes</a:t>
            </a:r>
            <a:endParaRPr lang="en-IL" sz="1300">
              <a:solidFill>
                <a:srgbClr val="475467"/>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024C4507-3B97-B397-FF8C-847CC29CCD2A}"/>
              </a:ext>
            </a:extLst>
          </p:cNvPr>
          <p:cNvSpPr txBox="1"/>
          <p:nvPr/>
        </p:nvSpPr>
        <p:spPr>
          <a:xfrm>
            <a:off x="6261100" y="5408131"/>
            <a:ext cx="5232400" cy="271869"/>
          </a:xfrm>
          <a:prstGeom prst="rect">
            <a:avLst/>
          </a:prstGeom>
          <a:noFill/>
        </p:spPr>
        <p:txBody>
          <a:bodyPr vert="horz" wrap="square" lIns="38100" tIns="12700" rIns="38100" bIns="12700" rtlCol="0" anchor="ctr">
            <a:spAutoFit/>
          </a:bodyPr>
          <a:lstStyle/>
          <a:p>
            <a:pPr algn="ctr"/>
            <a:r>
              <a:rPr lang="en-US" sz="1600" b="1">
                <a:solidFill>
                  <a:srgbClr val="0B1F33"/>
                </a:solidFill>
                <a:latin typeface="Arial" panose="020B0604020202020204" pitchFamily="34" charset="0"/>
                <a:sym typeface="David" panose="020E0502060401010101" pitchFamily="34" charset="-79"/>
              </a:rPr>
              <a:t>train 3,873    validation 830    test 797</a:t>
            </a:r>
            <a:endParaRPr lang="en-IL" sz="16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317171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16">
            <a:extLst>
              <a:ext uri="{FF2B5EF4-FFF2-40B4-BE49-F238E27FC236}">
                <a16:creationId xmlns:a16="http://schemas.microsoft.com/office/drawing/2014/main" id="{064396F7-4313-8D37-F41B-B02BEB6F2E2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17">
            <a:extLst>
              <a:ext uri="{FF2B5EF4-FFF2-40B4-BE49-F238E27FC236}">
                <a16:creationId xmlns:a16="http://schemas.microsoft.com/office/drawing/2014/main" id="{1F53CD45-F23F-9D32-5A6A-6B42EFB178C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C0A5D391-8B7A-A9A4-141D-3CCFA138095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יצירת חוסרים סינתטיים בתוך אזור השינוי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E3CFB8E4-2021-4581-AF43-9A37DE630AEA}"/>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EA18A3EB-F600-3729-4422-2E69C373D798}"/>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4D07B37-96C5-1FA9-7964-B135D360E38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06 / 14</a:t>
            </a:r>
          </a:p>
        </p:txBody>
      </p:sp>
      <p:sp>
        <p:nvSpPr>
          <p:cNvPr id="10" name="Shape_118">
            <a:extLst>
              <a:ext uri="{FF2B5EF4-FFF2-40B4-BE49-F238E27FC236}">
                <a16:creationId xmlns:a16="http://schemas.microsoft.com/office/drawing/2014/main" id="{EB08A4E4-BBF7-F113-726F-CEF333B2CE02}"/>
              </a:ext>
            </a:extLst>
          </p:cNvPr>
          <p:cNvSpPr/>
          <p:nvPr/>
        </p:nvSpPr>
        <p:spPr>
          <a:xfrm>
            <a:off x="6413500" y="1498600"/>
            <a:ext cx="5080000" cy="3238500"/>
          </a:xfrm>
          <a:prstGeom prst="rect">
            <a:avLst/>
          </a:prstGeom>
          <a:solidFill>
            <a:srgbClr val="0B1F33"/>
          </a:solidFill>
          <a:ln w="0" cap="flat" cmpd="sng" algn="ctr">
            <a:solidFill>
              <a:srgbClr val="0B1F33">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E647ED0F-15B8-8ED8-1C7E-268C974CF82C}"/>
              </a:ext>
            </a:extLst>
          </p:cNvPr>
          <p:cNvSpPr txBox="1"/>
          <p:nvPr/>
        </p:nvSpPr>
        <p:spPr>
          <a:xfrm>
            <a:off x="6794500" y="1740519"/>
            <a:ext cx="1778000" cy="241092"/>
          </a:xfrm>
          <a:prstGeom prst="rect">
            <a:avLst/>
          </a:prstGeom>
          <a:noFill/>
        </p:spPr>
        <p:txBody>
          <a:bodyPr vert="horz" wrap="square" lIns="38100" tIns="12700" rIns="38100" bIns="12700" rtlCol="0" anchor="ctr">
            <a:spAutoFit/>
          </a:bodyPr>
          <a:lstStyle/>
          <a:p>
            <a:pPr algn="ctr"/>
            <a:r>
              <a:rPr lang="en-US" sz="1400" b="1">
                <a:solidFill>
                  <a:srgbClr val="2E9D78"/>
                </a:solidFill>
                <a:latin typeface="Arial" panose="020B0604020202020204" pitchFamily="34" charset="0"/>
                <a:sym typeface="David" panose="020E0502060401010101" pitchFamily="34" charset="-79"/>
              </a:rPr>
              <a:t>COMPLETE</a:t>
            </a:r>
            <a:endParaRPr lang="en-IL" sz="1400" b="1">
              <a:solidFill>
                <a:srgbClr val="2E9D78"/>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F7AF8A7C-66A3-8F5E-D21B-8498FF8A999C}"/>
              </a:ext>
            </a:extLst>
          </p:cNvPr>
          <p:cNvSpPr txBox="1"/>
          <p:nvPr/>
        </p:nvSpPr>
        <p:spPr>
          <a:xfrm>
            <a:off x="6794500" y="2174265"/>
            <a:ext cx="4254500" cy="1195199"/>
          </a:xfrm>
          <a:prstGeom prst="rect">
            <a:avLst/>
          </a:prstGeom>
          <a:noFill/>
        </p:spPr>
        <p:txBody>
          <a:bodyPr vert="horz" wrap="square" lIns="38100" tIns="12700" rIns="38100" bIns="12700" rtlCol="0" anchor="ctr">
            <a:spAutoFit/>
          </a:bodyPr>
          <a:lstStyle/>
          <a:p>
            <a:r>
              <a:rPr lang="en-US" sz="1900">
                <a:solidFill>
                  <a:srgbClr val="DDE7F3"/>
                </a:solidFill>
                <a:latin typeface="Menlo" panose="020B0609030804020204" pitchFamily="49" charset="0"/>
                <a:sym typeface="Menlo" panose="020B0609030804020204" pitchFamily="49" charset="0"/>
              </a:rPr>
              <a:t>+ if (req_i) begin
+   state_d = BUSY;
+   valid_d = 1'b1;
+ end</a:t>
            </a:r>
            <a:endParaRPr lang="en-IL" sz="1900">
              <a:solidFill>
                <a:srgbClr val="DDE7F3"/>
              </a:solidFill>
              <a:latin typeface="Menlo" panose="020B0609030804020204" pitchFamily="49" charset="0"/>
              <a:sym typeface="Menlo" panose="020B0609030804020204" pitchFamily="49" charset="0"/>
            </a:endParaRPr>
          </a:p>
        </p:txBody>
      </p:sp>
      <p:sp>
        <p:nvSpPr>
          <p:cNvPr id="13" name="Shape_119">
            <a:extLst>
              <a:ext uri="{FF2B5EF4-FFF2-40B4-BE49-F238E27FC236}">
                <a16:creationId xmlns:a16="http://schemas.microsoft.com/office/drawing/2014/main" id="{BE016A8E-540B-0B66-9A91-6BB1BF2CFE1A}"/>
              </a:ext>
            </a:extLst>
          </p:cNvPr>
          <p:cNvSpPr/>
          <p:nvPr/>
        </p:nvSpPr>
        <p:spPr>
          <a:xfrm>
            <a:off x="698500" y="1498600"/>
            <a:ext cx="5080000" cy="3238500"/>
          </a:xfrm>
          <a:prstGeom prst="rect">
            <a:avLst/>
          </a:prstGeom>
          <a:solidFill>
            <a:srgbClr val="262F3E"/>
          </a:solidFill>
          <a:ln w="0" cap="flat" cmpd="sng" algn="ctr">
            <a:solidFill>
              <a:srgbClr val="262F3E">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B281F2F7-7A61-3DB2-0BA0-49388BE2F345}"/>
              </a:ext>
            </a:extLst>
          </p:cNvPr>
          <p:cNvSpPr txBox="1"/>
          <p:nvPr/>
        </p:nvSpPr>
        <p:spPr>
          <a:xfrm>
            <a:off x="1079500" y="1740519"/>
            <a:ext cx="26670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SYNTHETIC HOLE</a:t>
            </a:r>
            <a:endParaRPr lang="en-IL" sz="1400" b="1">
              <a:solidFill>
                <a:srgbClr val="F59E0B"/>
              </a:solidFill>
              <a:latin typeface="Arial" panose="020B0604020202020204" pitchFamily="34" charset="0"/>
              <a:sym typeface="David" panose="020E0502060401010101" pitchFamily="34" charset="-79"/>
            </a:endParaRPr>
          </a:p>
        </p:txBody>
      </p:sp>
      <p:sp>
        <p:nvSpPr>
          <p:cNvPr id="15" name="TextBox 14">
            <a:extLst>
              <a:ext uri="{FF2B5EF4-FFF2-40B4-BE49-F238E27FC236}">
                <a16:creationId xmlns:a16="http://schemas.microsoft.com/office/drawing/2014/main" id="{82A92C3F-9FBB-B24B-9226-6653D4E90E52}"/>
              </a:ext>
            </a:extLst>
          </p:cNvPr>
          <p:cNvSpPr txBox="1"/>
          <p:nvPr/>
        </p:nvSpPr>
        <p:spPr>
          <a:xfrm>
            <a:off x="1079500" y="2174265"/>
            <a:ext cx="4254500" cy="1195199"/>
          </a:xfrm>
          <a:prstGeom prst="rect">
            <a:avLst/>
          </a:prstGeom>
          <a:noFill/>
        </p:spPr>
        <p:txBody>
          <a:bodyPr vert="horz" wrap="square" lIns="38100" tIns="12700" rIns="38100" bIns="12700" rtlCol="0" anchor="ctr">
            <a:spAutoFit/>
          </a:bodyPr>
          <a:lstStyle/>
          <a:p>
            <a:r>
              <a:rPr lang="en-US" sz="1900">
                <a:solidFill>
                  <a:srgbClr val="DDE7F3"/>
                </a:solidFill>
                <a:latin typeface="Menlo" panose="020B0609030804020204" pitchFamily="49" charset="0"/>
                <a:sym typeface="Menlo" panose="020B0609030804020204" pitchFamily="49" charset="0"/>
              </a:rPr>
              <a:t>+ if (req_i) begin
+   state_d = BUSY;
+ end</a:t>
            </a:r>
            <a:endParaRPr lang="en-IL" sz="1900">
              <a:solidFill>
                <a:srgbClr val="DDE7F3"/>
              </a:solidFill>
              <a:latin typeface="Menlo" panose="020B0609030804020204" pitchFamily="49" charset="0"/>
              <a:sym typeface="Menlo" panose="020B0609030804020204" pitchFamily="49" charset="0"/>
            </a:endParaRPr>
          </a:p>
        </p:txBody>
      </p:sp>
      <p:cxnSp>
        <p:nvCxnSpPr>
          <p:cNvPr id="16" name="Straight Connector 15">
            <a:extLst>
              <a:ext uri="{FF2B5EF4-FFF2-40B4-BE49-F238E27FC236}">
                <a16:creationId xmlns:a16="http://schemas.microsoft.com/office/drawing/2014/main" id="{2B3F6707-4107-F8A3-415A-C3CAFDC61415}"/>
              </a:ext>
            </a:extLst>
          </p:cNvPr>
          <p:cNvCxnSpPr/>
          <p:nvPr/>
        </p:nvCxnSpPr>
        <p:spPr>
          <a:xfrm flipH="1">
            <a:off x="6286500" y="3111500"/>
            <a:ext cx="381000" cy="0"/>
          </a:xfrm>
          <a:prstGeom prst="line">
            <a:avLst/>
          </a:prstGeom>
          <a:ln w="381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B4F7DA8-03E6-6476-53D7-B77D72EE4016}"/>
              </a:ext>
            </a:extLst>
          </p:cNvPr>
          <p:cNvSpPr txBox="1"/>
          <p:nvPr/>
        </p:nvSpPr>
        <p:spPr>
          <a:xfrm>
            <a:off x="4279900" y="4979476"/>
            <a:ext cx="3619500" cy="302647"/>
          </a:xfrm>
          <a:prstGeom prst="rect">
            <a:avLst/>
          </a:prstGeom>
          <a:noFill/>
        </p:spPr>
        <p:txBody>
          <a:bodyPr vert="horz" wrap="square" lIns="38100" tIns="12700" rIns="38100" bIns="12700" rtlCol="0" anchor="ctr">
            <a:spAutoFit/>
          </a:bodyPr>
          <a:lstStyle/>
          <a:p>
            <a:pPr algn="ctr"/>
            <a:r>
              <a:rPr lang="en-US" b="1">
                <a:solidFill>
                  <a:srgbClr val="F59E0B"/>
                </a:solidFill>
                <a:latin typeface="Arial" panose="020B0604020202020204" pitchFamily="34" charset="0"/>
                <a:sym typeface="David" panose="020E0502060401010101" pitchFamily="34" charset="-79"/>
              </a:rPr>
              <a:t>drop_added_line</a:t>
            </a:r>
            <a:endParaRPr lang="en-IL" b="1">
              <a:solidFill>
                <a:srgbClr val="F59E0B"/>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031D3F35-B5A8-CFA6-B19D-FB697F0912FB}"/>
              </a:ext>
            </a:extLst>
          </p:cNvPr>
          <p:cNvSpPr txBox="1"/>
          <p:nvPr/>
        </p:nvSpPr>
        <p:spPr>
          <a:xfrm>
            <a:off x="4470400" y="5330815"/>
            <a:ext cx="3238500" cy="502702"/>
          </a:xfrm>
          <a:prstGeom prst="rect">
            <a:avLst/>
          </a:prstGeom>
          <a:noFill/>
        </p:spPr>
        <p:txBody>
          <a:bodyPr vert="horz" wrap="square" lIns="38100" tIns="12700" rIns="38100" bIns="12700" rtlCol="0" anchor="ctr">
            <a:spAutoFit/>
          </a:bodyPr>
          <a:lstStyle/>
          <a:p>
            <a:pPr algn="ctr"/>
            <a:r>
              <a:rPr lang="en-IL" sz="3100" b="1">
                <a:solidFill>
                  <a:srgbClr val="DC4C64"/>
                </a:solidFill>
                <a:latin typeface="Arial" panose="020B0604020202020204" pitchFamily="34" charset="0"/>
                <a:sym typeface="David" panose="020E0502060401010101" pitchFamily="34" charset="-79"/>
              </a:rPr>
              <a:t>82.2%</a:t>
            </a:r>
          </a:p>
        </p:txBody>
      </p:sp>
      <p:sp>
        <p:nvSpPr>
          <p:cNvPr id="19" name="TextBox 18">
            <a:extLst>
              <a:ext uri="{FF2B5EF4-FFF2-40B4-BE49-F238E27FC236}">
                <a16:creationId xmlns:a16="http://schemas.microsoft.com/office/drawing/2014/main" id="{A5D01B43-AAE3-3E74-8D89-BF71C42CD1DC}"/>
              </a:ext>
            </a:extLst>
          </p:cNvPr>
          <p:cNvSpPr txBox="1"/>
          <p:nvPr/>
        </p:nvSpPr>
        <p:spPr>
          <a:xfrm>
            <a:off x="4330700" y="6048508"/>
            <a:ext cx="35306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of test synthetic examples</a:t>
            </a:r>
            <a:endParaRPr lang="en-IL" sz="1200">
              <a:solidFill>
                <a:srgbClr val="475467"/>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834022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20">
            <a:extLst>
              <a:ext uri="{FF2B5EF4-FFF2-40B4-BE49-F238E27FC236}">
                <a16:creationId xmlns:a16="http://schemas.microsoft.com/office/drawing/2014/main" id="{7A216723-CA01-1416-D12A-FA7DF31C3AB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21">
            <a:extLst>
              <a:ext uri="{FF2B5EF4-FFF2-40B4-BE49-F238E27FC236}">
                <a16:creationId xmlns:a16="http://schemas.microsoft.com/office/drawing/2014/main" id="{8E15C0BF-3769-E652-DDB4-0B8EA4C1CECF}"/>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A2DE64CF-25E1-0F27-7B31-E866C4E9A931}"/>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השוואת ארבע משפחות מודלים</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0909B6A0-F736-90A6-92B2-CB75A57EF1C2}"/>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FC20B9FD-DBBE-13E7-BA63-5DB50F038612}"/>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02546FF-2635-3114-DAAD-0CCBF29E34E3}"/>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07 / 14</a:t>
            </a:r>
          </a:p>
        </p:txBody>
      </p:sp>
      <p:sp>
        <p:nvSpPr>
          <p:cNvPr id="10" name="Shape_122">
            <a:extLst>
              <a:ext uri="{FF2B5EF4-FFF2-40B4-BE49-F238E27FC236}">
                <a16:creationId xmlns:a16="http://schemas.microsoft.com/office/drawing/2014/main" id="{24C61059-A4C0-A412-4380-E73DA3D064C8}"/>
              </a:ext>
            </a:extLst>
          </p:cNvPr>
          <p:cNvSpPr/>
          <p:nvPr/>
        </p:nvSpPr>
        <p:spPr>
          <a:xfrm>
            <a:off x="9080500" y="1524000"/>
            <a:ext cx="2413000" cy="30226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BC25EA86-23A7-1B4C-4808-027DE45D6249}"/>
              </a:ext>
            </a:extLst>
          </p:cNvPr>
          <p:cNvSpPr txBox="1"/>
          <p:nvPr/>
        </p:nvSpPr>
        <p:spPr>
          <a:xfrm>
            <a:off x="9309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1F6FEB"/>
                </a:solidFill>
                <a:latin typeface="Arial" panose="020B0604020202020204" pitchFamily="34" charset="0"/>
                <a:sym typeface="David" panose="020E0502060401010101" pitchFamily="34" charset="-79"/>
              </a:rPr>
              <a:t>1</a:t>
            </a:r>
          </a:p>
        </p:txBody>
      </p:sp>
      <p:sp>
        <p:nvSpPr>
          <p:cNvPr id="12" name="TextBox 11">
            <a:extLst>
              <a:ext uri="{FF2B5EF4-FFF2-40B4-BE49-F238E27FC236}">
                <a16:creationId xmlns:a16="http://schemas.microsoft.com/office/drawing/2014/main" id="{C09F4D05-1D12-6193-22A0-6601292BA4CF}"/>
              </a:ext>
            </a:extLst>
          </p:cNvPr>
          <p:cNvSpPr txBox="1"/>
          <p:nvPr/>
        </p:nvSpPr>
        <p:spPr>
          <a:xfrm>
            <a:off x="9309100" y="2370142"/>
            <a:ext cx="1955800" cy="579646"/>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TF-IDF + Logistic Regression</a:t>
            </a:r>
            <a:endParaRPr lang="en-IL" b="1">
              <a:solidFill>
                <a:srgbClr val="0B1F33"/>
              </a:solidFill>
              <a:latin typeface="Arial" panose="020B0604020202020204" pitchFamily="34" charset="0"/>
              <a:sym typeface="David" panose="020E0502060401010101" pitchFamily="34" charset="-79"/>
            </a:endParaRPr>
          </a:p>
        </p:txBody>
      </p:sp>
      <p:sp>
        <p:nvSpPr>
          <p:cNvPr id="13" name="TextBox 12">
            <a:extLst>
              <a:ext uri="{FF2B5EF4-FFF2-40B4-BE49-F238E27FC236}">
                <a16:creationId xmlns:a16="http://schemas.microsoft.com/office/drawing/2014/main" id="{E03A5389-796A-C424-07A0-135BC341E1FF}"/>
              </a:ext>
            </a:extLst>
          </p:cNvPr>
          <p:cNvSpPr txBox="1"/>
          <p:nvPr/>
        </p:nvSpPr>
        <p:spPr>
          <a:xfrm>
            <a:off x="9309100" y="3550413"/>
            <a:ext cx="19558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sparse lexical features</a:t>
            </a:r>
            <a:endParaRPr lang="en-IL" sz="1300">
              <a:solidFill>
                <a:srgbClr val="475467"/>
              </a:solidFill>
              <a:latin typeface="Arial" panose="020B0604020202020204" pitchFamily="34" charset="0"/>
              <a:sym typeface="David" panose="020E0502060401010101" pitchFamily="34" charset="-79"/>
            </a:endParaRPr>
          </a:p>
        </p:txBody>
      </p:sp>
      <p:sp>
        <p:nvSpPr>
          <p:cNvPr id="14" name="Shape_123">
            <a:extLst>
              <a:ext uri="{FF2B5EF4-FFF2-40B4-BE49-F238E27FC236}">
                <a16:creationId xmlns:a16="http://schemas.microsoft.com/office/drawing/2014/main" id="{D640ECDD-107B-5CAD-5CC9-4284D68ECFB8}"/>
              </a:ext>
            </a:extLst>
          </p:cNvPr>
          <p:cNvSpPr/>
          <p:nvPr/>
        </p:nvSpPr>
        <p:spPr>
          <a:xfrm>
            <a:off x="6286500" y="1524000"/>
            <a:ext cx="2413000" cy="30226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Box 14">
            <a:extLst>
              <a:ext uri="{FF2B5EF4-FFF2-40B4-BE49-F238E27FC236}">
                <a16:creationId xmlns:a16="http://schemas.microsoft.com/office/drawing/2014/main" id="{FA5D28E7-3D6B-F6D7-58C1-CCBCC1482F93}"/>
              </a:ext>
            </a:extLst>
          </p:cNvPr>
          <p:cNvSpPr txBox="1"/>
          <p:nvPr/>
        </p:nvSpPr>
        <p:spPr>
          <a:xfrm>
            <a:off x="6515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2E9D78"/>
                </a:solidFill>
                <a:latin typeface="Arial" panose="020B0604020202020204" pitchFamily="34" charset="0"/>
                <a:sym typeface="David" panose="020E0502060401010101" pitchFamily="34" charset="-79"/>
              </a:rPr>
              <a:t>2</a:t>
            </a:r>
          </a:p>
        </p:txBody>
      </p:sp>
      <p:sp>
        <p:nvSpPr>
          <p:cNvPr id="16" name="TextBox 15">
            <a:extLst>
              <a:ext uri="{FF2B5EF4-FFF2-40B4-BE49-F238E27FC236}">
                <a16:creationId xmlns:a16="http://schemas.microsoft.com/office/drawing/2014/main" id="{822BF7E1-AE58-019C-E2A5-EF6F356AC8AB}"/>
              </a:ext>
            </a:extLst>
          </p:cNvPr>
          <p:cNvSpPr txBox="1"/>
          <p:nvPr/>
        </p:nvSpPr>
        <p:spPr>
          <a:xfrm>
            <a:off x="6515100" y="2370142"/>
            <a:ext cx="1955800" cy="302647"/>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MLP</a:t>
            </a:r>
            <a:endParaRPr lang="en-IL" b="1">
              <a:solidFill>
                <a:srgbClr val="0B1F33"/>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4CF0D746-7C12-6618-872E-F8591406A5C1}"/>
              </a:ext>
            </a:extLst>
          </p:cNvPr>
          <p:cNvSpPr txBox="1"/>
          <p:nvPr/>
        </p:nvSpPr>
        <p:spPr>
          <a:xfrm>
            <a:off x="6515100" y="3450386"/>
            <a:ext cx="1955800" cy="425758"/>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pooled token embeddings</a:t>
            </a:r>
            <a:endParaRPr lang="en-IL" sz="1300">
              <a:solidFill>
                <a:srgbClr val="475467"/>
              </a:solidFill>
              <a:latin typeface="Arial" panose="020B0604020202020204" pitchFamily="34" charset="0"/>
              <a:sym typeface="David" panose="020E0502060401010101" pitchFamily="34" charset="-79"/>
            </a:endParaRPr>
          </a:p>
        </p:txBody>
      </p:sp>
      <p:sp>
        <p:nvSpPr>
          <p:cNvPr id="18" name="Shape_124">
            <a:extLst>
              <a:ext uri="{FF2B5EF4-FFF2-40B4-BE49-F238E27FC236}">
                <a16:creationId xmlns:a16="http://schemas.microsoft.com/office/drawing/2014/main" id="{F6B9E765-7E01-6CAF-7A06-49590CCB3483}"/>
              </a:ext>
            </a:extLst>
          </p:cNvPr>
          <p:cNvSpPr/>
          <p:nvPr/>
        </p:nvSpPr>
        <p:spPr>
          <a:xfrm>
            <a:off x="3492500" y="1524000"/>
            <a:ext cx="2413000" cy="30226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Box 18">
            <a:extLst>
              <a:ext uri="{FF2B5EF4-FFF2-40B4-BE49-F238E27FC236}">
                <a16:creationId xmlns:a16="http://schemas.microsoft.com/office/drawing/2014/main" id="{0A62965B-EBC6-7BA9-7679-66189220C3B8}"/>
              </a:ext>
            </a:extLst>
          </p:cNvPr>
          <p:cNvSpPr txBox="1"/>
          <p:nvPr/>
        </p:nvSpPr>
        <p:spPr>
          <a:xfrm>
            <a:off x="3721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F59E0B"/>
                </a:solidFill>
                <a:latin typeface="Arial" panose="020B0604020202020204" pitchFamily="34" charset="0"/>
                <a:sym typeface="David" panose="020E0502060401010101" pitchFamily="34" charset="-79"/>
              </a:rPr>
              <a:t>3</a:t>
            </a:r>
          </a:p>
        </p:txBody>
      </p:sp>
      <p:sp>
        <p:nvSpPr>
          <p:cNvPr id="20" name="TextBox 19">
            <a:extLst>
              <a:ext uri="{FF2B5EF4-FFF2-40B4-BE49-F238E27FC236}">
                <a16:creationId xmlns:a16="http://schemas.microsoft.com/office/drawing/2014/main" id="{2E6ABA19-9035-801A-CC4F-6FD416580A8F}"/>
              </a:ext>
            </a:extLst>
          </p:cNvPr>
          <p:cNvSpPr txBox="1"/>
          <p:nvPr/>
        </p:nvSpPr>
        <p:spPr>
          <a:xfrm>
            <a:off x="3721100" y="2370142"/>
            <a:ext cx="1955800" cy="302647"/>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BiGRU</a:t>
            </a:r>
            <a:endParaRPr lang="en-IL" b="1">
              <a:solidFill>
                <a:srgbClr val="0B1F33"/>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7CA3EB1A-7782-714F-6CF4-366DD28DEAA2}"/>
              </a:ext>
            </a:extLst>
          </p:cNvPr>
          <p:cNvSpPr txBox="1"/>
          <p:nvPr/>
        </p:nvSpPr>
        <p:spPr>
          <a:xfrm>
            <a:off x="3721100" y="3550413"/>
            <a:ext cx="19558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flat sequence encoder</a:t>
            </a:r>
            <a:endParaRPr lang="en-IL" sz="1300">
              <a:solidFill>
                <a:srgbClr val="475467"/>
              </a:solidFill>
              <a:latin typeface="Arial" panose="020B0604020202020204" pitchFamily="34" charset="0"/>
              <a:sym typeface="David" panose="020E0502060401010101" pitchFamily="34" charset="-79"/>
            </a:endParaRPr>
          </a:p>
        </p:txBody>
      </p:sp>
      <p:sp>
        <p:nvSpPr>
          <p:cNvPr id="22" name="Shape_125">
            <a:extLst>
              <a:ext uri="{FF2B5EF4-FFF2-40B4-BE49-F238E27FC236}">
                <a16:creationId xmlns:a16="http://schemas.microsoft.com/office/drawing/2014/main" id="{B892973E-6816-808D-E3B3-4B4B7A0FF27D}"/>
              </a:ext>
            </a:extLst>
          </p:cNvPr>
          <p:cNvSpPr/>
          <p:nvPr/>
        </p:nvSpPr>
        <p:spPr>
          <a:xfrm>
            <a:off x="698500" y="1524000"/>
            <a:ext cx="2413000" cy="30226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67C887AE-1186-F774-1021-1A3614535A0F}"/>
              </a:ext>
            </a:extLst>
          </p:cNvPr>
          <p:cNvSpPr txBox="1"/>
          <p:nvPr/>
        </p:nvSpPr>
        <p:spPr>
          <a:xfrm>
            <a:off x="927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DC4C64"/>
                </a:solidFill>
                <a:latin typeface="Arial" panose="020B0604020202020204" pitchFamily="34" charset="0"/>
                <a:sym typeface="David" panose="020E0502060401010101" pitchFamily="34" charset="-79"/>
              </a:rPr>
              <a:t>4</a:t>
            </a:r>
          </a:p>
        </p:txBody>
      </p:sp>
      <p:sp>
        <p:nvSpPr>
          <p:cNvPr id="24" name="TextBox 23">
            <a:extLst>
              <a:ext uri="{FF2B5EF4-FFF2-40B4-BE49-F238E27FC236}">
                <a16:creationId xmlns:a16="http://schemas.microsoft.com/office/drawing/2014/main" id="{B8F5EB5E-4721-67AD-2B8E-70BBFE3C6EAE}"/>
              </a:ext>
            </a:extLst>
          </p:cNvPr>
          <p:cNvSpPr txBox="1"/>
          <p:nvPr/>
        </p:nvSpPr>
        <p:spPr>
          <a:xfrm>
            <a:off x="927100" y="2370142"/>
            <a:ext cx="1955800" cy="579646"/>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Hierarchical Transformer</a:t>
            </a:r>
            <a:endParaRPr lang="en-IL" b="1">
              <a:solidFill>
                <a:srgbClr val="0B1F33"/>
              </a:solidFill>
              <a:latin typeface="Arial" panose="020B0604020202020204" pitchFamily="34" charset="0"/>
              <a:sym typeface="David" panose="020E0502060401010101" pitchFamily="34" charset="-79"/>
            </a:endParaRPr>
          </a:p>
        </p:txBody>
      </p:sp>
      <p:sp>
        <p:nvSpPr>
          <p:cNvPr id="25" name="TextBox 24">
            <a:extLst>
              <a:ext uri="{FF2B5EF4-FFF2-40B4-BE49-F238E27FC236}">
                <a16:creationId xmlns:a16="http://schemas.microsoft.com/office/drawing/2014/main" id="{AEF57C8F-E647-A5D3-D7EC-F2360CF6D010}"/>
              </a:ext>
            </a:extLst>
          </p:cNvPr>
          <p:cNvSpPr txBox="1"/>
          <p:nvPr/>
        </p:nvSpPr>
        <p:spPr>
          <a:xfrm>
            <a:off x="927100" y="3450386"/>
            <a:ext cx="1955800" cy="425758"/>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line encoder + diff structure</a:t>
            </a:r>
            <a:endParaRPr lang="en-IL" sz="1300">
              <a:solidFill>
                <a:srgbClr val="475467"/>
              </a:solidFill>
              <a:latin typeface="Arial" panose="020B0604020202020204" pitchFamily="34" charset="0"/>
              <a:sym typeface="David" panose="020E0502060401010101" pitchFamily="34" charset="-79"/>
            </a:endParaRPr>
          </a:p>
        </p:txBody>
      </p:sp>
      <p:sp>
        <p:nvSpPr>
          <p:cNvPr id="26" name="Shape_126">
            <a:extLst>
              <a:ext uri="{FF2B5EF4-FFF2-40B4-BE49-F238E27FC236}">
                <a16:creationId xmlns:a16="http://schemas.microsoft.com/office/drawing/2014/main" id="{D36610D7-A650-3E1F-E608-86A3FEAD2A4D}"/>
              </a:ext>
            </a:extLst>
          </p:cNvPr>
          <p:cNvSpPr/>
          <p:nvPr/>
        </p:nvSpPr>
        <p:spPr>
          <a:xfrm>
            <a:off x="698500" y="4927600"/>
            <a:ext cx="10795000" cy="10287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Box 26">
            <a:extLst>
              <a:ext uri="{FF2B5EF4-FFF2-40B4-BE49-F238E27FC236}">
                <a16:creationId xmlns:a16="http://schemas.microsoft.com/office/drawing/2014/main" id="{87E306FF-A9BD-0735-B078-0D0A7FAE0C1C}"/>
              </a:ext>
            </a:extLst>
          </p:cNvPr>
          <p:cNvSpPr txBox="1"/>
          <p:nvPr/>
        </p:nvSpPr>
        <p:spPr>
          <a:xfrm>
            <a:off x="990600" y="5067548"/>
            <a:ext cx="10121900" cy="318036"/>
          </a:xfrm>
          <a:prstGeom prst="rect">
            <a:avLst/>
          </a:prstGeom>
          <a:noFill/>
        </p:spPr>
        <p:txBody>
          <a:bodyPr vert="horz" wrap="square" lIns="38100" tIns="12700" rIns="38100" bIns="12700" rtlCol="0" anchor="ctr">
            <a:spAutoFit/>
          </a:bodyPr>
          <a:lstStyle/>
          <a:p>
            <a:pPr algn="ctr" rtl="1"/>
            <a:r>
              <a:rPr lang="he-IL" sz="1900" b="1">
                <a:solidFill>
                  <a:srgbClr val="0B1F33"/>
                </a:solidFill>
                <a:latin typeface="Arial" panose="020B0604020202020204" pitchFamily="34" charset="0"/>
                <a:sym typeface="David" panose="020E0502060401010101" pitchFamily="34" charset="-79"/>
              </a:rPr>
              <a:t>אותו ייצוג משמש לשתי המשימות באמצעות </a:t>
            </a:r>
            <a:r>
              <a:rPr lang="en-US" sz="1900" b="1">
                <a:solidFill>
                  <a:srgbClr val="0B1F33"/>
                </a:solidFill>
                <a:latin typeface="Arial" panose="020B0604020202020204" pitchFamily="34" charset="0"/>
                <a:sym typeface="David" panose="020E0502060401010101" pitchFamily="34" charset="-79"/>
              </a:rPr>
              <a:t>⁦Multi-task head⁩ </a:t>
            </a:r>
            <a:r>
              <a:rPr lang="he-IL" sz="1900" b="1">
                <a:solidFill>
                  <a:srgbClr val="0B1F33"/>
                </a:solidFill>
                <a:latin typeface="Arial" panose="020B0604020202020204" pitchFamily="34" charset="0"/>
                <a:sym typeface="David" panose="020E0502060401010101" pitchFamily="34" charset="-79"/>
              </a:rPr>
              <a:t>וכל משימה מקבלת פלט נפרד.</a:t>
            </a:r>
            <a:endParaRPr lang="en-IL" sz="1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780854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27">
            <a:extLst>
              <a:ext uri="{FF2B5EF4-FFF2-40B4-BE49-F238E27FC236}">
                <a16:creationId xmlns:a16="http://schemas.microsoft.com/office/drawing/2014/main" id="{76C08B5C-648E-B795-BF6A-E2A382D7B25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28">
            <a:extLst>
              <a:ext uri="{FF2B5EF4-FFF2-40B4-BE49-F238E27FC236}">
                <a16:creationId xmlns:a16="http://schemas.microsoft.com/office/drawing/2014/main" id="{388B19F7-B8CF-672C-82E4-B05F1672FC8C}"/>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202F8E48-C2D1-AA4D-8429-9A444150B843}"/>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הארכיטקטורה ההיררכית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B57C8975-F51B-543E-74FF-CADE5F1F5C71}"/>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29F1C0D-ED59-242F-4DDB-0822BD115249}"/>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8908978-FD0C-A9A1-6243-14FF805AE925}"/>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08 / 14</a:t>
            </a:r>
          </a:p>
        </p:txBody>
      </p:sp>
      <p:sp>
        <p:nvSpPr>
          <p:cNvPr id="10" name="Shape_129">
            <a:extLst>
              <a:ext uri="{FF2B5EF4-FFF2-40B4-BE49-F238E27FC236}">
                <a16:creationId xmlns:a16="http://schemas.microsoft.com/office/drawing/2014/main" id="{82F8C339-1D05-8704-1DFA-D8F24AF32831}"/>
              </a:ext>
            </a:extLst>
          </p:cNvPr>
          <p:cNvSpPr/>
          <p:nvPr/>
        </p:nvSpPr>
        <p:spPr>
          <a:xfrm>
            <a:off x="9334500" y="1955800"/>
            <a:ext cx="1905000" cy="1676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E57F5968-679C-9CDD-E901-D21D7CD89B59}"/>
              </a:ext>
            </a:extLst>
          </p:cNvPr>
          <p:cNvSpPr txBox="1"/>
          <p:nvPr/>
        </p:nvSpPr>
        <p:spPr>
          <a:xfrm>
            <a:off x="9486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Typed Diff Lines</a:t>
            </a:r>
            <a:endParaRPr lang="en-IL" sz="17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59CB2FDE-AA97-DE8F-148D-6A07D0B1F933}"/>
              </a:ext>
            </a:extLst>
          </p:cNvPr>
          <p:cNvCxnSpPr/>
          <p:nvPr/>
        </p:nvCxnSpPr>
        <p:spPr>
          <a:xfrm flipH="1">
            <a:off x="9296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30">
            <a:extLst>
              <a:ext uri="{FF2B5EF4-FFF2-40B4-BE49-F238E27FC236}">
                <a16:creationId xmlns:a16="http://schemas.microsoft.com/office/drawing/2014/main" id="{A99A93D9-CB17-8D06-8EFB-E8CBBBFE6606}"/>
              </a:ext>
            </a:extLst>
          </p:cNvPr>
          <p:cNvSpPr/>
          <p:nvPr/>
        </p:nvSpPr>
        <p:spPr>
          <a:xfrm>
            <a:off x="7175500" y="1955800"/>
            <a:ext cx="1905000" cy="16764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4870594E-5704-E605-3E89-E48B41CA5E55}"/>
              </a:ext>
            </a:extLst>
          </p:cNvPr>
          <p:cNvSpPr txBox="1"/>
          <p:nvPr/>
        </p:nvSpPr>
        <p:spPr>
          <a:xfrm>
            <a:off x="7327900" y="2304325"/>
            <a:ext cx="1600200" cy="81047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Token Embedding + BiGRU</a:t>
            </a:r>
            <a:endParaRPr lang="en-IL" sz="17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611ABA41-32E9-E2F5-ECC2-E4479EBB75E8}"/>
              </a:ext>
            </a:extLst>
          </p:cNvPr>
          <p:cNvCxnSpPr/>
          <p:nvPr/>
        </p:nvCxnSpPr>
        <p:spPr>
          <a:xfrm flipH="1">
            <a:off x="7137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31">
            <a:extLst>
              <a:ext uri="{FF2B5EF4-FFF2-40B4-BE49-F238E27FC236}">
                <a16:creationId xmlns:a16="http://schemas.microsoft.com/office/drawing/2014/main" id="{BC3D519D-3A29-A600-D894-30B046FE46E9}"/>
              </a:ext>
            </a:extLst>
          </p:cNvPr>
          <p:cNvSpPr/>
          <p:nvPr/>
        </p:nvSpPr>
        <p:spPr>
          <a:xfrm>
            <a:off x="5016500" y="1955800"/>
            <a:ext cx="1905000" cy="16764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C35E9C7A-627F-67DB-FE54-423AEEBEAFB6}"/>
              </a:ext>
            </a:extLst>
          </p:cNvPr>
          <p:cNvSpPr txBox="1"/>
          <p:nvPr/>
        </p:nvSpPr>
        <p:spPr>
          <a:xfrm>
            <a:off x="5168900" y="2288936"/>
            <a:ext cx="16002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Line Vector</a:t>
            </a:r>
            <a:endParaRPr lang="en-IL" sz="1700" b="1">
              <a:solidFill>
                <a:srgbClr val="0B1F33"/>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FBB8B372-1332-DE7C-474B-CF297C81F01A}"/>
              </a:ext>
            </a:extLst>
          </p:cNvPr>
          <p:cNvCxnSpPr/>
          <p:nvPr/>
        </p:nvCxnSpPr>
        <p:spPr>
          <a:xfrm flipH="1">
            <a:off x="4978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Shape_132">
            <a:extLst>
              <a:ext uri="{FF2B5EF4-FFF2-40B4-BE49-F238E27FC236}">
                <a16:creationId xmlns:a16="http://schemas.microsoft.com/office/drawing/2014/main" id="{C2A1593C-E997-7538-EB92-486BECD8E31E}"/>
              </a:ext>
            </a:extLst>
          </p:cNvPr>
          <p:cNvSpPr/>
          <p:nvPr/>
        </p:nvSpPr>
        <p:spPr>
          <a:xfrm>
            <a:off x="2857500" y="1955800"/>
            <a:ext cx="1905000" cy="1676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97D7C435-EDD3-74F9-61B7-93EF8365B3E6}"/>
              </a:ext>
            </a:extLst>
          </p:cNvPr>
          <p:cNvSpPr txBox="1"/>
          <p:nvPr/>
        </p:nvSpPr>
        <p:spPr>
          <a:xfrm>
            <a:off x="3009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Transformer Encoder</a:t>
            </a:r>
            <a:endParaRPr lang="en-IL" sz="1700" b="1">
              <a:solidFill>
                <a:srgbClr val="0B1F33"/>
              </a:solidFill>
              <a:latin typeface="Arial" panose="020B0604020202020204" pitchFamily="34" charset="0"/>
              <a:sym typeface="David" panose="020E0502060401010101" pitchFamily="34" charset="-79"/>
            </a:endParaRPr>
          </a:p>
        </p:txBody>
      </p:sp>
      <p:cxnSp>
        <p:nvCxnSpPr>
          <p:cNvPr id="21" name="Straight Connector 20">
            <a:extLst>
              <a:ext uri="{FF2B5EF4-FFF2-40B4-BE49-F238E27FC236}">
                <a16:creationId xmlns:a16="http://schemas.microsoft.com/office/drawing/2014/main" id="{E06C0221-4A6C-31EE-8BF2-AAA8B3C5F0C1}"/>
              </a:ext>
            </a:extLst>
          </p:cNvPr>
          <p:cNvCxnSpPr/>
          <p:nvPr/>
        </p:nvCxnSpPr>
        <p:spPr>
          <a:xfrm flipH="1">
            <a:off x="2819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2" name="Shape_133">
            <a:extLst>
              <a:ext uri="{FF2B5EF4-FFF2-40B4-BE49-F238E27FC236}">
                <a16:creationId xmlns:a16="http://schemas.microsoft.com/office/drawing/2014/main" id="{4C497EB6-ED07-D012-64FF-EDEE636BB392}"/>
              </a:ext>
            </a:extLst>
          </p:cNvPr>
          <p:cNvSpPr/>
          <p:nvPr/>
        </p:nvSpPr>
        <p:spPr>
          <a:xfrm>
            <a:off x="698500" y="1955800"/>
            <a:ext cx="1905000" cy="16764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E6F75FD4-2128-F3D5-27BA-750FFD615E96}"/>
              </a:ext>
            </a:extLst>
          </p:cNvPr>
          <p:cNvSpPr txBox="1"/>
          <p:nvPr/>
        </p:nvSpPr>
        <p:spPr>
          <a:xfrm>
            <a:off x="850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Intent Head
Hole Head</a:t>
            </a:r>
            <a:endParaRPr lang="en-IL" sz="17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4163C35C-3741-C5B2-6C09-CC6E9F45ECA0}"/>
              </a:ext>
            </a:extLst>
          </p:cNvPr>
          <p:cNvSpPr txBox="1"/>
          <p:nvPr/>
        </p:nvSpPr>
        <p:spPr>
          <a:xfrm>
            <a:off x="9410700" y="3996486"/>
            <a:ext cx="1752600" cy="425758"/>
          </a:xfrm>
          <a:prstGeom prst="rect">
            <a:avLst/>
          </a:prstGeom>
          <a:noFill/>
        </p:spPr>
        <p:txBody>
          <a:bodyPr vert="horz" wrap="square" lIns="38100" tIns="12700" rIns="38100" bIns="12700" rtlCol="0" anchor="ctr">
            <a:spAutoFit/>
          </a:bodyPr>
          <a:lstStyle/>
          <a:p>
            <a:pPr algn="ctr"/>
            <a:r>
              <a:rPr lang="en-US" sz="1300" b="1">
                <a:solidFill>
                  <a:srgbClr val="1F6FEB"/>
                </a:solidFill>
                <a:latin typeface="Arial" panose="020B0604020202020204" pitchFamily="34" charset="0"/>
                <a:sym typeface="David" panose="020E0502060401010101" pitchFamily="34" charset="-79"/>
              </a:rPr>
              <a:t>ADD   DEL   CONTEXT</a:t>
            </a:r>
            <a:endParaRPr lang="en-IL" sz="1300" b="1">
              <a:solidFill>
                <a:srgbClr val="1F6FEB"/>
              </a:solidFill>
              <a:latin typeface="Arial" panose="020B0604020202020204" pitchFamily="34" charset="0"/>
              <a:sym typeface="David" panose="020E0502060401010101" pitchFamily="34" charset="-79"/>
            </a:endParaRPr>
          </a:p>
        </p:txBody>
      </p:sp>
      <p:sp>
        <p:nvSpPr>
          <p:cNvPr id="25" name="Shape_134">
            <a:extLst>
              <a:ext uri="{FF2B5EF4-FFF2-40B4-BE49-F238E27FC236}">
                <a16:creationId xmlns:a16="http://schemas.microsoft.com/office/drawing/2014/main" id="{E440A61C-04B6-1682-353F-135A18A858A3}"/>
              </a:ext>
            </a:extLst>
          </p:cNvPr>
          <p:cNvSpPr/>
          <p:nvPr/>
        </p:nvSpPr>
        <p:spPr>
          <a:xfrm>
            <a:off x="698500" y="4673600"/>
            <a:ext cx="10795000" cy="11557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Box 25">
            <a:extLst>
              <a:ext uri="{FF2B5EF4-FFF2-40B4-BE49-F238E27FC236}">
                <a16:creationId xmlns:a16="http://schemas.microsoft.com/office/drawing/2014/main" id="{17FCEDAE-FB26-6A4D-D284-2840F4008162}"/>
              </a:ext>
            </a:extLst>
          </p:cNvPr>
          <p:cNvSpPr txBox="1"/>
          <p:nvPr/>
        </p:nvSpPr>
        <p:spPr>
          <a:xfrm>
            <a:off x="990600" y="4882053"/>
            <a:ext cx="10121900" cy="333425"/>
          </a:xfrm>
          <a:prstGeom prst="rect">
            <a:avLst/>
          </a:prstGeom>
          <a:noFill/>
        </p:spPr>
        <p:txBody>
          <a:bodyPr vert="horz" wrap="square" lIns="38100" tIns="12700" rIns="38100" bIns="12700" rtlCol="0" anchor="ctr">
            <a:spAutoFit/>
          </a:bodyPr>
          <a:lstStyle/>
          <a:p>
            <a:pPr algn="ctr" rtl="1"/>
            <a:r>
              <a:rPr lang="he-IL" sz="2000" b="1">
                <a:solidFill>
                  <a:srgbClr val="0B1F33"/>
                </a:solidFill>
                <a:latin typeface="Arial" panose="020B0604020202020204" pitchFamily="34" charset="0"/>
                <a:sym typeface="David" panose="020E0502060401010101" pitchFamily="34" charset="-79"/>
              </a:rPr>
              <a:t>הייצוג </a:t>
            </a:r>
            <a:r>
              <a:rPr lang="en-US" sz="2000" b="1">
                <a:solidFill>
                  <a:srgbClr val="0B1F33"/>
                </a:solidFill>
                <a:latin typeface="Arial" panose="020B0604020202020204" pitchFamily="34" charset="0"/>
                <a:sym typeface="David" panose="020E0502060401010101" pitchFamily="34" charset="-79"/>
              </a:rPr>
              <a:t>⁦line-type embedding⁩ </a:t>
            </a:r>
            <a:r>
              <a:rPr lang="he-IL" sz="2000" b="1">
                <a:solidFill>
                  <a:srgbClr val="0B1F33"/>
                </a:solidFill>
                <a:latin typeface="Arial" panose="020B0604020202020204" pitchFamily="34" charset="0"/>
                <a:sym typeface="David" panose="020E0502060401010101" pitchFamily="34" charset="-79"/>
              </a:rPr>
              <a:t>מוסיף מידע מפורש על תפקיד כל שורה בתוך השינוי.</a:t>
            </a:r>
            <a:endParaRPr lang="en-IL" sz="20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918474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35">
            <a:extLst>
              <a:ext uri="{FF2B5EF4-FFF2-40B4-BE49-F238E27FC236}">
                <a16:creationId xmlns:a16="http://schemas.microsoft.com/office/drawing/2014/main" id="{902C076A-FC82-29D8-9B3C-82275A458AA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36">
            <a:extLst>
              <a:ext uri="{FF2B5EF4-FFF2-40B4-BE49-F238E27FC236}">
                <a16:creationId xmlns:a16="http://schemas.microsoft.com/office/drawing/2014/main" id="{58C80EB5-45C9-A5BA-74A5-9D6BB130891B}"/>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59D82B05-6E22-97CD-78C9-62709E54124D}"/>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סיווג המטרה: המודל הפשוט ניצח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1F914C82-02A3-4B6D-A4DF-74C84130D8FC}"/>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DA5AA4F2-3AEB-D687-097B-FF441A7E66E5}"/>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5F38E7C-A926-E8EE-61BC-B04BC19F3B51}"/>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09 / 14</a:t>
            </a:r>
          </a:p>
        </p:txBody>
      </p:sp>
      <p:pic>
        <p:nvPicPr>
          <p:cNvPr id="11" name="Picture 10">
            <a:extLst>
              <a:ext uri="{FF2B5EF4-FFF2-40B4-BE49-F238E27FC236}">
                <a16:creationId xmlns:a16="http://schemas.microsoft.com/office/drawing/2014/main" id="{1D49FF7D-AFD2-7B7B-C62D-E3986E5A5362}"/>
              </a:ext>
            </a:extLst>
          </p:cNvPr>
          <p:cNvPicPr>
            <a:picLocks/>
          </p:cNvPicPr>
          <p:nvPr/>
        </p:nvPicPr>
        <p:blipFill>
          <a:blip r:embed="rId3"/>
          <a:stretch>
            <a:fillRect/>
          </a:stretch>
        </p:blipFill>
        <p:spPr>
          <a:xfrm>
            <a:off x="609600" y="1625600"/>
            <a:ext cx="7239000" cy="4241800"/>
          </a:xfrm>
          <a:prstGeom prst="rect">
            <a:avLst/>
          </a:prstGeom>
        </p:spPr>
      </p:pic>
      <p:sp>
        <p:nvSpPr>
          <p:cNvPr id="12" name="Shape_137">
            <a:extLst>
              <a:ext uri="{FF2B5EF4-FFF2-40B4-BE49-F238E27FC236}">
                <a16:creationId xmlns:a16="http://schemas.microsoft.com/office/drawing/2014/main" id="{5D167D94-E23F-B8DA-9A7E-B5A3FFBDEAF3}"/>
              </a:ext>
            </a:extLst>
          </p:cNvPr>
          <p:cNvSpPr/>
          <p:nvPr/>
        </p:nvSpPr>
        <p:spPr>
          <a:xfrm>
            <a:off x="8343900" y="1739900"/>
            <a:ext cx="31496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138">
            <a:extLst>
              <a:ext uri="{FF2B5EF4-FFF2-40B4-BE49-F238E27FC236}">
                <a16:creationId xmlns:a16="http://schemas.microsoft.com/office/drawing/2014/main" id="{D9A0D345-1A33-D055-5E74-08D80F40B68A}"/>
              </a:ext>
            </a:extLst>
          </p:cNvPr>
          <p:cNvSpPr/>
          <p:nvPr/>
        </p:nvSpPr>
        <p:spPr>
          <a:xfrm>
            <a:off x="11404600" y="17399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9B9BA4ED-437C-E845-448F-E0BAEEFD9D3B}"/>
              </a:ext>
            </a:extLst>
          </p:cNvPr>
          <p:cNvSpPr txBox="1"/>
          <p:nvPr/>
        </p:nvSpPr>
        <p:spPr>
          <a:xfrm>
            <a:off x="8547100" y="1820609"/>
            <a:ext cx="27051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0.4197</a:t>
            </a:r>
          </a:p>
        </p:txBody>
      </p:sp>
      <p:sp>
        <p:nvSpPr>
          <p:cNvPr id="15" name="TextBox 14">
            <a:extLst>
              <a:ext uri="{FF2B5EF4-FFF2-40B4-BE49-F238E27FC236}">
                <a16:creationId xmlns:a16="http://schemas.microsoft.com/office/drawing/2014/main" id="{9E444249-7204-0768-24FA-A6016D3AEF1D}"/>
              </a:ext>
            </a:extLst>
          </p:cNvPr>
          <p:cNvSpPr txBox="1"/>
          <p:nvPr/>
        </p:nvSpPr>
        <p:spPr>
          <a:xfrm>
            <a:off x="8547100" y="2472114"/>
            <a:ext cx="27051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test Macro-F1</a:t>
            </a:r>
            <a:endParaRPr lang="en-IL" sz="1300">
              <a:solidFill>
                <a:srgbClr val="475467"/>
              </a:solidFill>
              <a:latin typeface="Arial" panose="020B0604020202020204" pitchFamily="34" charset="0"/>
              <a:sym typeface="David" panose="020E0502060401010101" pitchFamily="34" charset="-79"/>
            </a:endParaRPr>
          </a:p>
        </p:txBody>
      </p:sp>
      <p:sp>
        <p:nvSpPr>
          <p:cNvPr id="16" name="TextBox 15">
            <a:extLst>
              <a:ext uri="{FF2B5EF4-FFF2-40B4-BE49-F238E27FC236}">
                <a16:creationId xmlns:a16="http://schemas.microsoft.com/office/drawing/2014/main" id="{CA4E7DD2-781E-C785-E41F-5CF9873EC3D9}"/>
              </a:ext>
            </a:extLst>
          </p:cNvPr>
          <p:cNvSpPr txBox="1"/>
          <p:nvPr/>
        </p:nvSpPr>
        <p:spPr>
          <a:xfrm>
            <a:off x="8343900" y="2892787"/>
            <a:ext cx="3149600" cy="1256754"/>
          </a:xfrm>
          <a:prstGeom prst="rect">
            <a:avLst/>
          </a:prstGeom>
          <a:noFill/>
        </p:spPr>
        <p:txBody>
          <a:bodyPr vert="horz" wrap="square" lIns="38100" tIns="12700" rIns="38100" bIns="12700" rtlCol="0" anchor="ctr">
            <a:spAutoFit/>
          </a:bodyPr>
          <a:lstStyle/>
          <a:p>
            <a:pPr algn="ctr" rtl="1"/>
            <a:r>
              <a:rPr lang="he-IL" sz="2000">
                <a:solidFill>
                  <a:srgbClr val="475467"/>
                </a:solidFill>
                <a:latin typeface="Arial" panose="020B0604020202020204" pitchFamily="34" charset="0"/>
                <a:sym typeface="David" panose="020E0502060401010101" pitchFamily="34" charset="-79"/>
              </a:rPr>
              <a:t>קו הבסיס </a:t>
            </a:r>
            <a:r>
              <a:rPr lang="en-US" sz="2000">
                <a:solidFill>
                  <a:srgbClr val="475467"/>
                </a:solidFill>
                <a:latin typeface="Arial" panose="020B0604020202020204" pitchFamily="34" charset="0"/>
                <a:sym typeface="David" panose="020E0502060401010101" pitchFamily="34" charset="-79"/>
              </a:rPr>
              <a:t>⁦TF-IDF⁩ </a:t>
            </a:r>
            <a:r>
              <a:rPr lang="he-IL" sz="2000">
                <a:solidFill>
                  <a:srgbClr val="475467"/>
                </a:solidFill>
                <a:latin typeface="Arial" panose="020B0604020202020204" pitchFamily="34" charset="0"/>
                <a:sym typeface="David" panose="020E0502060401010101" pitchFamily="34" charset="-79"/>
              </a:rPr>
              <a:t>השיג את התוצאה הטובה ביותר. האות הלקסיקלי הספיק כדי לעקוף את המודלים העמוקים.</a:t>
            </a:r>
            <a:endParaRPr lang="en-IL" sz="2000">
              <a:solidFill>
                <a:srgbClr val="475467"/>
              </a:solidFill>
              <a:latin typeface="Arial" panose="020B0604020202020204" pitchFamily="34" charset="0"/>
              <a:sym typeface="David" panose="020E0502060401010101" pitchFamily="34" charset="-79"/>
            </a:endParaRPr>
          </a:p>
        </p:txBody>
      </p:sp>
      <p:sp>
        <p:nvSpPr>
          <p:cNvPr id="17" name="Shape_139">
            <a:extLst>
              <a:ext uri="{FF2B5EF4-FFF2-40B4-BE49-F238E27FC236}">
                <a16:creationId xmlns:a16="http://schemas.microsoft.com/office/drawing/2014/main" id="{1720C9B9-A952-34AF-7285-5D9B527A9B99}"/>
              </a:ext>
            </a:extLst>
          </p:cNvPr>
          <p:cNvSpPr/>
          <p:nvPr/>
        </p:nvSpPr>
        <p:spPr>
          <a:xfrm>
            <a:off x="8343900" y="5270500"/>
            <a:ext cx="3149600" cy="5969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Box 17">
            <a:extLst>
              <a:ext uri="{FF2B5EF4-FFF2-40B4-BE49-F238E27FC236}">
                <a16:creationId xmlns:a16="http://schemas.microsoft.com/office/drawing/2014/main" id="{590E3053-9816-CAD5-C7DB-F6F6C236F46E}"/>
              </a:ext>
            </a:extLst>
          </p:cNvPr>
          <p:cNvSpPr txBox="1"/>
          <p:nvPr/>
        </p:nvSpPr>
        <p:spPr>
          <a:xfrm>
            <a:off x="8559800" y="5461619"/>
            <a:ext cx="27305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refactor_cleanup</a:t>
            </a:r>
            <a:endParaRPr lang="en-IL" sz="1400" b="1">
              <a:solidFill>
                <a:srgbClr val="F59E0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17451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40">
            <a:extLst>
              <a:ext uri="{FF2B5EF4-FFF2-40B4-BE49-F238E27FC236}">
                <a16:creationId xmlns:a16="http://schemas.microsoft.com/office/drawing/2014/main" id="{16207BEA-B66D-61D2-4914-D301A0B0528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41">
            <a:extLst>
              <a:ext uri="{FF2B5EF4-FFF2-40B4-BE49-F238E27FC236}">
                <a16:creationId xmlns:a16="http://schemas.microsoft.com/office/drawing/2014/main" id="{B50BD0CC-3018-5101-A84E-CD9FDE10E4C5}"/>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6BEB02E3-2113-C5C8-BBAA-CE9FFED46B0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בדיקת בקרה חושפת דליפה</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E563909E-CBE3-7BFD-D900-CACDEF072FDE}"/>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6B789785-1CE0-7D6D-CB33-95D41B4F0AEA}"/>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CC28F3A-35E5-17BD-256A-741D37888345}"/>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10 / 14</a:t>
            </a:r>
          </a:p>
        </p:txBody>
      </p:sp>
      <p:sp>
        <p:nvSpPr>
          <p:cNvPr id="10" name="Shape_142">
            <a:extLst>
              <a:ext uri="{FF2B5EF4-FFF2-40B4-BE49-F238E27FC236}">
                <a16:creationId xmlns:a16="http://schemas.microsoft.com/office/drawing/2014/main" id="{95ED6694-9165-F6B8-FF67-D04D2CECBC7C}"/>
              </a:ext>
            </a:extLst>
          </p:cNvPr>
          <p:cNvSpPr/>
          <p:nvPr/>
        </p:nvSpPr>
        <p:spPr>
          <a:xfrm>
            <a:off x="7747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54904A56-1500-2375-4D0F-BDE622B0E000}"/>
              </a:ext>
            </a:extLst>
          </p:cNvPr>
          <p:cNvSpPr txBox="1"/>
          <p:nvPr/>
        </p:nvSpPr>
        <p:spPr>
          <a:xfrm>
            <a:off x="7975600" y="2316653"/>
            <a:ext cx="2463800" cy="333425"/>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commit message</a:t>
            </a:r>
            <a:endParaRPr lang="en-IL" sz="20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F92D199E-94FC-8DC7-D367-20D8D1963C55}"/>
              </a:ext>
            </a:extLst>
          </p:cNvPr>
          <p:cNvCxnSpPr/>
          <p:nvPr/>
        </p:nvCxnSpPr>
        <p:spPr>
          <a:xfrm flipH="1">
            <a:off x="7620000" y="2565400"/>
            <a:ext cx="254000" cy="0"/>
          </a:xfrm>
          <a:prstGeom prst="line">
            <a:avLst/>
          </a:prstGeom>
          <a:ln w="38100">
            <a:solidFill>
              <a:srgbClr val="DC4C64"/>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43">
            <a:extLst>
              <a:ext uri="{FF2B5EF4-FFF2-40B4-BE49-F238E27FC236}">
                <a16:creationId xmlns:a16="http://schemas.microsoft.com/office/drawing/2014/main" id="{7861CC08-4688-85FB-B023-485F8D3DFF1F}"/>
              </a:ext>
            </a:extLst>
          </p:cNvPr>
          <p:cNvSpPr/>
          <p:nvPr/>
        </p:nvSpPr>
        <p:spPr>
          <a:xfrm>
            <a:off x="4318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02B68AE2-4EDB-3D59-9C76-67ED8A90D06E}"/>
              </a:ext>
            </a:extLst>
          </p:cNvPr>
          <p:cNvSpPr txBox="1"/>
          <p:nvPr/>
        </p:nvSpPr>
        <p:spPr>
          <a:xfrm>
            <a:off x="4546600" y="2316653"/>
            <a:ext cx="2463800" cy="333425"/>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weak label</a:t>
            </a:r>
            <a:endParaRPr lang="en-IL" sz="20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BEF921A5-53D2-D2B8-E679-BFF04F850031}"/>
              </a:ext>
            </a:extLst>
          </p:cNvPr>
          <p:cNvCxnSpPr/>
          <p:nvPr/>
        </p:nvCxnSpPr>
        <p:spPr>
          <a:xfrm flipH="1">
            <a:off x="4191000" y="2565400"/>
            <a:ext cx="254000" cy="0"/>
          </a:xfrm>
          <a:prstGeom prst="line">
            <a:avLst/>
          </a:prstGeom>
          <a:ln w="38100">
            <a:solidFill>
              <a:srgbClr val="DC4C64"/>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44">
            <a:extLst>
              <a:ext uri="{FF2B5EF4-FFF2-40B4-BE49-F238E27FC236}">
                <a16:creationId xmlns:a16="http://schemas.microsoft.com/office/drawing/2014/main" id="{B027F3E0-CA97-17A5-C2B5-F3683D303A19}"/>
              </a:ext>
            </a:extLst>
          </p:cNvPr>
          <p:cNvSpPr/>
          <p:nvPr/>
        </p:nvSpPr>
        <p:spPr>
          <a:xfrm>
            <a:off x="889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3DDB7F9E-F788-D492-57D2-2F0530773587}"/>
              </a:ext>
            </a:extLst>
          </p:cNvPr>
          <p:cNvSpPr txBox="1"/>
          <p:nvPr/>
        </p:nvSpPr>
        <p:spPr>
          <a:xfrm>
            <a:off x="1117600" y="2162765"/>
            <a:ext cx="2463800" cy="641201"/>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message-only model</a:t>
            </a:r>
            <a:endParaRPr lang="en-IL" sz="2000" b="1">
              <a:solidFill>
                <a:srgbClr val="0B1F33"/>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BB1B4B64-A5F6-404B-2D79-5BFDC7405DEF}"/>
              </a:ext>
            </a:extLst>
          </p:cNvPr>
          <p:cNvSpPr txBox="1"/>
          <p:nvPr/>
        </p:nvSpPr>
        <p:spPr>
          <a:xfrm>
            <a:off x="4279900" y="3485510"/>
            <a:ext cx="3683000" cy="764312"/>
          </a:xfrm>
          <a:prstGeom prst="rect">
            <a:avLst/>
          </a:prstGeom>
          <a:noFill/>
        </p:spPr>
        <p:txBody>
          <a:bodyPr vert="horz" wrap="square" lIns="38100" tIns="12700" rIns="38100" bIns="12700" rtlCol="0" anchor="ctr">
            <a:spAutoFit/>
          </a:bodyPr>
          <a:lstStyle/>
          <a:p>
            <a:pPr algn="ctr"/>
            <a:r>
              <a:rPr lang="en-IL" sz="4800" b="1">
                <a:solidFill>
                  <a:srgbClr val="DC4C64"/>
                </a:solidFill>
                <a:latin typeface="Arial" panose="020B0604020202020204" pitchFamily="34" charset="0"/>
                <a:sym typeface="David" panose="020E0502060401010101" pitchFamily="34" charset="-79"/>
              </a:rPr>
              <a:t>0.9855</a:t>
            </a:r>
          </a:p>
        </p:txBody>
      </p:sp>
      <p:sp>
        <p:nvSpPr>
          <p:cNvPr id="19" name="TextBox 18">
            <a:extLst>
              <a:ext uri="{FF2B5EF4-FFF2-40B4-BE49-F238E27FC236}">
                <a16:creationId xmlns:a16="http://schemas.microsoft.com/office/drawing/2014/main" id="{F066B59F-993E-C166-24E5-1C80743749BF}"/>
              </a:ext>
            </a:extLst>
          </p:cNvPr>
          <p:cNvSpPr txBox="1"/>
          <p:nvPr/>
        </p:nvSpPr>
        <p:spPr>
          <a:xfrm>
            <a:off x="5054600" y="4587636"/>
            <a:ext cx="2133600" cy="287258"/>
          </a:xfrm>
          <a:prstGeom prst="rect">
            <a:avLst/>
          </a:prstGeom>
          <a:noFill/>
        </p:spPr>
        <p:txBody>
          <a:bodyPr vert="horz" wrap="square" lIns="38100" tIns="12700" rIns="38100" bIns="12700" rtlCol="0" anchor="ctr">
            <a:spAutoFit/>
          </a:bodyPr>
          <a:lstStyle/>
          <a:p>
            <a:pPr algn="ctr"/>
            <a:r>
              <a:rPr lang="en-US" sz="1700" b="1">
                <a:solidFill>
                  <a:srgbClr val="475467"/>
                </a:solidFill>
                <a:latin typeface="Arial" panose="020B0604020202020204" pitchFamily="34" charset="0"/>
                <a:sym typeface="David" panose="020E0502060401010101" pitchFamily="34" charset="-79"/>
              </a:rPr>
              <a:t>Macro-F1</a:t>
            </a:r>
            <a:endParaRPr lang="en-IL" sz="1700" b="1">
              <a:solidFill>
                <a:srgbClr val="475467"/>
              </a:solidFill>
              <a:latin typeface="Arial" panose="020B0604020202020204" pitchFamily="34" charset="0"/>
              <a:sym typeface="David" panose="020E0502060401010101" pitchFamily="34" charset="-79"/>
            </a:endParaRPr>
          </a:p>
        </p:txBody>
      </p:sp>
      <p:sp>
        <p:nvSpPr>
          <p:cNvPr id="20" name="Shape_145">
            <a:extLst>
              <a:ext uri="{FF2B5EF4-FFF2-40B4-BE49-F238E27FC236}">
                <a16:creationId xmlns:a16="http://schemas.microsoft.com/office/drawing/2014/main" id="{71E4F3D2-EB1C-2D6E-0728-91A65DFCF399}"/>
              </a:ext>
            </a:extLst>
          </p:cNvPr>
          <p:cNvSpPr/>
          <p:nvPr/>
        </p:nvSpPr>
        <p:spPr>
          <a:xfrm>
            <a:off x="889000" y="5295900"/>
            <a:ext cx="9779000" cy="7493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Box 20">
            <a:extLst>
              <a:ext uri="{FF2B5EF4-FFF2-40B4-BE49-F238E27FC236}">
                <a16:creationId xmlns:a16="http://schemas.microsoft.com/office/drawing/2014/main" id="{36680AFD-D994-AA6E-CF9E-46181320F5F6}"/>
              </a:ext>
            </a:extLst>
          </p:cNvPr>
          <p:cNvSpPr txBox="1"/>
          <p:nvPr/>
        </p:nvSpPr>
        <p:spPr>
          <a:xfrm>
            <a:off x="1206500" y="5440853"/>
            <a:ext cx="9144000" cy="333425"/>
          </a:xfrm>
          <a:prstGeom prst="rect">
            <a:avLst/>
          </a:prstGeom>
          <a:noFill/>
        </p:spPr>
        <p:txBody>
          <a:bodyPr vert="horz" wrap="square" lIns="38100" tIns="12700" rIns="38100" bIns="12700" rtlCol="0" anchor="ctr">
            <a:spAutoFit/>
          </a:bodyPr>
          <a:lstStyle/>
          <a:p>
            <a:pPr algn="ctr" rtl="1"/>
            <a:r>
              <a:rPr lang="he-IL" sz="2000" b="1">
                <a:solidFill>
                  <a:srgbClr val="0B1F33"/>
                </a:solidFill>
                <a:latin typeface="Arial" panose="020B0604020202020204" pitchFamily="34" charset="0"/>
                <a:sym typeface="David" panose="020E0502060401010101" pitchFamily="34" charset="-79"/>
              </a:rPr>
              <a:t>המדד כמעט משחזר את מנגנון התיוג, ולכן אינו הוכחה להבנת קוד טהורה.</a:t>
            </a:r>
            <a:endParaRPr lang="en-IL" sz="20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948929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46">
            <a:extLst>
              <a:ext uri="{FF2B5EF4-FFF2-40B4-BE49-F238E27FC236}">
                <a16:creationId xmlns:a16="http://schemas.microsoft.com/office/drawing/2014/main" id="{7E5BE48B-A4BE-0622-1736-D877DC554296}"/>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47">
            <a:extLst>
              <a:ext uri="{FF2B5EF4-FFF2-40B4-BE49-F238E27FC236}">
                <a16:creationId xmlns:a16="http://schemas.microsoft.com/office/drawing/2014/main" id="{1F05BB0E-DB21-28C2-9D44-AC7BA9B0512C}"/>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745965D0-4754-D244-C687-6342EAD56BD5}"/>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זיהוי חוסר: המבנה ההיררכי ניצח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5266EF35-3146-9722-C7FE-FF5C04710AFD}"/>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E4C7900E-823F-D7D8-B330-19A865FE284E}"/>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440E2EC-A391-2DA6-0EFA-4FBA89DCF94A}"/>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11 / 14</a:t>
            </a:r>
          </a:p>
        </p:txBody>
      </p:sp>
      <p:sp>
        <p:nvSpPr>
          <p:cNvPr id="10" name="Shape_148">
            <a:extLst>
              <a:ext uri="{FF2B5EF4-FFF2-40B4-BE49-F238E27FC236}">
                <a16:creationId xmlns:a16="http://schemas.microsoft.com/office/drawing/2014/main" id="{CAFC5577-BDD4-7800-1498-FEBEC2C1249A}"/>
              </a:ext>
            </a:extLst>
          </p:cNvPr>
          <p:cNvSpPr/>
          <p:nvPr/>
        </p:nvSpPr>
        <p:spPr>
          <a:xfrm>
            <a:off x="8191500" y="1320800"/>
            <a:ext cx="33020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149">
            <a:extLst>
              <a:ext uri="{FF2B5EF4-FFF2-40B4-BE49-F238E27FC236}">
                <a16:creationId xmlns:a16="http://schemas.microsoft.com/office/drawing/2014/main" id="{17BE5142-99B4-D117-8089-9F166C5805EA}"/>
              </a:ext>
            </a:extLst>
          </p:cNvPr>
          <p:cNvSpPr/>
          <p:nvPr/>
        </p:nvSpPr>
        <p:spPr>
          <a:xfrm>
            <a:off x="11404600" y="13208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CFCE4B58-969C-F794-EA36-B654C990B863}"/>
              </a:ext>
            </a:extLst>
          </p:cNvPr>
          <p:cNvSpPr txBox="1"/>
          <p:nvPr/>
        </p:nvSpPr>
        <p:spPr>
          <a:xfrm>
            <a:off x="83947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0.6029</a:t>
            </a:r>
          </a:p>
        </p:txBody>
      </p:sp>
      <p:sp>
        <p:nvSpPr>
          <p:cNvPr id="13" name="TextBox 12">
            <a:extLst>
              <a:ext uri="{FF2B5EF4-FFF2-40B4-BE49-F238E27FC236}">
                <a16:creationId xmlns:a16="http://schemas.microsoft.com/office/drawing/2014/main" id="{DDA12FF9-200C-F264-DD62-891532C08777}"/>
              </a:ext>
            </a:extLst>
          </p:cNvPr>
          <p:cNvSpPr txBox="1"/>
          <p:nvPr/>
        </p:nvSpPr>
        <p:spPr>
          <a:xfrm>
            <a:off x="83947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4" name="Shape_150">
            <a:extLst>
              <a:ext uri="{FF2B5EF4-FFF2-40B4-BE49-F238E27FC236}">
                <a16:creationId xmlns:a16="http://schemas.microsoft.com/office/drawing/2014/main" id="{E2885C2F-3BBE-AD85-65EF-10F3D60ABE1A}"/>
              </a:ext>
            </a:extLst>
          </p:cNvPr>
          <p:cNvSpPr/>
          <p:nvPr/>
        </p:nvSpPr>
        <p:spPr>
          <a:xfrm>
            <a:off x="4445000" y="1320800"/>
            <a:ext cx="33020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151">
            <a:extLst>
              <a:ext uri="{FF2B5EF4-FFF2-40B4-BE49-F238E27FC236}">
                <a16:creationId xmlns:a16="http://schemas.microsoft.com/office/drawing/2014/main" id="{7BA0935B-F5AD-3503-8EA2-0E0C2E1CDFA2}"/>
              </a:ext>
            </a:extLst>
          </p:cNvPr>
          <p:cNvSpPr/>
          <p:nvPr/>
        </p:nvSpPr>
        <p:spPr>
          <a:xfrm>
            <a:off x="7658100" y="13208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658AC5CA-C962-96F9-C98A-097B346D92C5}"/>
              </a:ext>
            </a:extLst>
          </p:cNvPr>
          <p:cNvSpPr txBox="1"/>
          <p:nvPr/>
        </p:nvSpPr>
        <p:spPr>
          <a:xfrm>
            <a:off x="46482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0.7352</a:t>
            </a:r>
          </a:p>
        </p:txBody>
      </p:sp>
      <p:sp>
        <p:nvSpPr>
          <p:cNvPr id="17" name="TextBox 16">
            <a:extLst>
              <a:ext uri="{FF2B5EF4-FFF2-40B4-BE49-F238E27FC236}">
                <a16:creationId xmlns:a16="http://schemas.microsoft.com/office/drawing/2014/main" id="{D50CF353-F2A6-08A6-9900-2051957653D5}"/>
              </a:ext>
            </a:extLst>
          </p:cNvPr>
          <p:cNvSpPr txBox="1"/>
          <p:nvPr/>
        </p:nvSpPr>
        <p:spPr>
          <a:xfrm>
            <a:off x="46482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AUROC</a:t>
            </a:r>
            <a:endParaRPr lang="en-IL" sz="1300">
              <a:solidFill>
                <a:srgbClr val="475467"/>
              </a:solidFill>
              <a:latin typeface="Arial" panose="020B0604020202020204" pitchFamily="34" charset="0"/>
              <a:sym typeface="David" panose="020E0502060401010101" pitchFamily="34" charset="-79"/>
            </a:endParaRPr>
          </a:p>
        </p:txBody>
      </p:sp>
      <p:sp>
        <p:nvSpPr>
          <p:cNvPr id="18" name="Shape_152">
            <a:extLst>
              <a:ext uri="{FF2B5EF4-FFF2-40B4-BE49-F238E27FC236}">
                <a16:creationId xmlns:a16="http://schemas.microsoft.com/office/drawing/2014/main" id="{E6EE504D-E046-B0F8-5B68-00BB1E066EE2}"/>
              </a:ext>
            </a:extLst>
          </p:cNvPr>
          <p:cNvSpPr/>
          <p:nvPr/>
        </p:nvSpPr>
        <p:spPr>
          <a:xfrm>
            <a:off x="698500" y="1320800"/>
            <a:ext cx="33020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Shape_153">
            <a:extLst>
              <a:ext uri="{FF2B5EF4-FFF2-40B4-BE49-F238E27FC236}">
                <a16:creationId xmlns:a16="http://schemas.microsoft.com/office/drawing/2014/main" id="{083DB6B9-83F5-2CC0-82BC-B586EA65E576}"/>
              </a:ext>
            </a:extLst>
          </p:cNvPr>
          <p:cNvSpPr/>
          <p:nvPr/>
        </p:nvSpPr>
        <p:spPr>
          <a:xfrm>
            <a:off x="3911600" y="13208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621B7E15-64DC-4D7B-A311-6F4C0767D685}"/>
              </a:ext>
            </a:extLst>
          </p:cNvPr>
          <p:cNvSpPr txBox="1"/>
          <p:nvPr/>
        </p:nvSpPr>
        <p:spPr>
          <a:xfrm>
            <a:off x="9017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172 → 81</a:t>
            </a:r>
          </a:p>
        </p:txBody>
      </p:sp>
      <p:sp>
        <p:nvSpPr>
          <p:cNvPr id="21" name="TextBox 20">
            <a:extLst>
              <a:ext uri="{FF2B5EF4-FFF2-40B4-BE49-F238E27FC236}">
                <a16:creationId xmlns:a16="http://schemas.microsoft.com/office/drawing/2014/main" id="{47B87FD9-8887-D9AE-95FE-70B1803F01BC}"/>
              </a:ext>
            </a:extLst>
          </p:cNvPr>
          <p:cNvSpPr txBox="1"/>
          <p:nvPr/>
        </p:nvSpPr>
        <p:spPr>
          <a:xfrm>
            <a:off x="9017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false positives</a:t>
            </a:r>
            <a:endParaRPr lang="en-IL" sz="1300">
              <a:solidFill>
                <a:srgbClr val="475467"/>
              </a:solidFill>
              <a:latin typeface="Arial" panose="020B0604020202020204" pitchFamily="34" charset="0"/>
              <a:sym typeface="David" panose="020E0502060401010101" pitchFamily="34" charset="-79"/>
            </a:endParaRPr>
          </a:p>
        </p:txBody>
      </p:sp>
      <p:pic>
        <p:nvPicPr>
          <p:cNvPr id="23" name="Picture 22">
            <a:extLst>
              <a:ext uri="{FF2B5EF4-FFF2-40B4-BE49-F238E27FC236}">
                <a16:creationId xmlns:a16="http://schemas.microsoft.com/office/drawing/2014/main" id="{138A9FDC-419F-6DC7-1E88-E33192C2A5A9}"/>
              </a:ext>
            </a:extLst>
          </p:cNvPr>
          <p:cNvPicPr>
            <a:picLocks/>
          </p:cNvPicPr>
          <p:nvPr/>
        </p:nvPicPr>
        <p:blipFill>
          <a:blip r:embed="rId3"/>
          <a:stretch>
            <a:fillRect/>
          </a:stretch>
        </p:blipFill>
        <p:spPr>
          <a:xfrm>
            <a:off x="1193800" y="2717800"/>
            <a:ext cx="9804400" cy="3670300"/>
          </a:xfrm>
          <a:prstGeom prst="rect">
            <a:avLst/>
          </a:prstGeom>
        </p:spPr>
      </p:pic>
    </p:spTree>
    <p:extLst>
      <p:ext uri="{BB962C8B-B14F-4D97-AF65-F5344CB8AC3E}">
        <p14:creationId xmlns:p14="http://schemas.microsoft.com/office/powerpoint/2010/main" val="247597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54">
            <a:extLst>
              <a:ext uri="{FF2B5EF4-FFF2-40B4-BE49-F238E27FC236}">
                <a16:creationId xmlns:a16="http://schemas.microsoft.com/office/drawing/2014/main" id="{8E7B6F8A-3BE6-FDA7-2CAC-1249BA2C440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55">
            <a:extLst>
              <a:ext uri="{FF2B5EF4-FFF2-40B4-BE49-F238E27FC236}">
                <a16:creationId xmlns:a16="http://schemas.microsoft.com/office/drawing/2014/main" id="{F72FB0FD-D235-228F-33BC-5C44DACACB41}"/>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E7C0CD9B-0B89-0018-9321-CD0259F13B43}"/>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מידע על סוג השורה הוא רכיב מהותי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5F29302F-73B8-9CC6-EFFC-79432FEB298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6509B6C-A5EC-5155-8351-02FD7FD7E11B}"/>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F9ED805-1A1A-3D53-1588-DE025CD34451}"/>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12 / 14</a:t>
            </a:r>
          </a:p>
        </p:txBody>
      </p:sp>
      <p:sp>
        <p:nvSpPr>
          <p:cNvPr id="10" name="Shape_156">
            <a:extLst>
              <a:ext uri="{FF2B5EF4-FFF2-40B4-BE49-F238E27FC236}">
                <a16:creationId xmlns:a16="http://schemas.microsoft.com/office/drawing/2014/main" id="{7C89F4CB-4A28-3CC5-400F-45EB5B56CAC2}"/>
              </a:ext>
            </a:extLst>
          </p:cNvPr>
          <p:cNvSpPr/>
          <p:nvPr/>
        </p:nvSpPr>
        <p:spPr>
          <a:xfrm>
            <a:off x="1778000" y="1308100"/>
            <a:ext cx="3683000" cy="10922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157">
            <a:extLst>
              <a:ext uri="{FF2B5EF4-FFF2-40B4-BE49-F238E27FC236}">
                <a16:creationId xmlns:a16="http://schemas.microsoft.com/office/drawing/2014/main" id="{65633E36-2DBF-2510-125F-8A87C444AD1B}"/>
              </a:ext>
            </a:extLst>
          </p:cNvPr>
          <p:cNvSpPr/>
          <p:nvPr/>
        </p:nvSpPr>
        <p:spPr>
          <a:xfrm>
            <a:off x="5372100" y="1308100"/>
            <a:ext cx="88900" cy="10922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69CFE323-4E4E-FB24-A779-F51CDFC84FD1}"/>
              </a:ext>
            </a:extLst>
          </p:cNvPr>
          <p:cNvSpPr txBox="1"/>
          <p:nvPr/>
        </p:nvSpPr>
        <p:spPr>
          <a:xfrm>
            <a:off x="1981200" y="1388809"/>
            <a:ext cx="3238500" cy="487313"/>
          </a:xfrm>
          <a:prstGeom prst="rect">
            <a:avLst/>
          </a:prstGeom>
          <a:noFill/>
        </p:spPr>
        <p:txBody>
          <a:bodyPr vert="horz" wrap="square" lIns="38100" tIns="12700" rIns="38100" bIns="12700" rtlCol="0" anchor="ctr">
            <a:spAutoFit/>
          </a:bodyPr>
          <a:lstStyle/>
          <a:p>
            <a:pPr algn="ctr"/>
            <a:r>
              <a:rPr lang="en-IL" sz="3000" b="1">
                <a:solidFill>
                  <a:srgbClr val="DC4C64"/>
                </a:solidFill>
                <a:latin typeface="Arial" panose="020B0604020202020204" pitchFamily="34" charset="0"/>
                <a:sym typeface="David" panose="020E0502060401010101" pitchFamily="34" charset="-79"/>
              </a:rPr>
              <a:t>−0.1305</a:t>
            </a:r>
          </a:p>
        </p:txBody>
      </p:sp>
      <p:sp>
        <p:nvSpPr>
          <p:cNvPr id="13" name="TextBox 12">
            <a:extLst>
              <a:ext uri="{FF2B5EF4-FFF2-40B4-BE49-F238E27FC236}">
                <a16:creationId xmlns:a16="http://schemas.microsoft.com/office/drawing/2014/main" id="{808A06B9-8017-DE59-7E51-67B43D25312A}"/>
              </a:ext>
            </a:extLst>
          </p:cNvPr>
          <p:cNvSpPr txBox="1"/>
          <p:nvPr/>
        </p:nvSpPr>
        <p:spPr>
          <a:xfrm>
            <a:off x="1981200" y="2040314"/>
            <a:ext cx="3238500" cy="225703"/>
          </a:xfrm>
          <a:prstGeom prst="rect">
            <a:avLst/>
          </a:prstGeom>
          <a:noFill/>
        </p:spPr>
        <p:txBody>
          <a:bodyPr vert="horz" wrap="square" lIns="38100" tIns="12700" rIns="38100" bIns="12700" rtlCol="0" anchor="ctr">
            <a:spAutoFit/>
          </a:bodyPr>
          <a:lstStyle/>
          <a:p>
            <a:pPr algn="ctr"/>
            <a:r>
              <a:rPr lang="el-GR" sz="1300">
                <a:solidFill>
                  <a:srgbClr val="475467"/>
                </a:solidFill>
                <a:latin typeface="Arial" panose="020B0604020202020204" pitchFamily="34" charset="0"/>
                <a:sym typeface="David" panose="020E0502060401010101" pitchFamily="34" charset="-79"/>
              </a:rPr>
              <a:t>Δ </a:t>
            </a: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4" name="Shape_158">
            <a:extLst>
              <a:ext uri="{FF2B5EF4-FFF2-40B4-BE49-F238E27FC236}">
                <a16:creationId xmlns:a16="http://schemas.microsoft.com/office/drawing/2014/main" id="{49A0111E-2C52-03BF-2E41-2DE6EA31A857}"/>
              </a:ext>
            </a:extLst>
          </p:cNvPr>
          <p:cNvSpPr/>
          <p:nvPr/>
        </p:nvSpPr>
        <p:spPr>
          <a:xfrm>
            <a:off x="6731000" y="1308100"/>
            <a:ext cx="3683000" cy="10922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159">
            <a:extLst>
              <a:ext uri="{FF2B5EF4-FFF2-40B4-BE49-F238E27FC236}">
                <a16:creationId xmlns:a16="http://schemas.microsoft.com/office/drawing/2014/main" id="{9E0BE952-29EC-EA36-F418-7E66DCD957D9}"/>
              </a:ext>
            </a:extLst>
          </p:cNvPr>
          <p:cNvSpPr/>
          <p:nvPr/>
        </p:nvSpPr>
        <p:spPr>
          <a:xfrm>
            <a:off x="10325100" y="1308100"/>
            <a:ext cx="88900" cy="10922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0D690F20-86A5-EA4D-D2ED-8B46040A282D}"/>
              </a:ext>
            </a:extLst>
          </p:cNvPr>
          <p:cNvSpPr txBox="1"/>
          <p:nvPr/>
        </p:nvSpPr>
        <p:spPr>
          <a:xfrm>
            <a:off x="6934200" y="1388809"/>
            <a:ext cx="3238500" cy="487313"/>
          </a:xfrm>
          <a:prstGeom prst="rect">
            <a:avLst/>
          </a:prstGeom>
          <a:noFill/>
        </p:spPr>
        <p:txBody>
          <a:bodyPr vert="horz" wrap="square" lIns="38100" tIns="12700" rIns="38100" bIns="12700" rtlCol="0" anchor="ctr">
            <a:spAutoFit/>
          </a:bodyPr>
          <a:lstStyle/>
          <a:p>
            <a:pPr algn="ctr"/>
            <a:r>
              <a:rPr lang="en-IL" sz="3000" b="1">
                <a:solidFill>
                  <a:srgbClr val="DC4C64"/>
                </a:solidFill>
                <a:latin typeface="Arial" panose="020B0604020202020204" pitchFamily="34" charset="0"/>
                <a:sym typeface="David" panose="020E0502060401010101" pitchFamily="34" charset="-79"/>
              </a:rPr>
              <a:t>−0.1058</a:t>
            </a:r>
          </a:p>
        </p:txBody>
      </p:sp>
      <p:sp>
        <p:nvSpPr>
          <p:cNvPr id="17" name="TextBox 16">
            <a:extLst>
              <a:ext uri="{FF2B5EF4-FFF2-40B4-BE49-F238E27FC236}">
                <a16:creationId xmlns:a16="http://schemas.microsoft.com/office/drawing/2014/main" id="{56AFEE2A-BAD4-ECC1-237F-E77C01F0A8E7}"/>
              </a:ext>
            </a:extLst>
          </p:cNvPr>
          <p:cNvSpPr txBox="1"/>
          <p:nvPr/>
        </p:nvSpPr>
        <p:spPr>
          <a:xfrm>
            <a:off x="6934200" y="2040314"/>
            <a:ext cx="3238500" cy="225703"/>
          </a:xfrm>
          <a:prstGeom prst="rect">
            <a:avLst/>
          </a:prstGeom>
          <a:noFill/>
        </p:spPr>
        <p:txBody>
          <a:bodyPr vert="horz" wrap="square" lIns="38100" tIns="12700" rIns="38100" bIns="12700" rtlCol="0" anchor="ctr">
            <a:spAutoFit/>
          </a:bodyPr>
          <a:lstStyle/>
          <a:p>
            <a:pPr algn="ctr"/>
            <a:r>
              <a:rPr lang="el-GR" sz="1300">
                <a:solidFill>
                  <a:srgbClr val="475467"/>
                </a:solidFill>
                <a:latin typeface="Arial" panose="020B0604020202020204" pitchFamily="34" charset="0"/>
                <a:sym typeface="David" panose="020E0502060401010101" pitchFamily="34" charset="-79"/>
              </a:rPr>
              <a:t>Δ </a:t>
            </a:r>
            <a:r>
              <a:rPr lang="en-US" sz="1300">
                <a:solidFill>
                  <a:srgbClr val="475467"/>
                </a:solidFill>
                <a:latin typeface="Arial" panose="020B0604020202020204" pitchFamily="34" charset="0"/>
                <a:sym typeface="David" panose="020E0502060401010101" pitchFamily="34" charset="-79"/>
              </a:rPr>
              <a:t>AUROC</a:t>
            </a:r>
            <a:endParaRPr lang="en-IL" sz="1300">
              <a:solidFill>
                <a:srgbClr val="475467"/>
              </a:solidFill>
              <a:latin typeface="Arial" panose="020B0604020202020204" pitchFamily="34" charset="0"/>
              <a:sym typeface="David" panose="020E0502060401010101" pitchFamily="34" charset="-79"/>
            </a:endParaRPr>
          </a:p>
        </p:txBody>
      </p:sp>
      <p:pic>
        <p:nvPicPr>
          <p:cNvPr id="19" name="Picture 18">
            <a:extLst>
              <a:ext uri="{FF2B5EF4-FFF2-40B4-BE49-F238E27FC236}">
                <a16:creationId xmlns:a16="http://schemas.microsoft.com/office/drawing/2014/main" id="{72A72557-BDE3-623F-5DF3-A49F6CD7FFE7}"/>
              </a:ext>
            </a:extLst>
          </p:cNvPr>
          <p:cNvPicPr>
            <a:picLocks/>
          </p:cNvPicPr>
          <p:nvPr/>
        </p:nvPicPr>
        <p:blipFill>
          <a:blip r:embed="rId3"/>
          <a:stretch>
            <a:fillRect/>
          </a:stretch>
        </p:blipFill>
        <p:spPr>
          <a:xfrm>
            <a:off x="622300" y="2603500"/>
            <a:ext cx="10947400" cy="3771900"/>
          </a:xfrm>
          <a:prstGeom prst="rect">
            <a:avLst/>
          </a:prstGeom>
        </p:spPr>
      </p:pic>
    </p:spTree>
    <p:extLst>
      <p:ext uri="{BB962C8B-B14F-4D97-AF65-F5344CB8AC3E}">
        <p14:creationId xmlns:p14="http://schemas.microsoft.com/office/powerpoint/2010/main" val="2472069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60">
            <a:extLst>
              <a:ext uri="{FF2B5EF4-FFF2-40B4-BE49-F238E27FC236}">
                <a16:creationId xmlns:a16="http://schemas.microsoft.com/office/drawing/2014/main" id="{3D77681C-9E3C-ECC3-156D-197C99070495}"/>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61">
            <a:extLst>
              <a:ext uri="{FF2B5EF4-FFF2-40B4-BE49-F238E27FC236}">
                <a16:creationId xmlns:a16="http://schemas.microsoft.com/office/drawing/2014/main" id="{3F0202C7-6A5D-4CA3-8888-01E1C3EB5882}"/>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ECCB0F49-FFCE-3C0F-D511-C1BFB73808B1}"/>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מה המודל עדיין לא הוכיח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93B264F4-6EFF-A226-6F89-DEC372F25406}"/>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AA4B57DA-5B27-100E-EBE1-941E79321EB3}"/>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37B69A-55CF-E51D-B307-C262E7CBB391}"/>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13 / 14</a:t>
            </a:r>
          </a:p>
        </p:txBody>
      </p:sp>
      <p:sp>
        <p:nvSpPr>
          <p:cNvPr id="10" name="TextBox 9">
            <a:extLst>
              <a:ext uri="{FF2B5EF4-FFF2-40B4-BE49-F238E27FC236}">
                <a16:creationId xmlns:a16="http://schemas.microsoft.com/office/drawing/2014/main" id="{943AE357-3113-E55A-92B4-7E8CBE865743}"/>
              </a:ext>
            </a:extLst>
          </p:cNvPr>
          <p:cNvSpPr txBox="1"/>
          <p:nvPr/>
        </p:nvSpPr>
        <p:spPr>
          <a:xfrm>
            <a:off x="8382000" y="1204888"/>
            <a:ext cx="3111500" cy="702756"/>
          </a:xfrm>
          <a:prstGeom prst="rect">
            <a:avLst/>
          </a:prstGeom>
          <a:noFill/>
        </p:spPr>
        <p:txBody>
          <a:bodyPr vert="horz" wrap="square" lIns="38100" tIns="12700" rIns="38100" bIns="12700" rtlCol="0" anchor="ctr">
            <a:spAutoFit/>
          </a:bodyPr>
          <a:lstStyle/>
          <a:p>
            <a:pPr algn="ctr"/>
            <a:r>
              <a:rPr lang="en-IL" sz="4400" b="1">
                <a:solidFill>
                  <a:srgbClr val="DC4C64"/>
                </a:solidFill>
                <a:latin typeface="Arial" panose="020B0604020202020204" pitchFamily="34" charset="0"/>
                <a:sym typeface="David" panose="020E0502060401010101" pitchFamily="34" charset="-79"/>
              </a:rPr>
              <a:t>82.2%</a:t>
            </a:r>
          </a:p>
        </p:txBody>
      </p:sp>
      <p:sp>
        <p:nvSpPr>
          <p:cNvPr id="11" name="TextBox 10">
            <a:extLst>
              <a:ext uri="{FF2B5EF4-FFF2-40B4-BE49-F238E27FC236}">
                <a16:creationId xmlns:a16="http://schemas.microsoft.com/office/drawing/2014/main" id="{AAD4E56D-A45F-9D60-3A90-2FE82D6A6A10}"/>
              </a:ext>
            </a:extLst>
          </p:cNvPr>
          <p:cNvSpPr txBox="1"/>
          <p:nvPr/>
        </p:nvSpPr>
        <p:spPr>
          <a:xfrm>
            <a:off x="8382000" y="2288936"/>
            <a:ext cx="31115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drop_added_line</a:t>
            </a:r>
            <a:endParaRPr lang="en-IL" sz="1700" b="1">
              <a:solidFill>
                <a:srgbClr val="0B1F33"/>
              </a:solidFill>
              <a:latin typeface="Arial" panose="020B0604020202020204" pitchFamily="34" charset="0"/>
              <a:sym typeface="David" panose="020E0502060401010101" pitchFamily="34" charset="-79"/>
            </a:endParaRPr>
          </a:p>
        </p:txBody>
      </p:sp>
      <p:sp>
        <p:nvSpPr>
          <p:cNvPr id="12" name="Shape_162">
            <a:extLst>
              <a:ext uri="{FF2B5EF4-FFF2-40B4-BE49-F238E27FC236}">
                <a16:creationId xmlns:a16="http://schemas.microsoft.com/office/drawing/2014/main" id="{FE974FF0-76BE-C298-1641-1B33346A4E5A}"/>
              </a:ext>
            </a:extLst>
          </p:cNvPr>
          <p:cNvSpPr/>
          <p:nvPr/>
        </p:nvSpPr>
        <p:spPr>
          <a:xfrm>
            <a:off x="8382000" y="2806700"/>
            <a:ext cx="3111500" cy="3048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163">
            <a:extLst>
              <a:ext uri="{FF2B5EF4-FFF2-40B4-BE49-F238E27FC236}">
                <a16:creationId xmlns:a16="http://schemas.microsoft.com/office/drawing/2014/main" id="{C38B70DA-EFC7-5A21-563D-F6D0655EC05C}"/>
              </a:ext>
            </a:extLst>
          </p:cNvPr>
          <p:cNvSpPr/>
          <p:nvPr/>
        </p:nvSpPr>
        <p:spPr>
          <a:xfrm>
            <a:off x="8940800" y="2806700"/>
            <a:ext cx="2552700" cy="3048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FF9A3AAE-A21D-A216-C4D8-4D8BC6137F97}"/>
              </a:ext>
            </a:extLst>
          </p:cNvPr>
          <p:cNvSpPr txBox="1"/>
          <p:nvPr/>
        </p:nvSpPr>
        <p:spPr>
          <a:xfrm>
            <a:off x="8382000" y="3292608"/>
            <a:ext cx="31115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mutation distribution</a:t>
            </a:r>
            <a:endParaRPr lang="en-IL" sz="1200">
              <a:solidFill>
                <a:srgbClr val="475467"/>
              </a:solidFill>
              <a:latin typeface="Arial" panose="020B0604020202020204" pitchFamily="34" charset="0"/>
              <a:sym typeface="David" panose="020E0502060401010101" pitchFamily="34" charset="-79"/>
            </a:endParaRPr>
          </a:p>
        </p:txBody>
      </p:sp>
      <p:sp>
        <p:nvSpPr>
          <p:cNvPr id="15" name="Shape_164">
            <a:extLst>
              <a:ext uri="{FF2B5EF4-FFF2-40B4-BE49-F238E27FC236}">
                <a16:creationId xmlns:a16="http://schemas.microsoft.com/office/drawing/2014/main" id="{F469B4F1-E3B0-99FF-FE75-FBCAE915770C}"/>
              </a:ext>
            </a:extLst>
          </p:cNvPr>
          <p:cNvSpPr/>
          <p:nvPr/>
        </p:nvSpPr>
        <p:spPr>
          <a:xfrm>
            <a:off x="698500" y="1346200"/>
            <a:ext cx="7112000" cy="12573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5054A7EF-19EB-1130-83B3-9746EA79571A}"/>
              </a:ext>
            </a:extLst>
          </p:cNvPr>
          <p:cNvSpPr txBox="1"/>
          <p:nvPr/>
        </p:nvSpPr>
        <p:spPr>
          <a:xfrm>
            <a:off x="3556000" y="14965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Synthetic Coverage</a:t>
            </a:r>
            <a:endParaRPr lang="en-IL" sz="1600" b="1">
              <a:solidFill>
                <a:srgbClr val="1F6FEB"/>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DF935B1C-3BD0-D9AF-4904-021038825E04}"/>
              </a:ext>
            </a:extLst>
          </p:cNvPr>
          <p:cNvSpPr txBox="1"/>
          <p:nvPr/>
        </p:nvSpPr>
        <p:spPr>
          <a:xfrm>
            <a:off x="965200" y="18621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רוב הדוגמאות נוצרו מהסרת שורה שנוספה.</a:t>
            </a:r>
            <a:endParaRPr lang="en-IL">
              <a:solidFill>
                <a:srgbClr val="0B1F33"/>
              </a:solidFill>
              <a:latin typeface="Arial" panose="020B0604020202020204" pitchFamily="34" charset="0"/>
              <a:sym typeface="David" panose="020E0502060401010101" pitchFamily="34" charset="-79"/>
            </a:endParaRPr>
          </a:p>
        </p:txBody>
      </p:sp>
      <p:sp>
        <p:nvSpPr>
          <p:cNvPr id="18" name="Shape_165">
            <a:extLst>
              <a:ext uri="{FF2B5EF4-FFF2-40B4-BE49-F238E27FC236}">
                <a16:creationId xmlns:a16="http://schemas.microsoft.com/office/drawing/2014/main" id="{CDFF5E12-3D52-FF71-7F8F-81C98C84B49A}"/>
              </a:ext>
            </a:extLst>
          </p:cNvPr>
          <p:cNvSpPr/>
          <p:nvPr/>
        </p:nvSpPr>
        <p:spPr>
          <a:xfrm>
            <a:off x="698500" y="2921000"/>
            <a:ext cx="7112000" cy="12573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Box 18">
            <a:extLst>
              <a:ext uri="{FF2B5EF4-FFF2-40B4-BE49-F238E27FC236}">
                <a16:creationId xmlns:a16="http://schemas.microsoft.com/office/drawing/2014/main" id="{0DB01A6C-C6D3-5DA4-3890-93D5D20903F7}"/>
              </a:ext>
            </a:extLst>
          </p:cNvPr>
          <p:cNvSpPr txBox="1"/>
          <p:nvPr/>
        </p:nvSpPr>
        <p:spPr>
          <a:xfrm>
            <a:off x="3556000" y="30713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Rare Mutations</a:t>
            </a:r>
            <a:endParaRPr lang="en-IL" sz="1600" b="1">
              <a:solidFill>
                <a:srgbClr val="1F6FEB"/>
              </a:solidFill>
              <a:latin typeface="Arial" panose="020B0604020202020204" pitchFamily="34" charset="0"/>
              <a:sym typeface="David" panose="020E0502060401010101" pitchFamily="34" charset="-79"/>
            </a:endParaRPr>
          </a:p>
        </p:txBody>
      </p:sp>
      <p:sp>
        <p:nvSpPr>
          <p:cNvPr id="20" name="TextBox 19">
            <a:extLst>
              <a:ext uri="{FF2B5EF4-FFF2-40B4-BE49-F238E27FC236}">
                <a16:creationId xmlns:a16="http://schemas.microsoft.com/office/drawing/2014/main" id="{B2D0C51A-A301-B3B7-2FDB-9D655F7E85AC}"/>
              </a:ext>
            </a:extLst>
          </p:cNvPr>
          <p:cNvSpPr txBox="1"/>
          <p:nvPr/>
        </p:nvSpPr>
        <p:spPr>
          <a:xfrm>
            <a:off x="965200" y="34369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יש מעט דוגמאות לשינויים סמנטיים עדינים.</a:t>
            </a:r>
            <a:endParaRPr lang="en-IL">
              <a:solidFill>
                <a:srgbClr val="0B1F33"/>
              </a:solidFill>
              <a:latin typeface="Arial" panose="020B0604020202020204" pitchFamily="34" charset="0"/>
              <a:sym typeface="David" panose="020E0502060401010101" pitchFamily="34" charset="-79"/>
            </a:endParaRPr>
          </a:p>
        </p:txBody>
      </p:sp>
      <p:sp>
        <p:nvSpPr>
          <p:cNvPr id="21" name="Shape_166">
            <a:extLst>
              <a:ext uri="{FF2B5EF4-FFF2-40B4-BE49-F238E27FC236}">
                <a16:creationId xmlns:a16="http://schemas.microsoft.com/office/drawing/2014/main" id="{DF7C7BB4-E40D-97D5-C967-3176A9EF2197}"/>
              </a:ext>
            </a:extLst>
          </p:cNvPr>
          <p:cNvSpPr/>
          <p:nvPr/>
        </p:nvSpPr>
        <p:spPr>
          <a:xfrm>
            <a:off x="698500" y="4495800"/>
            <a:ext cx="7112000" cy="12573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Box 21">
            <a:extLst>
              <a:ext uri="{FF2B5EF4-FFF2-40B4-BE49-F238E27FC236}">
                <a16:creationId xmlns:a16="http://schemas.microsoft.com/office/drawing/2014/main" id="{AB19FD52-9AD2-1BA8-EC69-0B2111E9D632}"/>
              </a:ext>
            </a:extLst>
          </p:cNvPr>
          <p:cNvSpPr txBox="1"/>
          <p:nvPr/>
        </p:nvSpPr>
        <p:spPr>
          <a:xfrm>
            <a:off x="3556000" y="46461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External Validity</a:t>
            </a:r>
            <a:endParaRPr lang="en-IL" sz="1600" b="1">
              <a:solidFill>
                <a:srgbClr val="1F6FEB"/>
              </a:solidFill>
              <a:latin typeface="Arial" panose="020B0604020202020204" pitchFamily="34" charset="0"/>
              <a:sym typeface="David" panose="020E0502060401010101" pitchFamily="34" charset="-79"/>
            </a:endParaRPr>
          </a:p>
        </p:txBody>
      </p:sp>
      <p:sp>
        <p:nvSpPr>
          <p:cNvPr id="23" name="TextBox 22">
            <a:extLst>
              <a:ext uri="{FF2B5EF4-FFF2-40B4-BE49-F238E27FC236}">
                <a16:creationId xmlns:a16="http://schemas.microsoft.com/office/drawing/2014/main" id="{B201BC4E-9104-CE3D-DCB6-31D88F1BE2F3}"/>
              </a:ext>
            </a:extLst>
          </p:cNvPr>
          <p:cNvSpPr txBox="1"/>
          <p:nvPr/>
        </p:nvSpPr>
        <p:spPr>
          <a:xfrm>
            <a:off x="965200" y="50117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לא בוצעה הערכה סופית על פרויקט חיצוני.</a:t>
            </a:r>
            <a:endParaRPr lang="en-IL">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1601E5DC-EA4E-594B-D22B-5043D986F6B7}"/>
              </a:ext>
            </a:extLst>
          </p:cNvPr>
          <p:cNvSpPr txBox="1"/>
          <p:nvPr/>
        </p:nvSpPr>
        <p:spPr>
          <a:xfrm>
            <a:off x="8382000" y="4162787"/>
            <a:ext cx="3111500" cy="702756"/>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נדרש סט בדיקה ידני של חוסרים אמיתיים.</a:t>
            </a:r>
            <a:endParaRPr lang="en-IL" sz="22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182848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67">
            <a:extLst>
              <a:ext uri="{FF2B5EF4-FFF2-40B4-BE49-F238E27FC236}">
                <a16:creationId xmlns:a16="http://schemas.microsoft.com/office/drawing/2014/main" id="{E7DEDF17-2DEE-D495-5D70-23D1DAC46B7C}"/>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68">
            <a:extLst>
              <a:ext uri="{FF2B5EF4-FFF2-40B4-BE49-F238E27FC236}">
                <a16:creationId xmlns:a16="http://schemas.microsoft.com/office/drawing/2014/main" id="{04BD2963-6E1E-C5C0-D29A-F8E8506AF19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21D4F8D1-2058-DF6A-0DB4-7D16076F9819}"/>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מסקנות ושאלות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41CA023B-6C24-BA6E-5275-5BE51381C94F}"/>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CFEBD3CB-CA87-13EC-A647-2A1AC552ACA2}"/>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BE9E66E-0985-E2A0-A741-2C16EE4AE88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14 / 14</a:t>
            </a:r>
          </a:p>
        </p:txBody>
      </p:sp>
      <p:sp>
        <p:nvSpPr>
          <p:cNvPr id="10" name="Shape_169">
            <a:extLst>
              <a:ext uri="{FF2B5EF4-FFF2-40B4-BE49-F238E27FC236}">
                <a16:creationId xmlns:a16="http://schemas.microsoft.com/office/drawing/2014/main" id="{735C1124-75A8-C6E9-C948-2D08FA274F27}"/>
              </a:ext>
            </a:extLst>
          </p:cNvPr>
          <p:cNvSpPr/>
          <p:nvPr/>
        </p:nvSpPr>
        <p:spPr>
          <a:xfrm>
            <a:off x="698500" y="1422400"/>
            <a:ext cx="31750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170">
            <a:extLst>
              <a:ext uri="{FF2B5EF4-FFF2-40B4-BE49-F238E27FC236}">
                <a16:creationId xmlns:a16="http://schemas.microsoft.com/office/drawing/2014/main" id="{9533A8C5-4E00-CEBE-53DB-68E149A1F53D}"/>
              </a:ext>
            </a:extLst>
          </p:cNvPr>
          <p:cNvSpPr/>
          <p:nvPr/>
        </p:nvSpPr>
        <p:spPr>
          <a:xfrm>
            <a:off x="3784600" y="14224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6DB21D07-2C84-78D6-C8BD-15ACB6765D1D}"/>
              </a:ext>
            </a:extLst>
          </p:cNvPr>
          <p:cNvSpPr txBox="1"/>
          <p:nvPr/>
        </p:nvSpPr>
        <p:spPr>
          <a:xfrm>
            <a:off x="901700" y="1503109"/>
            <a:ext cx="27305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0.4197</a:t>
            </a:r>
          </a:p>
        </p:txBody>
      </p:sp>
      <p:sp>
        <p:nvSpPr>
          <p:cNvPr id="13" name="TextBox 12">
            <a:extLst>
              <a:ext uri="{FF2B5EF4-FFF2-40B4-BE49-F238E27FC236}">
                <a16:creationId xmlns:a16="http://schemas.microsoft.com/office/drawing/2014/main" id="{49C3C0F5-5AFF-F4FB-FE5C-068AEC4B0F9D}"/>
              </a:ext>
            </a:extLst>
          </p:cNvPr>
          <p:cNvSpPr txBox="1"/>
          <p:nvPr/>
        </p:nvSpPr>
        <p:spPr>
          <a:xfrm>
            <a:off x="901700" y="21546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Intent Macro-F1</a:t>
            </a:r>
            <a:endParaRPr lang="en-IL" sz="1300">
              <a:solidFill>
                <a:srgbClr val="475467"/>
              </a:solidFill>
              <a:latin typeface="Arial" panose="020B0604020202020204" pitchFamily="34" charset="0"/>
              <a:sym typeface="David" panose="020E0502060401010101" pitchFamily="34" charset="-79"/>
            </a:endParaRPr>
          </a:p>
        </p:txBody>
      </p:sp>
      <p:sp>
        <p:nvSpPr>
          <p:cNvPr id="14" name="Shape_171">
            <a:extLst>
              <a:ext uri="{FF2B5EF4-FFF2-40B4-BE49-F238E27FC236}">
                <a16:creationId xmlns:a16="http://schemas.microsoft.com/office/drawing/2014/main" id="{CAE40D21-0698-70D4-B185-C64D037DA712}"/>
              </a:ext>
            </a:extLst>
          </p:cNvPr>
          <p:cNvSpPr/>
          <p:nvPr/>
        </p:nvSpPr>
        <p:spPr>
          <a:xfrm>
            <a:off x="698500" y="2717800"/>
            <a:ext cx="31750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172">
            <a:extLst>
              <a:ext uri="{FF2B5EF4-FFF2-40B4-BE49-F238E27FC236}">
                <a16:creationId xmlns:a16="http://schemas.microsoft.com/office/drawing/2014/main" id="{82EC1D8E-5B8D-53E5-EF5A-1367EA6A1294}"/>
              </a:ext>
            </a:extLst>
          </p:cNvPr>
          <p:cNvSpPr/>
          <p:nvPr/>
        </p:nvSpPr>
        <p:spPr>
          <a:xfrm>
            <a:off x="3784600" y="27178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61545D0F-882A-D10D-8BB9-B801F0571C4B}"/>
              </a:ext>
            </a:extLst>
          </p:cNvPr>
          <p:cNvSpPr txBox="1"/>
          <p:nvPr/>
        </p:nvSpPr>
        <p:spPr>
          <a:xfrm>
            <a:off x="901700" y="2798509"/>
            <a:ext cx="27305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0.6029</a:t>
            </a:r>
          </a:p>
        </p:txBody>
      </p:sp>
      <p:sp>
        <p:nvSpPr>
          <p:cNvPr id="17" name="TextBox 16">
            <a:extLst>
              <a:ext uri="{FF2B5EF4-FFF2-40B4-BE49-F238E27FC236}">
                <a16:creationId xmlns:a16="http://schemas.microsoft.com/office/drawing/2014/main" id="{4188D3F9-076A-0994-FE06-C9A19E0778BE}"/>
              </a:ext>
            </a:extLst>
          </p:cNvPr>
          <p:cNvSpPr txBox="1"/>
          <p:nvPr/>
        </p:nvSpPr>
        <p:spPr>
          <a:xfrm>
            <a:off x="901700" y="34500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8" name="Shape_173">
            <a:extLst>
              <a:ext uri="{FF2B5EF4-FFF2-40B4-BE49-F238E27FC236}">
                <a16:creationId xmlns:a16="http://schemas.microsoft.com/office/drawing/2014/main" id="{F0B08F16-E2A7-D94E-4677-4CD5F74914BE}"/>
              </a:ext>
            </a:extLst>
          </p:cNvPr>
          <p:cNvSpPr/>
          <p:nvPr/>
        </p:nvSpPr>
        <p:spPr>
          <a:xfrm>
            <a:off x="698500" y="4013200"/>
            <a:ext cx="31750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Shape_174">
            <a:extLst>
              <a:ext uri="{FF2B5EF4-FFF2-40B4-BE49-F238E27FC236}">
                <a16:creationId xmlns:a16="http://schemas.microsoft.com/office/drawing/2014/main" id="{695F8389-7BC1-5E0B-F49E-0EA131A27454}"/>
              </a:ext>
            </a:extLst>
          </p:cNvPr>
          <p:cNvSpPr/>
          <p:nvPr/>
        </p:nvSpPr>
        <p:spPr>
          <a:xfrm>
            <a:off x="3784600" y="40132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6E69918A-2CB0-F770-E1D1-963C0D336B84}"/>
              </a:ext>
            </a:extLst>
          </p:cNvPr>
          <p:cNvSpPr txBox="1"/>
          <p:nvPr/>
        </p:nvSpPr>
        <p:spPr>
          <a:xfrm>
            <a:off x="901700" y="4093909"/>
            <a:ext cx="27305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0.7352</a:t>
            </a:r>
          </a:p>
        </p:txBody>
      </p:sp>
      <p:sp>
        <p:nvSpPr>
          <p:cNvPr id="21" name="TextBox 20">
            <a:extLst>
              <a:ext uri="{FF2B5EF4-FFF2-40B4-BE49-F238E27FC236}">
                <a16:creationId xmlns:a16="http://schemas.microsoft.com/office/drawing/2014/main" id="{F5F5EEEA-56B1-D086-9839-7C1AA3A81300}"/>
              </a:ext>
            </a:extLst>
          </p:cNvPr>
          <p:cNvSpPr txBox="1"/>
          <p:nvPr/>
        </p:nvSpPr>
        <p:spPr>
          <a:xfrm>
            <a:off x="901700" y="47454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AUROC</a:t>
            </a:r>
            <a:endParaRPr lang="en-IL" sz="1300">
              <a:solidFill>
                <a:srgbClr val="475467"/>
              </a:solidFill>
              <a:latin typeface="Arial" panose="020B0604020202020204" pitchFamily="34" charset="0"/>
              <a:sym typeface="David" panose="020E0502060401010101" pitchFamily="34" charset="-79"/>
            </a:endParaRPr>
          </a:p>
        </p:txBody>
      </p:sp>
      <p:sp>
        <p:nvSpPr>
          <p:cNvPr id="22" name="TextBox 21">
            <a:extLst>
              <a:ext uri="{FF2B5EF4-FFF2-40B4-BE49-F238E27FC236}">
                <a16:creationId xmlns:a16="http://schemas.microsoft.com/office/drawing/2014/main" id="{E7F17AD5-758E-BF48-445F-5978435A8BF3}"/>
              </a:ext>
            </a:extLst>
          </p:cNvPr>
          <p:cNvSpPr txBox="1"/>
          <p:nvPr/>
        </p:nvSpPr>
        <p:spPr>
          <a:xfrm>
            <a:off x="10617200" y="1376109"/>
            <a:ext cx="6350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1</a:t>
            </a:r>
          </a:p>
        </p:txBody>
      </p:sp>
      <p:sp>
        <p:nvSpPr>
          <p:cNvPr id="23" name="TextBox 22">
            <a:extLst>
              <a:ext uri="{FF2B5EF4-FFF2-40B4-BE49-F238E27FC236}">
                <a16:creationId xmlns:a16="http://schemas.microsoft.com/office/drawing/2014/main" id="{99957158-E2BE-0D4A-CBEC-0CE1DB1E60D3}"/>
              </a:ext>
            </a:extLst>
          </p:cNvPr>
          <p:cNvSpPr txBox="1"/>
          <p:nvPr/>
        </p:nvSpPr>
        <p:spPr>
          <a:xfrm>
            <a:off x="4699000" y="1424965"/>
            <a:ext cx="56642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ייצוג מבנה השינוי חשוב יותר מנפח המודל.</a:t>
            </a:r>
            <a:endParaRPr lang="en-IL" sz="22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AABB8CDC-DBF4-8CF3-F0C0-53C6D0262F20}"/>
              </a:ext>
            </a:extLst>
          </p:cNvPr>
          <p:cNvSpPr txBox="1"/>
          <p:nvPr/>
        </p:nvSpPr>
        <p:spPr>
          <a:xfrm>
            <a:off x="10617200" y="2620709"/>
            <a:ext cx="6350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2</a:t>
            </a:r>
          </a:p>
        </p:txBody>
      </p:sp>
      <p:sp>
        <p:nvSpPr>
          <p:cNvPr id="25" name="TextBox 24">
            <a:extLst>
              <a:ext uri="{FF2B5EF4-FFF2-40B4-BE49-F238E27FC236}">
                <a16:creationId xmlns:a16="http://schemas.microsoft.com/office/drawing/2014/main" id="{ADAC122A-6BC2-10B3-72F5-F9C9FCFD8C3C}"/>
              </a:ext>
            </a:extLst>
          </p:cNvPr>
          <p:cNvSpPr txBox="1"/>
          <p:nvPr/>
        </p:nvSpPr>
        <p:spPr>
          <a:xfrm>
            <a:off x="4699000" y="2654176"/>
            <a:ext cx="5664200" cy="671979"/>
          </a:xfrm>
          <a:prstGeom prst="rect">
            <a:avLst/>
          </a:prstGeom>
          <a:noFill/>
        </p:spPr>
        <p:txBody>
          <a:bodyPr vert="horz" wrap="square" lIns="38100" tIns="12700" rIns="38100" bIns="12700" rtlCol="0" anchor="ctr">
            <a:spAutoFit/>
          </a:bodyPr>
          <a:lstStyle/>
          <a:p>
            <a:pPr algn="ctr" rtl="1"/>
            <a:r>
              <a:rPr lang="he-IL" sz="2100" b="1">
                <a:solidFill>
                  <a:srgbClr val="0B1F33"/>
                </a:solidFill>
                <a:latin typeface="Arial" panose="020B0604020202020204" pitchFamily="34" charset="0"/>
                <a:sym typeface="David" panose="020E0502060401010101" pitchFamily="34" charset="-79"/>
              </a:rPr>
              <a:t>מידע מפורש על סוג השורה מצמצם התראות שווא ומשפר זיהוי חוסר.</a:t>
            </a:r>
            <a:endParaRPr lang="en-IL" sz="2100" b="1">
              <a:solidFill>
                <a:srgbClr val="0B1F33"/>
              </a:solidFill>
              <a:latin typeface="Arial" panose="020B0604020202020204" pitchFamily="34" charset="0"/>
              <a:sym typeface="David" panose="020E0502060401010101" pitchFamily="34" charset="-79"/>
            </a:endParaRPr>
          </a:p>
        </p:txBody>
      </p:sp>
      <p:sp>
        <p:nvSpPr>
          <p:cNvPr id="26" name="TextBox 25">
            <a:extLst>
              <a:ext uri="{FF2B5EF4-FFF2-40B4-BE49-F238E27FC236}">
                <a16:creationId xmlns:a16="http://schemas.microsoft.com/office/drawing/2014/main" id="{4A1E5CDB-07CC-0B62-2C7A-51E8F2ED3150}"/>
              </a:ext>
            </a:extLst>
          </p:cNvPr>
          <p:cNvSpPr txBox="1"/>
          <p:nvPr/>
        </p:nvSpPr>
        <p:spPr>
          <a:xfrm>
            <a:off x="10617200" y="3865309"/>
            <a:ext cx="6350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3</a:t>
            </a:r>
          </a:p>
        </p:txBody>
      </p:sp>
      <p:sp>
        <p:nvSpPr>
          <p:cNvPr id="27" name="TextBox 26">
            <a:extLst>
              <a:ext uri="{FF2B5EF4-FFF2-40B4-BE49-F238E27FC236}">
                <a16:creationId xmlns:a16="http://schemas.microsoft.com/office/drawing/2014/main" id="{7853667E-F18B-5409-7ED6-8419C2BAB006}"/>
              </a:ext>
            </a:extLst>
          </p:cNvPr>
          <p:cNvSpPr txBox="1"/>
          <p:nvPr/>
        </p:nvSpPr>
        <p:spPr>
          <a:xfrm>
            <a:off x="4699000" y="3825265"/>
            <a:ext cx="5664200" cy="641201"/>
          </a:xfrm>
          <a:prstGeom prst="rect">
            <a:avLst/>
          </a:prstGeom>
          <a:noFill/>
        </p:spPr>
        <p:txBody>
          <a:bodyPr vert="horz" wrap="square" lIns="38100" tIns="12700" rIns="38100" bIns="12700" rtlCol="0" anchor="ctr">
            <a:spAutoFit/>
          </a:bodyPr>
          <a:lstStyle/>
          <a:p>
            <a:pPr algn="ctr" rtl="1"/>
            <a:r>
              <a:rPr lang="he-IL" sz="2000" b="1">
                <a:solidFill>
                  <a:srgbClr val="DC4C64"/>
                </a:solidFill>
                <a:latin typeface="Arial" panose="020B0604020202020204" pitchFamily="34" charset="0"/>
                <a:sym typeface="David" panose="020E0502060401010101" pitchFamily="34" charset="-79"/>
              </a:rPr>
              <a:t>מקור התוויות חייב להיות עצמאי. אין להעריך הבנת קוד לפי </a:t>
            </a:r>
            <a:r>
              <a:rPr lang="en-US" sz="2000" b="1">
                <a:solidFill>
                  <a:srgbClr val="DC4C64"/>
                </a:solidFill>
                <a:latin typeface="Arial" panose="020B0604020202020204" pitchFamily="34" charset="0"/>
                <a:sym typeface="David" panose="020E0502060401010101" pitchFamily="34" charset="-79"/>
              </a:rPr>
              <a:t>⁦commit message⁩</a:t>
            </a:r>
            <a:endParaRPr lang="en-IL" sz="2000" b="1">
              <a:solidFill>
                <a:srgbClr val="DC4C64"/>
              </a:solidFill>
              <a:latin typeface="Arial" panose="020B0604020202020204" pitchFamily="34" charset="0"/>
              <a:sym typeface="David" panose="020E0502060401010101" pitchFamily="34" charset="-79"/>
            </a:endParaRPr>
          </a:p>
        </p:txBody>
      </p:sp>
      <p:cxnSp>
        <p:nvCxnSpPr>
          <p:cNvPr id="28" name="Straight Connector 27">
            <a:extLst>
              <a:ext uri="{FF2B5EF4-FFF2-40B4-BE49-F238E27FC236}">
                <a16:creationId xmlns:a16="http://schemas.microsoft.com/office/drawing/2014/main" id="{E4BBEBAB-395A-A916-EC6D-5323E144A7F2}"/>
              </a:ext>
            </a:extLst>
          </p:cNvPr>
          <p:cNvCxnSpPr/>
          <p:nvPr/>
        </p:nvCxnSpPr>
        <p:spPr>
          <a:xfrm>
            <a:off x="698500" y="5651500"/>
            <a:ext cx="107950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FC8186A-F78C-8C97-9E52-DD7C5A57FA86}"/>
              </a:ext>
            </a:extLst>
          </p:cNvPr>
          <p:cNvSpPr txBox="1"/>
          <p:nvPr/>
        </p:nvSpPr>
        <p:spPr>
          <a:xfrm>
            <a:off x="698500" y="5944219"/>
            <a:ext cx="5842000" cy="241092"/>
          </a:xfrm>
          <a:prstGeom prst="rect">
            <a:avLst/>
          </a:prstGeom>
          <a:noFill/>
        </p:spPr>
        <p:txBody>
          <a:bodyPr vert="horz" wrap="square" lIns="38100" tIns="12700" rIns="38100" bIns="12700" rtlCol="0" anchor="ctr">
            <a:spAutoFit/>
          </a:bodyPr>
          <a:lstStyle/>
          <a:p>
            <a:pPr algn="ctr"/>
            <a:r>
              <a:rPr lang="en-US" sz="1400">
                <a:solidFill>
                  <a:srgbClr val="1F6FEB"/>
                </a:solidFill>
                <a:latin typeface="Arial" panose="020B0604020202020204" pitchFamily="34" charset="0"/>
                <a:sym typeface="David" panose="020E0502060401010101" pitchFamily="34" charset="-79"/>
              </a:rPr>
              <a:t>github.com/korrenhannes/diffintent-rtl</a:t>
            </a:r>
            <a:endParaRPr lang="en-IL" sz="1400">
              <a:solidFill>
                <a:srgbClr val="1F6FEB"/>
              </a:solidFill>
              <a:latin typeface="Arial" panose="020B0604020202020204" pitchFamily="34" charset="0"/>
              <a:sym typeface="David" panose="020E0502060401010101" pitchFamily="34" charset="-79"/>
            </a:endParaRPr>
          </a:p>
        </p:txBody>
      </p:sp>
      <p:sp>
        <p:nvSpPr>
          <p:cNvPr id="30" name="TextBox 29">
            <a:extLst>
              <a:ext uri="{FF2B5EF4-FFF2-40B4-BE49-F238E27FC236}">
                <a16:creationId xmlns:a16="http://schemas.microsoft.com/office/drawing/2014/main" id="{6DF350D6-C326-C259-F076-995F25CDE6C7}"/>
              </a:ext>
            </a:extLst>
          </p:cNvPr>
          <p:cNvSpPr txBox="1"/>
          <p:nvPr/>
        </p:nvSpPr>
        <p:spPr>
          <a:xfrm>
            <a:off x="8851900" y="5714504"/>
            <a:ext cx="26416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שאלות?</a:t>
            </a:r>
            <a:endParaRPr lang="en-IL" sz="2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411521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5">
            <a:extLst>
              <a:ext uri="{FF2B5EF4-FFF2-40B4-BE49-F238E27FC236}">
                <a16:creationId xmlns:a16="http://schemas.microsoft.com/office/drawing/2014/main" id="{3E20B487-3523-ED7A-2548-8908179F9D98}"/>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76">
            <a:extLst>
              <a:ext uri="{FF2B5EF4-FFF2-40B4-BE49-F238E27FC236}">
                <a16:creationId xmlns:a16="http://schemas.microsoft.com/office/drawing/2014/main" id="{289CDBAC-7D38-0EB0-BE05-CB71A0A4A52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176A7DC7-170B-A93E-5B77-31636CD88FB6}"/>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מטריצות בלבול</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103A8DCB-9C13-0B66-63A2-5D1600D05D75}"/>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199C99C8-CCEF-0F05-CB8A-FB1F18B683B6}"/>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C0C7A35-9C11-333E-536E-5C9BBA94D8F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A1</a:t>
            </a:r>
            <a:endParaRPr lang="en-IL" sz="110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9313728D-49CA-9950-7BB5-31FFCDECD0D9}"/>
              </a:ext>
            </a:extLst>
          </p:cNvPr>
          <p:cNvPicPr>
            <a:picLocks/>
          </p:cNvPicPr>
          <p:nvPr/>
        </p:nvPicPr>
        <p:blipFill>
          <a:blip r:embed="rId3"/>
          <a:stretch>
            <a:fillRect/>
          </a:stretch>
        </p:blipFill>
        <p:spPr>
          <a:xfrm>
            <a:off x="1270000" y="1600200"/>
            <a:ext cx="4445000" cy="3708400"/>
          </a:xfrm>
          <a:prstGeom prst="rect">
            <a:avLst/>
          </a:prstGeom>
        </p:spPr>
      </p:pic>
      <p:pic>
        <p:nvPicPr>
          <p:cNvPr id="13" name="Picture 12">
            <a:extLst>
              <a:ext uri="{FF2B5EF4-FFF2-40B4-BE49-F238E27FC236}">
                <a16:creationId xmlns:a16="http://schemas.microsoft.com/office/drawing/2014/main" id="{35C4B511-EE20-AB07-AE11-33164B73AF58}"/>
              </a:ext>
            </a:extLst>
          </p:cNvPr>
          <p:cNvPicPr>
            <a:picLocks/>
          </p:cNvPicPr>
          <p:nvPr/>
        </p:nvPicPr>
        <p:blipFill>
          <a:blip r:embed="rId4"/>
          <a:stretch>
            <a:fillRect/>
          </a:stretch>
        </p:blipFill>
        <p:spPr>
          <a:xfrm>
            <a:off x="6477000" y="1600200"/>
            <a:ext cx="4445000" cy="3708400"/>
          </a:xfrm>
          <a:prstGeom prst="rect">
            <a:avLst/>
          </a:prstGeom>
        </p:spPr>
      </p:pic>
    </p:spTree>
    <p:extLst>
      <p:ext uri="{BB962C8B-B14F-4D97-AF65-F5344CB8AC3E}">
        <p14:creationId xmlns:p14="http://schemas.microsoft.com/office/powerpoint/2010/main" val="3747193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7">
            <a:extLst>
              <a:ext uri="{FF2B5EF4-FFF2-40B4-BE49-F238E27FC236}">
                <a16:creationId xmlns:a16="http://schemas.microsoft.com/office/drawing/2014/main" id="{139F5FBC-9270-5EA4-553C-07765BAD1124}"/>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78">
            <a:extLst>
              <a:ext uri="{FF2B5EF4-FFF2-40B4-BE49-F238E27FC236}">
                <a16:creationId xmlns:a16="http://schemas.microsoft.com/office/drawing/2014/main" id="{BC02E11E-58D1-F75A-F43E-949C2B8B8607}"/>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BF35F272-6A84-E6B3-0468-24625391E71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ביצועים לפי סוג שינוי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83CBCD94-5E66-6F26-B679-FB3E53D9ABCE}"/>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108AE996-D155-79B1-7C82-BE16D538F2CD}"/>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2FEAD22-8DD4-0508-3E34-E2960F0FA40F}"/>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A2</a:t>
            </a:r>
            <a:endParaRPr lang="en-IL" sz="110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B4EC5B8C-1860-E87E-DBEA-790B6F1D630A}"/>
              </a:ext>
            </a:extLst>
          </p:cNvPr>
          <p:cNvPicPr>
            <a:picLocks/>
          </p:cNvPicPr>
          <p:nvPr/>
        </p:nvPicPr>
        <p:blipFill>
          <a:blip r:embed="rId3"/>
          <a:stretch>
            <a:fillRect/>
          </a:stretch>
        </p:blipFill>
        <p:spPr>
          <a:xfrm>
            <a:off x="1778000" y="1308100"/>
            <a:ext cx="8636000" cy="4902200"/>
          </a:xfrm>
          <a:prstGeom prst="rect">
            <a:avLst/>
          </a:prstGeom>
        </p:spPr>
      </p:pic>
    </p:spTree>
    <p:extLst>
      <p:ext uri="{BB962C8B-B14F-4D97-AF65-F5344CB8AC3E}">
        <p14:creationId xmlns:p14="http://schemas.microsoft.com/office/powerpoint/2010/main" val="503114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9">
            <a:extLst>
              <a:ext uri="{FF2B5EF4-FFF2-40B4-BE49-F238E27FC236}">
                <a16:creationId xmlns:a16="http://schemas.microsoft.com/office/drawing/2014/main" id="{5E770660-7A2A-5728-5E14-7A02AEA27A03}"/>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80">
            <a:extLst>
              <a:ext uri="{FF2B5EF4-FFF2-40B4-BE49-F238E27FC236}">
                <a16:creationId xmlns:a16="http://schemas.microsoft.com/office/drawing/2014/main" id="{4DE5A3C6-BD9F-1A91-D2D5-D44354C6DF3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400F9E6-FD9B-5B11-7BB4-E2E0B6376E2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מחקרי הרחבה</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7D07251B-7B2D-B6FF-64C7-3D04637A457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5781EB7-DE37-F360-40CA-DEF23D3EDC11}"/>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7653E6B-0C35-946B-7DD9-0AEA37D0F93D}"/>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A3</a:t>
            </a:r>
            <a:endParaRPr lang="en-IL" sz="1100">
              <a:solidFill>
                <a:srgbClr val="475467"/>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F8EB9B0D-6F4C-7105-3D52-53163BF43B48}"/>
              </a:ext>
            </a:extLst>
          </p:cNvPr>
          <p:cNvSpPr txBox="1"/>
          <p:nvPr/>
        </p:nvSpPr>
        <p:spPr>
          <a:xfrm>
            <a:off x="60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Improved Weak Labeling</a:t>
            </a:r>
            <a:endParaRPr lang="en-IL" sz="1600" b="1">
              <a:solidFill>
                <a:srgbClr val="1F6FEB"/>
              </a:solidFill>
              <a:latin typeface="Arial" panose="020B0604020202020204" pitchFamily="34" charset="0"/>
              <a:sym typeface="David" panose="020E0502060401010101" pitchFamily="34" charset="-79"/>
            </a:endParaRPr>
          </a:p>
        </p:txBody>
      </p:sp>
      <p:pic>
        <p:nvPicPr>
          <p:cNvPr id="12" name="Picture 11">
            <a:extLst>
              <a:ext uri="{FF2B5EF4-FFF2-40B4-BE49-F238E27FC236}">
                <a16:creationId xmlns:a16="http://schemas.microsoft.com/office/drawing/2014/main" id="{60A5EB8E-7298-A96D-5F2E-7D0D67902D0D}"/>
              </a:ext>
            </a:extLst>
          </p:cNvPr>
          <p:cNvPicPr>
            <a:picLocks/>
          </p:cNvPicPr>
          <p:nvPr/>
        </p:nvPicPr>
        <p:blipFill>
          <a:blip r:embed="rId3"/>
          <a:stretch>
            <a:fillRect/>
          </a:stretch>
        </p:blipFill>
        <p:spPr>
          <a:xfrm>
            <a:off x="609600" y="1739900"/>
            <a:ext cx="3352800" cy="2159000"/>
          </a:xfrm>
          <a:prstGeom prst="rect">
            <a:avLst/>
          </a:prstGeom>
        </p:spPr>
      </p:pic>
      <p:sp>
        <p:nvSpPr>
          <p:cNvPr id="13" name="TextBox 12">
            <a:extLst>
              <a:ext uri="{FF2B5EF4-FFF2-40B4-BE49-F238E27FC236}">
                <a16:creationId xmlns:a16="http://schemas.microsoft.com/office/drawing/2014/main" id="{8BC83E1E-616F-A3E4-3588-84C023405534}"/>
              </a:ext>
            </a:extLst>
          </p:cNvPr>
          <p:cNvSpPr txBox="1"/>
          <p:nvPr/>
        </p:nvSpPr>
        <p:spPr>
          <a:xfrm>
            <a:off x="441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2E9D78"/>
                </a:solidFill>
                <a:latin typeface="Arial" panose="020B0604020202020204" pitchFamily="34" charset="0"/>
                <a:sym typeface="David" panose="020E0502060401010101" pitchFamily="34" charset="-79"/>
              </a:rPr>
              <a:t>Hardware-aware Features</a:t>
            </a:r>
            <a:endParaRPr lang="en-IL" sz="1600" b="1">
              <a:solidFill>
                <a:srgbClr val="2E9D78"/>
              </a:solidFill>
              <a:latin typeface="Arial" panose="020B0604020202020204" pitchFamily="34" charset="0"/>
              <a:sym typeface="David" panose="020E0502060401010101" pitchFamily="34" charset="-79"/>
            </a:endParaRPr>
          </a:p>
        </p:txBody>
      </p:sp>
      <p:pic>
        <p:nvPicPr>
          <p:cNvPr id="15" name="Picture 14">
            <a:extLst>
              <a:ext uri="{FF2B5EF4-FFF2-40B4-BE49-F238E27FC236}">
                <a16:creationId xmlns:a16="http://schemas.microsoft.com/office/drawing/2014/main" id="{FB0144EE-C989-D5A3-7A0F-3E2D4124CCEE}"/>
              </a:ext>
            </a:extLst>
          </p:cNvPr>
          <p:cNvPicPr>
            <a:picLocks/>
          </p:cNvPicPr>
          <p:nvPr/>
        </p:nvPicPr>
        <p:blipFill>
          <a:blip r:embed="rId4"/>
          <a:stretch>
            <a:fillRect/>
          </a:stretch>
        </p:blipFill>
        <p:spPr>
          <a:xfrm>
            <a:off x="4572000" y="1739900"/>
            <a:ext cx="3048000" cy="2184400"/>
          </a:xfrm>
          <a:prstGeom prst="rect">
            <a:avLst/>
          </a:prstGeom>
        </p:spPr>
      </p:pic>
      <p:sp>
        <p:nvSpPr>
          <p:cNvPr id="16" name="TextBox 15">
            <a:extLst>
              <a:ext uri="{FF2B5EF4-FFF2-40B4-BE49-F238E27FC236}">
                <a16:creationId xmlns:a16="http://schemas.microsoft.com/office/drawing/2014/main" id="{F90AE388-F72C-B5D1-A63E-AD043650F05D}"/>
              </a:ext>
            </a:extLst>
          </p:cNvPr>
          <p:cNvSpPr txBox="1"/>
          <p:nvPr/>
        </p:nvSpPr>
        <p:spPr>
          <a:xfrm>
            <a:off x="822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F59E0B"/>
                </a:solidFill>
                <a:latin typeface="Arial" panose="020B0604020202020204" pitchFamily="34" charset="0"/>
                <a:sym typeface="David" panose="020E0502060401010101" pitchFamily="34" charset="-79"/>
              </a:rPr>
              <a:t>Cross-project Study</a:t>
            </a:r>
            <a:endParaRPr lang="en-IL" sz="1600" b="1">
              <a:solidFill>
                <a:srgbClr val="F59E0B"/>
              </a:solidFill>
              <a:latin typeface="Arial" panose="020B0604020202020204" pitchFamily="34" charset="0"/>
              <a:sym typeface="David" panose="020E0502060401010101" pitchFamily="34" charset="-79"/>
            </a:endParaRPr>
          </a:p>
        </p:txBody>
      </p:sp>
      <p:pic>
        <p:nvPicPr>
          <p:cNvPr id="18" name="Picture 17">
            <a:extLst>
              <a:ext uri="{FF2B5EF4-FFF2-40B4-BE49-F238E27FC236}">
                <a16:creationId xmlns:a16="http://schemas.microsoft.com/office/drawing/2014/main" id="{4510AAB9-ABA3-BB90-AA30-A760810A5569}"/>
              </a:ext>
            </a:extLst>
          </p:cNvPr>
          <p:cNvPicPr>
            <a:picLocks/>
          </p:cNvPicPr>
          <p:nvPr/>
        </p:nvPicPr>
        <p:blipFill>
          <a:blip r:embed="rId5"/>
          <a:stretch>
            <a:fillRect/>
          </a:stretch>
        </p:blipFill>
        <p:spPr>
          <a:xfrm>
            <a:off x="8229600" y="1739900"/>
            <a:ext cx="3352800" cy="1308100"/>
          </a:xfrm>
          <a:prstGeom prst="rect">
            <a:avLst/>
          </a:prstGeom>
        </p:spPr>
      </p:pic>
      <p:sp>
        <p:nvSpPr>
          <p:cNvPr id="19" name="Shape_181">
            <a:extLst>
              <a:ext uri="{FF2B5EF4-FFF2-40B4-BE49-F238E27FC236}">
                <a16:creationId xmlns:a16="http://schemas.microsoft.com/office/drawing/2014/main" id="{CE1CEB0B-32F8-46D5-EDFC-C3F177B714EE}"/>
              </a:ext>
            </a:extLst>
          </p:cNvPr>
          <p:cNvSpPr/>
          <p:nvPr/>
        </p:nvSpPr>
        <p:spPr>
          <a:xfrm>
            <a:off x="609600" y="4406900"/>
            <a:ext cx="10972800" cy="1422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797A6073-A734-AF80-01E7-E31A21FF19A3}"/>
              </a:ext>
            </a:extLst>
          </p:cNvPr>
          <p:cNvSpPr txBox="1"/>
          <p:nvPr/>
        </p:nvSpPr>
        <p:spPr>
          <a:xfrm>
            <a:off x="901700" y="4681542"/>
            <a:ext cx="2921000" cy="302647"/>
          </a:xfrm>
          <a:prstGeom prst="rect">
            <a:avLst/>
          </a:prstGeom>
          <a:noFill/>
        </p:spPr>
        <p:txBody>
          <a:bodyPr vert="horz" wrap="square" lIns="38100" tIns="12700" rIns="38100" bIns="12700" rtlCol="0" anchor="ctr">
            <a:spAutoFit/>
          </a:bodyPr>
          <a:lstStyle/>
          <a:p>
            <a:pPr algn="ctr"/>
            <a:r>
              <a:rPr lang="en-US" b="1">
                <a:solidFill>
                  <a:srgbClr val="DC4C64"/>
                </a:solidFill>
                <a:latin typeface="Arial" panose="020B0604020202020204" pitchFamily="34" charset="0"/>
                <a:sym typeface="David" panose="020E0502060401010101" pitchFamily="34" charset="-79"/>
              </a:rPr>
              <a:t>Medium-scale studies</a:t>
            </a:r>
            <a:endParaRPr lang="en-IL" b="1">
              <a:solidFill>
                <a:srgbClr val="DC4C64"/>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6CC344B9-6ABA-312F-5EE2-62DE6C893D78}"/>
              </a:ext>
            </a:extLst>
          </p:cNvPr>
          <p:cNvSpPr txBox="1"/>
          <p:nvPr/>
        </p:nvSpPr>
        <p:spPr>
          <a:xfrm>
            <a:off x="4064000" y="4592642"/>
            <a:ext cx="7175500" cy="579646"/>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המספרים אינם בני השוואה ישירה לניסוי המלא. הם מצביעים על שיפור כיסוי התיוג, ערך של מאפייני חומרה ופער בין פרויקטים.</a:t>
            </a:r>
            <a:endParaRPr lang="en-IL">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992182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3984</Words>
  <Application>Microsoft Macintosh PowerPoint</Application>
  <PresentationFormat>Widescreen</PresentationFormat>
  <Paragraphs>199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Korren Hannes</dc:creator>
  <cp:lastModifiedBy>Korren Hannes</cp:lastModifiedBy>
  <cp:revision>1</cp:revision>
  <dcterms:created xsi:type="dcterms:W3CDTF">2026-10-07T18:00:12Z</dcterms:created>
  <dcterms:modified xsi:type="dcterms:W3CDTF">2026-10-07T18:00:28Z</dcterms:modified>
</cp:coreProperties>
</file>