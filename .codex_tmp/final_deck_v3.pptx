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16" d="100"/>
          <a:sy n="11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A7FD3-AFE1-F64F-8153-C1BF1A5303E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EF0C3E-5CBA-074B-AADE-0F7A1C551C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02303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00:20
פתיחה קצרה: הפרויקט בוחן האם ניתן להבין שינויי קוד ברמת 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ולא רק את הקובץ לאחר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DiffIntent-RTL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שתי משימות: זיהוי מטרת השינוי וזיהוי חוסר פונקציונלי.
מעבר: נתחיל מהבעיה המעשית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 -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הצעת פרויקט.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pdf; report/final_report.md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F0C3E-5CBA-074B-AADE-0F7A1C551C8F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25285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המסר המרכזי: תקינות תחבירית אינה מבטיחה שלמות פונקציונלית.
בדוגמה,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קטן משנה נתיב בקרה; שורה חסרה יכולה לשנות את ההתנהגות בלי לשבור קומפילציה.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מפתח משתמש בסוג השורה, בקוד הסמוך ובמבנה השינוי.
מעבר: מכאן נגזרות שתי שאלות המחקר.
מקור: סעיפים 1 ו-3.3 בדוח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F0C3E-5CBA-074B-AADE-0F7A1C551C8F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52302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00:45
יש שתי משימות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diff.
Intent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ארבע מחלקות של מטרת 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הפרדה בין שינוי שלם לבין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implementation hole.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ההשערה נבנתה על מחקר קודם של ייצוגי שינוי, מודלים היררכיים וחיזוי מתיקוני קוד.
מעבר: כעת נראה כיצד הופכים 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Git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לנתוני אימון.
מקורות: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CC2Vec; PatchNet; DeepJIT; CodeReviewer;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סעיף 2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F0C3E-5CBA-074B-AADE-0F7A1C551C8F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4707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הצינור מתחיל בהיסטוריית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OpenTitan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ומסנן רק קבצי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SystemVerilog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רלוונטיים.
כל דוגמה היא שינוי בקובץ אחד.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נוצרות מהודעות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commit.
Synthetic Holes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נוצרים בתוך אזור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Chronological Split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הזוג המקורי והגרסה המוטנטית לעולם אינם מתפצלים בין קבוצות.
מעבר: נבחן את הרכב מערך הנתונים.
מקור: סעיפים 3.1 עד 3.4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F0C3E-5CBA-074B-AADE-0F7A1C551C8F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445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המספרים המרכזיים: 5,903 מועמדים גולמיים, 2,843 דוגמאות אמיתיות לאחר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ו-5,500 דוגמאות לאחר יצירת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synthetic holes.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החלוקה כרונולוגית: 3,873 לאימון, 830 לאימות ו-797 לבדיקה.
הגרף מציג גם את חוסר האיזון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Intent: 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המחלקה הקטנה ביותר.
מעבר: איך בדיוק נוצרת דוגמה חסרה?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outputs/full_run/dataset_summary.json; figure_dataset_overview.png.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F0C3E-5CBA-074B-AADE-0F7A1C551C8F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5083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הדוגמה המקורית נשארת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עותק שלה עובר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מבוקר בתוך השורות שהשתנו.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הפעולה השכיחה ביותר, והיא מהווה 82.2 אחוז מדוגמאות החוסר בבדיקה.
יש גם הסרת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guard, assertion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reset assignment,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וכן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flips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אופרטורים, אך חלקם נדירים.
היתרון הוא שליטה בזוגות; החיסרון הוא פער מחוסרים אמיתיים.
מעבר: נציג את קו הבסיס ואת המודלים העמוקים.
מקור: סעיף 3.3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F0C3E-5CBA-074B-AADE-0F7A1C551C8F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35675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ההשוואה נבנתה כסולם מורכבות.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 + Logistic Regression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חזק.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MLP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מאגר ממוצע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embeddings.
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רצף שטוח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tokens.
Hierarchical Transformer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מקודד כל שורה ואז את רצף השורות, כולל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למודלים העמוקים יש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Multi-task head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לשתי המשימות.
מעבר: נפתח את הארכיטקטורה ההיררכית.
מקור: סעיף 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F0C3E-5CBA-074B-AADE-0F7A1C551C8F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67021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זו הארכיטקטורה המרכזית.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Typed Diff Lines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כל שורה מסומנת לפי תפקידה.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 Embedding + 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יוצר ייצוג פנימי לכל שורה.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Transformer Encoder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לומד קשרים בין שורות רחוקות.
שני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heads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מפיקים תחזית נפרדת לכל משימה.
הניסוי החשוב בהמשך מסיר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embedding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ובודק מה אובד.
מעבר: קודם נבחן את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סעיפים 4.3 ו-4.4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F0C3E-5CBA-074B-AADE-0F7A1C551C8F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180128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התוצאה המרכזית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0.4197 עבור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הגרף מראה שהיתרון אינו אחיד בין המחלקות;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נשארת קשה בגלל מיעוט דוגמאות וחפיפה סמנטית.
המשמעות אינה שמודלים עמוקים חסרי ערך, אלא שהמשימה והתיוג מספקים אות לקסיקלי חזק מאוד.
מעבר: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חושף עד כמה האות הזה קשור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figure_intent_per_class_f1.png.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F0C3E-5CBA-074B-AADE-0F7A1C551C8F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26408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זהו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קריטי.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 ממילות מפתח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כאשר מאמנים מודל רק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message,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מתקבל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0.9855.
לכן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משקפת במידה רבה את מנגנון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כדי לטעון להבנת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נדרש סט תוויות ידני או מקור תוויות עצמאי.
מעבר: משימת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אינה נשענת על אותו ערוץ, ושם המבנה ההיררכי בולט.
מקור: סעיף 7.5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F0C3E-5CBA-074B-AADE-0F7A1C551C8F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92730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כאן מתקבלת התוצאה החזקה ביותר של הפרויקט.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Hierarchical Transformer
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0.6029 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0.7352.
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seed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המוצג הוא שומר כמעט על אותו מספר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true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כמו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אך מוריד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מ-172 ל-81.
זה חשוב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Review: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פחות התראות שווא משפרות שימושיות.
מעבר: האם השיפור באמת מגיע ממידע על סוג השורה?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figure_hole_confusion_panels.png.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F0C3E-5CBA-074B-AADE-0F7A1C551C8F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447902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ablation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מסיר רק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information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ושומר את שאר הארכיטקטורה.
התוצאה: ירידה של 0.1305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ושל 0.1058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זהו הממצא הסיבתי החזק ביותר במצגת: לא רק נפח המודל, אלא הייצוג המפורש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ADD, DEL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CONTEXT,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תורם לזיהוי חוסר.
מעבר: עדיין צריך לפרש את התוצאה בתוך מגבלות מערך הנתונים.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figure_ablation_results.png.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F0C3E-5CBA-074B-AADE-0F7A1C551C8F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690255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שלוש מגבלות מגדירות את גבול הטענה.
ראשית, 82.2 אחוז מהחוסרים הסינתטיים הם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שנית, מספר משפחות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נדירות מדי להערכה.
שלישית, מחקר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Caliptra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הוא מקדים ובקנה מידה קטן, ולא הערכת סיום שקולה.
לכן התוצאה מצביעה על פוטנציאל, אך אינה תחליף לסט בדיקה ידני של חוסרים אמיתיים.
מעבר: נסכם את שלוש המסקנות שניתן להגן עליהן.
מקור: סעיפים 7.7 ו-8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F0C3E-5CBA-074B-AADE-0F7A1C551C8F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799057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00:35
שלוש מסקנות.
אחת: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נשאר תחרותי.
שתיים: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מבנה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מפורש משפר ביצועים ומפחית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שלוש: תוויות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חייבות להגיע ממקור שאינו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סיום: הפרויקט מספק תשתית מלאה למחקר המשך על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RTL.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מסקנות הדוח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F0C3E-5CBA-074B-AADE-0F7A1C551C8F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59349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השתמשו בה אם נשאלת שאלה על דפוסי הבלבול בין מחלקות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figure_intent_confusion_panels.png.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F0C3E-5CBA-074B-AADE-0F7A1C551C8F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09850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התרשים מפריד ביצועים לפי משפחת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וממחיש מדוע המספר הכולל מושפע מהתפלגות הדוגמאות.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figure_hole_mutation_recall.png.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F0C3E-5CBA-074B-AADE-0F7A1C551C8F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330780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מחקרי ההרחבה בוצעו על מערך קטן יותר ובפרוטוקולים אחרים. אין להשוות את הערכים המוחלטים לתוצאות הניסוי המלא.
מקור: סעיף 7.7 בדוח;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labeler_improvement.png; rtl_features_cv.png; generalization_compare.png.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F0C3E-5CBA-074B-AADE-0F7A1C551C8F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699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CDD6A-6F13-54B0-82AF-4C14B5149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5529A-7556-7C32-B35E-7A7CA8A1F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7292C-0347-3B81-460E-D28195B05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DE29-B380-764A-A01C-764BA5FCC3A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CA004-E97B-AA5C-4256-885ED87C1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9B168-E37D-6A75-9593-E7E55F99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6760-88DE-5A4F-996A-5ED656E617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64573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9A65E-9043-5A97-1D9E-1CEB6D0BD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23B04-ADC3-3C77-9206-CA3082269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01145-9A4A-60FE-F431-2028D4812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DE29-B380-764A-A01C-764BA5FCC3A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81091-609F-B71B-4C4A-9B9594EC9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15274-F991-8628-BC09-80E96576D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6760-88DE-5A4F-996A-5ED656E617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6475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41EA5-8C86-23E3-67FB-0492D6431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69ED4-603A-7A7F-A214-2C9EC56A0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8C9D1-A453-1F01-D692-9223A324F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DE29-B380-764A-A01C-764BA5FCC3A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8D3E2-3096-653D-6849-BCD4E4EF5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F2B63-85BC-2829-94BC-57911A4F9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6760-88DE-5A4F-996A-5ED656E617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06790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A1538-2D46-EAB0-88CD-A2681A07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8C6C9-C719-7EFE-0F9F-75B64FEC44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10692-6D58-D41A-6544-8620263CF2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2B354-FE77-FDB1-C8DD-4FE9CDFBF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DE29-B380-764A-A01C-764BA5FCC3A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669C7-0403-3FE7-4F70-46738A238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19485-BF47-9E15-128B-A064D8CB7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6760-88DE-5A4F-996A-5ED656E617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74271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435A1-6EFF-3434-1B6F-A66AB179B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22269-8049-4545-D478-1DC5E1719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DCB443-57A0-159D-8B61-D53EF5988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250E2-FB00-2BF4-7724-858CA3CF0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AFBF1B-DBA8-B4A9-B690-8A2BC97C0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1FE360-14C3-6B3E-EAC9-F4CFD5851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DE29-B380-764A-A01C-764BA5FCC3A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E2A582-7743-60AD-ADBB-A899BE011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42398F-41BC-8FB1-3405-A07A46002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6760-88DE-5A4F-996A-5ED656E617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30465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85397-5997-E2DF-5169-1CECBC78B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05EE9B-A3B2-3664-32AA-96137C8E7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DE29-B380-764A-A01C-764BA5FCC3A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AE77BB-C0E7-F72F-D24F-5EF6E429E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DED4A3-606F-32D8-004E-850A402EB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6760-88DE-5A4F-996A-5ED656E617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40207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1A7638-DEB9-E1C4-0729-987EAFFA5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DE29-B380-764A-A01C-764BA5FCC3A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24B085-6C68-6389-9E7E-26F815E50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D4BD0-95E3-422B-0336-D76A62269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6760-88DE-5A4F-996A-5ED656E617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17763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587CF-41B4-1E2B-2788-D30AB8290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79D86-304C-489E-0C6F-19BD3EC32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3E17F1-1416-07E9-6449-C4826E504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148F4-922E-34EF-FD6A-AF1B5023A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DE29-B380-764A-A01C-764BA5FCC3A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033FB-6920-12B1-F39C-A442E70AC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AF05A-3322-122E-2208-BB790DF5D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6760-88DE-5A4F-996A-5ED656E617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56980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7465C-226E-D6B9-6C9D-3557148C8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548344-1A88-6410-8DB7-ADE9C17F1DC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35F455-C73A-EE79-4AC7-947004AC4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CB235-789E-671F-B115-C1E1C51D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DE29-B380-764A-A01C-764BA5FCC3A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2B814-5FBB-AA73-1608-96AE112F8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30568-389D-A552-E436-A13A3732D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6760-88DE-5A4F-996A-5ED656E617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56925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69310-5552-B628-3887-1352BDC7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033F3E-BBA8-5145-9D13-F5214C5A5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AF3EF-0DE1-FFC5-4CD7-16BE56FB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DE29-B380-764A-A01C-764BA5FCC3A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0E2B7-14F5-E2CD-4BA6-80AFD9677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37DC3-E719-E571-F00C-42284EC71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6760-88DE-5A4F-996A-5ED656E617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20966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03A522-6C09-EFF5-565D-1101D0E19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DA26C-0473-ECF9-F58F-457713A73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1F969-4D44-0232-23EF-36C5E9507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DE29-B380-764A-A01C-764BA5FCC3A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27995-50C2-5088-E00D-05572F4B7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91CED-0BAE-CCD4-C2E7-B6CD30B6C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6760-88DE-5A4F-996A-5ED656E617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44539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812FC3-B458-AED1-84A9-2A075BBF3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9E594-5C02-2B92-24CB-25A3F3B03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84ED1-809A-0C1A-7771-DD737D7C77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4DDE29-B380-764A-A01C-764BA5FCC3A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28EDB-CDB0-B61D-2958-C1B3B4F1E4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E412A-2D1E-DFAE-D142-A02BA3C23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26760-88DE-5A4F-996A-5ED656E617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268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55F972-7D25-F26C-A21B-5B8A01C9D6D1}"/>
              </a:ext>
            </a:extLst>
          </p:cNvPr>
          <p:cNvSpPr txBox="1"/>
          <p:nvPr/>
        </p:nvSpPr>
        <p:spPr>
          <a:xfrm>
            <a:off x="12065000" y="0"/>
            <a:ext cx="127000" cy="369332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44F4A1-CC97-8A15-67DA-8F5D4946A2FC}"/>
              </a:ext>
            </a:extLst>
          </p:cNvPr>
          <p:cNvSpPr txBox="1"/>
          <p:nvPr/>
        </p:nvSpPr>
        <p:spPr>
          <a:xfrm>
            <a:off x="5207000" y="869310"/>
            <a:ext cx="60325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4800" b="1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A66DEE-1FCB-FB97-C593-3FF7AB88F632}"/>
              </a:ext>
            </a:extLst>
          </p:cNvPr>
          <p:cNvSpPr txBox="1"/>
          <p:nvPr/>
        </p:nvSpPr>
        <p:spPr>
          <a:xfrm>
            <a:off x="5207000" y="1894577"/>
            <a:ext cx="60325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3000" b="1">
                <a:solidFill>
                  <a:srgbClr val="DDE7F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מטרת שינוי וחוסרים פונקציונליים בקוד </a:t>
            </a:r>
            <a:r>
              <a:rPr lang="en-US" sz="3000" b="1">
                <a:solidFill>
                  <a:srgbClr val="DDE7F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RTL</a:t>
            </a:r>
            <a:endParaRPr lang="en-IL" sz="3000" b="1">
              <a:solidFill>
                <a:srgbClr val="DDE7F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7710FE-91E1-E283-659F-9B200D3C6916}"/>
              </a:ext>
            </a:extLst>
          </p:cNvPr>
          <p:cNvCxnSpPr/>
          <p:nvPr/>
        </p:nvCxnSpPr>
        <p:spPr>
          <a:xfrm>
            <a:off x="825500" y="3987800"/>
            <a:ext cx="10414000" cy="0"/>
          </a:xfrm>
          <a:prstGeom prst="line">
            <a:avLst/>
          </a:prstGeom>
          <a:ln w="19050">
            <a:solidFill>
              <a:srgbClr val="405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33A91DA-4F17-78D3-1904-8660FAB59794}"/>
              </a:ext>
            </a:extLst>
          </p:cNvPr>
          <p:cNvSpPr txBox="1"/>
          <p:nvPr/>
        </p:nvSpPr>
        <p:spPr>
          <a:xfrm>
            <a:off x="5207000" y="4348653"/>
            <a:ext cx="60325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קורן הנס  |  נועה סבג</a:t>
            </a:r>
            <a:endParaRPr lang="en-IL" sz="2000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B75FDD-C8F1-C5D3-951B-E70CCBEA751A}"/>
              </a:ext>
            </a:extLst>
          </p:cNvPr>
          <p:cNvSpPr txBox="1"/>
          <p:nvPr/>
        </p:nvSpPr>
        <p:spPr>
          <a:xfrm>
            <a:off x="825500" y="4384436"/>
            <a:ext cx="4445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7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Deep Learning Project</a:t>
            </a:r>
            <a:endParaRPr lang="en-IL" sz="17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723463-B158-C939-3A06-FD83337A77C7}"/>
              </a:ext>
            </a:extLst>
          </p:cNvPr>
          <p:cNvSpPr txBox="1"/>
          <p:nvPr/>
        </p:nvSpPr>
        <p:spPr>
          <a:xfrm>
            <a:off x="825500" y="5741019"/>
            <a:ext cx="1651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15 min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FFD0BF-EBFF-FA76-D202-33362A44B83E}"/>
              </a:ext>
            </a:extLst>
          </p:cNvPr>
          <p:cNvSpPr txBox="1"/>
          <p:nvPr/>
        </p:nvSpPr>
        <p:spPr>
          <a:xfrm>
            <a:off x="825500" y="6150108"/>
            <a:ext cx="3302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2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Final Presentation</a:t>
            </a:r>
            <a:endParaRPr lang="en-IL" sz="12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69353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BDEA02-BB77-8E09-B272-418BE139D760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3780D-407D-0707-CD05-F4A2AA256AD5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DF5429-E3DE-BBD9-D803-2191D30F5CFA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חוסר גדול מסתתר בשינוי קטן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7A3261-DD50-D906-5279-8F0D79AF354C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E10F6C-847B-B0AA-FD2F-8C9AA4069235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DD29E5D-307E-1D01-EE2B-EAA1D489D583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02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720EBD-171F-8ABB-56C2-5F76562838D3}"/>
              </a:ext>
            </a:extLst>
          </p:cNvPr>
          <p:cNvSpPr txBox="1"/>
          <p:nvPr/>
        </p:nvSpPr>
        <p:spPr>
          <a:xfrm>
            <a:off x="609600" y="1333500"/>
            <a:ext cx="6413500" cy="369332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36B493-979A-EA45-7C4D-6DEF294818B8}"/>
              </a:ext>
            </a:extLst>
          </p:cNvPr>
          <p:cNvSpPr txBox="1"/>
          <p:nvPr/>
        </p:nvSpPr>
        <p:spPr>
          <a:xfrm>
            <a:off x="914400" y="1676400"/>
            <a:ext cx="5778500" cy="20313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@@ always_ff @(posedge clk_i) @@
- if (!rst_ni) state_q &lt;= IDLE;
+ if (!rst_ni) state_q &lt;= IDLE;
+ else if (req_i) begin
+   state_q &lt;= BUSY;
+   valid_o &lt;= 1'b1;
+ end</a:t>
            </a:r>
            <a:endParaRPr lang="en-IL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3B2197-4572-E343-8C11-3D36A84B00A7}"/>
              </a:ext>
            </a:extLst>
          </p:cNvPr>
          <p:cNvSpPr txBox="1"/>
          <p:nvPr/>
        </p:nvSpPr>
        <p:spPr>
          <a:xfrm>
            <a:off x="914400" y="4749800"/>
            <a:ext cx="5778500" cy="369332"/>
          </a:xfrm>
          <a:prstGeom prst="rect">
            <a:avLst/>
          </a:prstGeom>
          <a:solidFill>
            <a:srgbClr val="23364A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F12F6E-432C-995C-99E3-DA4F83AB9522}"/>
              </a:ext>
            </a:extLst>
          </p:cNvPr>
          <p:cNvSpPr txBox="1"/>
          <p:nvPr/>
        </p:nvSpPr>
        <p:spPr>
          <a:xfrm>
            <a:off x="1079500" y="4869725"/>
            <a:ext cx="5461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What if the final assignment is missing?</a:t>
            </a:r>
            <a:endParaRPr lang="en-IL" sz="15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2765B6-9DF0-1E77-AB80-CE1DEF45E512}"/>
              </a:ext>
            </a:extLst>
          </p:cNvPr>
          <p:cNvSpPr txBox="1"/>
          <p:nvPr/>
        </p:nvSpPr>
        <p:spPr>
          <a:xfrm>
            <a:off x="7429500" y="1428110"/>
            <a:ext cx="4064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4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השינוי עדיין יכול להיות תקין תחבירית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2E3066-5961-0E73-2143-B0F6716A0D3F}"/>
              </a:ext>
            </a:extLst>
          </p:cNvPr>
          <p:cNvSpPr txBox="1"/>
          <p:nvPr/>
        </p:nvSpPr>
        <p:spPr>
          <a:xfrm>
            <a:off x="7429500" y="2141999"/>
            <a:ext cx="40640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3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אבל ההתנהגות הרצויה אינה שלמה</a:t>
            </a:r>
            <a:endParaRPr lang="en-IL" sz="23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ED019C-EC02-DCF3-E2D4-C77DD32960B7}"/>
              </a:ext>
            </a:extLst>
          </p:cNvPr>
          <p:cNvCxnSpPr/>
          <p:nvPr/>
        </p:nvCxnSpPr>
        <p:spPr>
          <a:xfrm>
            <a:off x="7366000" y="3175000"/>
            <a:ext cx="41275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5FF9600-683D-DD5C-ACBC-81D90BE1C9E3}"/>
              </a:ext>
            </a:extLst>
          </p:cNvPr>
          <p:cNvSpPr txBox="1"/>
          <p:nvPr/>
        </p:nvSpPr>
        <p:spPr>
          <a:xfrm>
            <a:off x="7429500" y="3454275"/>
            <a:ext cx="40640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קורא הקשר, מבנה והבדלים בין שורות. המודל חייב לקבל את אותם רמזים.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563FD8-AC96-F5DF-3B8D-63A6F63C2213}"/>
              </a:ext>
            </a:extLst>
          </p:cNvPr>
          <p:cNvSpPr txBox="1"/>
          <p:nvPr/>
        </p:nvSpPr>
        <p:spPr>
          <a:xfrm>
            <a:off x="7429500" y="5075242"/>
            <a:ext cx="40640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ב-</a:t>
            </a:r>
            <a:r>
              <a:rPr lang="en-US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Code Review </a:t>
            </a:r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אנושי קוראים יחד את ההקשר, המבנה וההבדל בין השורות.</a:t>
            </a:r>
            <a:endParaRPr lang="en-IL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91080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8EF60C-EF6E-F9B9-6D41-6692005CA9BC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64A45-B55E-349A-0498-BE7A2A92383C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A6A094-9D34-3291-8618-A7A02BB46DA5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שתי שאלות מחקר, אובייקט למידה אחד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55F9EB-9809-D0A5-F3C3-AEF868939AFE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96FB1A-AE70-679F-B9B1-8C8013408CA5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C12FD0D-89A8-9AE5-D177-C4143A554F2B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03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49D3EA-6C86-3BE7-27D6-632E27E57A86}"/>
              </a:ext>
            </a:extLst>
          </p:cNvPr>
          <p:cNvSpPr txBox="1"/>
          <p:nvPr/>
        </p:nvSpPr>
        <p:spPr>
          <a:xfrm>
            <a:off x="6350000" y="1498600"/>
            <a:ext cx="51435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BFE2C-8D88-CE91-A13C-D9BE9FE4D69F}"/>
              </a:ext>
            </a:extLst>
          </p:cNvPr>
          <p:cNvSpPr txBox="1"/>
          <p:nvPr/>
        </p:nvSpPr>
        <p:spPr>
          <a:xfrm>
            <a:off x="67945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</a:t>
            </a:r>
            <a:endParaRPr lang="en-IL" sz="30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586D7F-DC16-6F20-4092-BEA3D0FB2057}"/>
              </a:ext>
            </a:extLst>
          </p:cNvPr>
          <p:cNvSpPr txBox="1"/>
          <p:nvPr/>
        </p:nvSpPr>
        <p:spPr>
          <a:xfrm>
            <a:off x="67945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איזו מטרה עומדת מאחורי השינוי?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5861A5-E946-8406-BE1B-0084DF297EB3}"/>
              </a:ext>
            </a:extLst>
          </p:cNvPr>
          <p:cNvSpPr txBox="1"/>
          <p:nvPr/>
        </p:nvSpPr>
        <p:spPr>
          <a:xfrm>
            <a:off x="90170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 classes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0A493D-1A65-9E1F-5269-088F6F518E52}"/>
              </a:ext>
            </a:extLst>
          </p:cNvPr>
          <p:cNvSpPr txBox="1"/>
          <p:nvPr/>
        </p:nvSpPr>
        <p:spPr>
          <a:xfrm>
            <a:off x="698500" y="1498600"/>
            <a:ext cx="51435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BD95B8-903A-9761-5724-D4C51A090EA8}"/>
              </a:ext>
            </a:extLst>
          </p:cNvPr>
          <p:cNvSpPr txBox="1"/>
          <p:nvPr/>
        </p:nvSpPr>
        <p:spPr>
          <a:xfrm>
            <a:off x="11430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Completeness</a:t>
            </a:r>
            <a:endParaRPr lang="en-IL" sz="30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6E7084-E5C0-159F-44E7-CF724B9EA727}"/>
              </a:ext>
            </a:extLst>
          </p:cNvPr>
          <p:cNvSpPr txBox="1"/>
          <p:nvPr/>
        </p:nvSpPr>
        <p:spPr>
          <a:xfrm>
            <a:off x="11430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האם השינוי נראה שלם?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D1F3B2-D21C-D2AB-5B48-408D38C04ADA}"/>
              </a:ext>
            </a:extLst>
          </p:cNvPr>
          <p:cNvSpPr txBox="1"/>
          <p:nvPr/>
        </p:nvSpPr>
        <p:spPr>
          <a:xfrm>
            <a:off x="33655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binary task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C40B216-D5E7-7610-93FC-22349BEDE95B}"/>
              </a:ext>
            </a:extLst>
          </p:cNvPr>
          <p:cNvCxnSpPr/>
          <p:nvPr/>
        </p:nvCxnSpPr>
        <p:spPr>
          <a:xfrm>
            <a:off x="6096000" y="1676400"/>
            <a:ext cx="0" cy="2260600"/>
          </a:xfrm>
          <a:prstGeom prst="line">
            <a:avLst/>
          </a:prstGeom>
          <a:ln w="254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93DDD85-6A61-E8A3-BFE2-ADED01EF8F1E}"/>
              </a:ext>
            </a:extLst>
          </p:cNvPr>
          <p:cNvSpPr txBox="1"/>
          <p:nvPr/>
        </p:nvSpPr>
        <p:spPr>
          <a:xfrm>
            <a:off x="9842500" y="4542670"/>
            <a:ext cx="1651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ההשערה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4055B7-26DC-093D-E137-4ED6D2C7F191}"/>
              </a:ext>
            </a:extLst>
          </p:cNvPr>
          <p:cNvSpPr txBox="1"/>
          <p:nvPr/>
        </p:nvSpPr>
        <p:spPr>
          <a:xfrm>
            <a:off x="3276600" y="4763576"/>
            <a:ext cx="82169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היררכי שמבחין בין שורות שנוספו, נמחקו ונשמרו ישפר את זיהוי החוסר.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F42D19-BB87-A727-4FB5-04FBC6A24366}"/>
              </a:ext>
            </a:extLst>
          </p:cNvPr>
          <p:cNvSpPr txBox="1"/>
          <p:nvPr/>
        </p:nvSpPr>
        <p:spPr>
          <a:xfrm>
            <a:off x="698500" y="5886553"/>
            <a:ext cx="10795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4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CC2Vec   PatchNet   DeepJIT   CodeReviewer</a:t>
            </a:r>
            <a:endParaRPr lang="en-IL" sz="14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62988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2FCD4D-3A09-8186-422E-84889FB286CC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13785-0413-B288-3811-B6678E67B02A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F1A85F-DD9A-DCC7-580D-ED7F6CD08B30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מהיסטוריית קוד לניסוי מבוקר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CB347B-66FE-4635-158F-4270092896C9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F5376F-276F-4892-D64D-03810F018346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24ADBA7-E6EF-B8B7-C2C3-2E786646524F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04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66515-00E9-0429-044D-64999253129F}"/>
              </a:ext>
            </a:extLst>
          </p:cNvPr>
          <p:cNvSpPr txBox="1"/>
          <p:nvPr/>
        </p:nvSpPr>
        <p:spPr>
          <a:xfrm>
            <a:off x="9398000" y="1955800"/>
            <a:ext cx="1841500" cy="369332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EE293F-A50D-AE40-032B-96F3226ACC8E}"/>
              </a:ext>
            </a:extLst>
          </p:cNvPr>
          <p:cNvSpPr txBox="1"/>
          <p:nvPr/>
        </p:nvSpPr>
        <p:spPr>
          <a:xfrm>
            <a:off x="952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OpenTitan Git History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9C7451-833B-ABC0-3562-4A25375CBA9E}"/>
              </a:ext>
            </a:extLst>
          </p:cNvPr>
          <p:cNvCxnSpPr/>
          <p:nvPr/>
        </p:nvCxnSpPr>
        <p:spPr>
          <a:xfrm flipH="1">
            <a:off x="9169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6524E22-A85C-944D-D5F6-FB047928755B}"/>
              </a:ext>
            </a:extLst>
          </p:cNvPr>
          <p:cNvSpPr txBox="1"/>
          <p:nvPr/>
        </p:nvSpPr>
        <p:spPr>
          <a:xfrm>
            <a:off x="7175500" y="1955800"/>
            <a:ext cx="1841500" cy="369332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4699C4-2ABC-60FA-0CC4-F8EC6444EE90}"/>
              </a:ext>
            </a:extLst>
          </p:cNvPr>
          <p:cNvSpPr txBox="1"/>
          <p:nvPr/>
        </p:nvSpPr>
        <p:spPr>
          <a:xfrm>
            <a:off x="7302500" y="2301636"/>
            <a:ext cx="1587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 Mining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C6CC40-2CC5-6CA7-31B2-282E483CD2BA}"/>
              </a:ext>
            </a:extLst>
          </p:cNvPr>
          <p:cNvCxnSpPr/>
          <p:nvPr/>
        </p:nvCxnSpPr>
        <p:spPr>
          <a:xfrm flipH="1">
            <a:off x="6946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8459FA5-4B14-3E67-3379-422113F4D75B}"/>
              </a:ext>
            </a:extLst>
          </p:cNvPr>
          <p:cNvSpPr txBox="1"/>
          <p:nvPr/>
        </p:nvSpPr>
        <p:spPr>
          <a:xfrm>
            <a:off x="4953000" y="1955800"/>
            <a:ext cx="1841500" cy="369332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E1A77D-D298-85A8-498E-DE4472F200F7}"/>
              </a:ext>
            </a:extLst>
          </p:cNvPr>
          <p:cNvSpPr txBox="1"/>
          <p:nvPr/>
        </p:nvSpPr>
        <p:spPr>
          <a:xfrm>
            <a:off x="5080000" y="2317025"/>
            <a:ext cx="15875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Labels + Synthetic Holes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6335453-32E8-CD3B-B464-ABA216AECA15}"/>
              </a:ext>
            </a:extLst>
          </p:cNvPr>
          <p:cNvCxnSpPr/>
          <p:nvPr/>
        </p:nvCxnSpPr>
        <p:spPr>
          <a:xfrm flipH="1">
            <a:off x="4724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41C7C73-448C-EDCC-5649-218789B680C1}"/>
              </a:ext>
            </a:extLst>
          </p:cNvPr>
          <p:cNvSpPr txBox="1"/>
          <p:nvPr/>
        </p:nvSpPr>
        <p:spPr>
          <a:xfrm>
            <a:off x="2730500" y="1955800"/>
            <a:ext cx="1841500" cy="369332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3E71E0-8FA1-5A64-66C2-DD07CFC69D1D}"/>
              </a:ext>
            </a:extLst>
          </p:cNvPr>
          <p:cNvSpPr txBox="1"/>
          <p:nvPr/>
        </p:nvSpPr>
        <p:spPr>
          <a:xfrm>
            <a:off x="28575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Chronological Split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A851021-E69A-2111-513E-BAE305135191}"/>
              </a:ext>
            </a:extLst>
          </p:cNvPr>
          <p:cNvCxnSpPr/>
          <p:nvPr/>
        </p:nvCxnSpPr>
        <p:spPr>
          <a:xfrm flipH="1">
            <a:off x="2501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80F352D-6223-F3B3-BE0B-B9045119C75D}"/>
              </a:ext>
            </a:extLst>
          </p:cNvPr>
          <p:cNvSpPr txBox="1"/>
          <p:nvPr/>
        </p:nvSpPr>
        <p:spPr>
          <a:xfrm>
            <a:off x="508000" y="1955800"/>
            <a:ext cx="1841500" cy="369332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E4BCC5-C155-CAD5-67BF-941989141CC1}"/>
              </a:ext>
            </a:extLst>
          </p:cNvPr>
          <p:cNvSpPr txBox="1"/>
          <p:nvPr/>
        </p:nvSpPr>
        <p:spPr>
          <a:xfrm>
            <a:off x="63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Training &amp; Evaluation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234AF7-B032-BD18-3158-FD15A7867E3B}"/>
              </a:ext>
            </a:extLst>
          </p:cNvPr>
          <p:cNvSpPr txBox="1"/>
          <p:nvPr/>
        </p:nvSpPr>
        <p:spPr>
          <a:xfrm>
            <a:off x="9626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9E4C5F-BC30-6DDB-A6E3-E91836C41ACB}"/>
              </a:ext>
            </a:extLst>
          </p:cNvPr>
          <p:cNvSpPr txBox="1"/>
          <p:nvPr/>
        </p:nvSpPr>
        <p:spPr>
          <a:xfrm>
            <a:off x="5181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CC7210-2FBE-68AB-A11B-B161B87FA287}"/>
              </a:ext>
            </a:extLst>
          </p:cNvPr>
          <p:cNvSpPr txBox="1"/>
          <p:nvPr/>
        </p:nvSpPr>
        <p:spPr>
          <a:xfrm>
            <a:off x="29337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606624-0B8D-8CBA-8F8B-226D172AC89F}"/>
              </a:ext>
            </a:extLst>
          </p:cNvPr>
          <p:cNvSpPr txBox="1"/>
          <p:nvPr/>
        </p:nvSpPr>
        <p:spPr>
          <a:xfrm>
            <a:off x="9423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0DD5DC-3060-4420-E5FB-F54DA4FCE103}"/>
              </a:ext>
            </a:extLst>
          </p:cNvPr>
          <p:cNvSpPr txBox="1"/>
          <p:nvPr/>
        </p:nvSpPr>
        <p:spPr>
          <a:xfrm>
            <a:off x="4978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2D34CD-E4C4-8D76-7979-67C3181B27A6}"/>
              </a:ext>
            </a:extLst>
          </p:cNvPr>
          <p:cNvSpPr txBox="1"/>
          <p:nvPr/>
        </p:nvSpPr>
        <p:spPr>
          <a:xfrm>
            <a:off x="27305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total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AA2F5B-1A13-E4D4-99C0-71EA28D4232B}"/>
              </a:ext>
            </a:extLst>
          </p:cNvPr>
          <p:cNvSpPr txBox="1"/>
          <p:nvPr/>
        </p:nvSpPr>
        <p:spPr>
          <a:xfrm>
            <a:off x="698500" y="5181600"/>
            <a:ext cx="10795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A39F72-6809-06E9-B4B7-CE68C9D0CEBB}"/>
              </a:ext>
            </a:extLst>
          </p:cNvPr>
          <p:cNvSpPr txBox="1"/>
          <p:nvPr/>
        </p:nvSpPr>
        <p:spPr>
          <a:xfrm>
            <a:off x="1054100" y="5359648"/>
            <a:ext cx="100838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כל שינוי נשמר ברמת קובץ, והזוג המקורי והסינתטי נשאר באותה חלוקה.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94310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E5F57B-A228-3805-8D7E-83C489BD2348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D41A6B-FEFE-617D-4FA7-C9E6A9B7673E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24029C-B7B7-3B9F-D936-C65D16AA262F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מערך הנתונים: כרונולוגי, מאוזן בזוגות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392002-9115-3FF3-EA40-92819AC97408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5278C3-70C0-42A0-B883-8D987F90E52E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E6FDF4F-6DAE-401D-BAE8-25A86FB1C82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05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1A2F32-E0E4-A01F-2334-FFD94247C0B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1600"/>
            <a:ext cx="4953000" cy="4432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B60DC6-80EB-8A3E-0219-70767DE04E81}"/>
              </a:ext>
            </a:extLst>
          </p:cNvPr>
          <p:cNvSpPr txBox="1"/>
          <p:nvPr/>
        </p:nvSpPr>
        <p:spPr>
          <a:xfrm>
            <a:off x="6261100" y="1447800"/>
            <a:ext cx="52324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4C9A3F-5F65-1F1F-FB25-BD23D7673037}"/>
              </a:ext>
            </a:extLst>
          </p:cNvPr>
          <p:cNvSpPr txBox="1"/>
          <p:nvPr/>
        </p:nvSpPr>
        <p:spPr>
          <a:xfrm>
            <a:off x="11404600" y="1447800"/>
            <a:ext cx="889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CC0EA5-D05C-DE87-7E17-5FE349692F98}"/>
              </a:ext>
            </a:extLst>
          </p:cNvPr>
          <p:cNvSpPr txBox="1"/>
          <p:nvPr/>
        </p:nvSpPr>
        <p:spPr>
          <a:xfrm>
            <a:off x="6464300" y="15285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AB8CA3-EFF8-4F86-6438-EC857851B1A5}"/>
              </a:ext>
            </a:extLst>
          </p:cNvPr>
          <p:cNvSpPr txBox="1"/>
          <p:nvPr/>
        </p:nvSpPr>
        <p:spPr>
          <a:xfrm>
            <a:off x="6464300" y="21800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65AC51-7241-DE89-C6BC-333492F3298D}"/>
              </a:ext>
            </a:extLst>
          </p:cNvPr>
          <p:cNvSpPr txBox="1"/>
          <p:nvPr/>
        </p:nvSpPr>
        <p:spPr>
          <a:xfrm>
            <a:off x="6261100" y="2705100"/>
            <a:ext cx="52324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E3597B-C30D-B727-D40A-EC9765E0947E}"/>
              </a:ext>
            </a:extLst>
          </p:cNvPr>
          <p:cNvSpPr txBox="1"/>
          <p:nvPr/>
        </p:nvSpPr>
        <p:spPr>
          <a:xfrm>
            <a:off x="11404600" y="2705100"/>
            <a:ext cx="88900" cy="369332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211C1D-1AD9-027C-A77C-4A7F2F18AEFE}"/>
              </a:ext>
            </a:extLst>
          </p:cNvPr>
          <p:cNvSpPr txBox="1"/>
          <p:nvPr/>
        </p:nvSpPr>
        <p:spPr>
          <a:xfrm>
            <a:off x="6464300" y="27858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37AD0F-C82B-AC98-818F-10164759E976}"/>
              </a:ext>
            </a:extLst>
          </p:cNvPr>
          <p:cNvSpPr txBox="1"/>
          <p:nvPr/>
        </p:nvSpPr>
        <p:spPr>
          <a:xfrm>
            <a:off x="6464300" y="34373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weak-labeled real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D03539-FFBB-E2FA-2AE6-9C884990FA1D}"/>
              </a:ext>
            </a:extLst>
          </p:cNvPr>
          <p:cNvSpPr txBox="1"/>
          <p:nvPr/>
        </p:nvSpPr>
        <p:spPr>
          <a:xfrm>
            <a:off x="6261100" y="3962400"/>
            <a:ext cx="52324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B1E577-2B7E-76DE-5FFF-31FECD7F4507}"/>
              </a:ext>
            </a:extLst>
          </p:cNvPr>
          <p:cNvSpPr txBox="1"/>
          <p:nvPr/>
        </p:nvSpPr>
        <p:spPr>
          <a:xfrm>
            <a:off x="11404600" y="3962400"/>
            <a:ext cx="88900" cy="369332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90CE43-BD15-5D24-733C-883EA32736A2}"/>
              </a:ext>
            </a:extLst>
          </p:cNvPr>
          <p:cNvSpPr txBox="1"/>
          <p:nvPr/>
        </p:nvSpPr>
        <p:spPr>
          <a:xfrm>
            <a:off x="6464300" y="40431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A5EED7-AEB6-78FA-02A9-5337C8950F31}"/>
              </a:ext>
            </a:extLst>
          </p:cNvPr>
          <p:cNvSpPr txBox="1"/>
          <p:nvPr/>
        </p:nvSpPr>
        <p:spPr>
          <a:xfrm>
            <a:off x="6464300" y="46946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after synthetic holes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9D4C21-A432-9659-3A17-B2DB124AAA10}"/>
              </a:ext>
            </a:extLst>
          </p:cNvPr>
          <p:cNvSpPr txBox="1"/>
          <p:nvPr/>
        </p:nvSpPr>
        <p:spPr>
          <a:xfrm>
            <a:off x="6261100" y="5408131"/>
            <a:ext cx="52324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 3,873    validation 830    test 797</a:t>
            </a:r>
            <a:endParaRPr lang="en-IL" sz="16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26843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A3B6C7-1CBE-8AB2-727E-B44E9828047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0243FF-08D2-6B8D-21AF-716D706AED7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407F21-50C8-7F3E-5752-FD145EF1DF18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יצירת חוסרים סינתטיים בתוך אזור השינוי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3030B4-D95F-A3E9-E492-143548D09B6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0D1E68-E9A6-1FE0-D07C-EDC3556D06AE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2E2292-F26A-EB59-EAE1-98F90A2250E9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06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5E0651-F869-BF1F-B33C-E9CCBC9BA739}"/>
              </a:ext>
            </a:extLst>
          </p:cNvPr>
          <p:cNvSpPr txBox="1"/>
          <p:nvPr/>
        </p:nvSpPr>
        <p:spPr>
          <a:xfrm>
            <a:off x="6413500" y="1498600"/>
            <a:ext cx="5080000" cy="369332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8FD757-01C2-BA79-26B6-3F190CC6EF10}"/>
              </a:ext>
            </a:extLst>
          </p:cNvPr>
          <p:cNvSpPr txBox="1"/>
          <p:nvPr/>
        </p:nvSpPr>
        <p:spPr>
          <a:xfrm>
            <a:off x="6794500" y="1740519"/>
            <a:ext cx="177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</a:t>
            </a:r>
            <a:endParaRPr lang="en-IL" sz="14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B8F6A2-4817-CF74-473E-0BD09857E2CD}"/>
              </a:ext>
            </a:extLst>
          </p:cNvPr>
          <p:cNvSpPr txBox="1"/>
          <p:nvPr/>
        </p:nvSpPr>
        <p:spPr>
          <a:xfrm>
            <a:off x="6794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  valid_d = 1'b1;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4E9E79-E2FA-3F53-F2F6-3CB9E30D6EF3}"/>
              </a:ext>
            </a:extLst>
          </p:cNvPr>
          <p:cNvSpPr txBox="1"/>
          <p:nvPr/>
        </p:nvSpPr>
        <p:spPr>
          <a:xfrm>
            <a:off x="698500" y="1498600"/>
            <a:ext cx="5080000" cy="369332"/>
          </a:xfrm>
          <a:prstGeom prst="rect">
            <a:avLst/>
          </a:prstGeom>
          <a:solidFill>
            <a:srgbClr val="262F3E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553087-A8BE-F3A4-5FB8-C3AD540ABC96}"/>
              </a:ext>
            </a:extLst>
          </p:cNvPr>
          <p:cNvSpPr txBox="1"/>
          <p:nvPr/>
        </p:nvSpPr>
        <p:spPr>
          <a:xfrm>
            <a:off x="1079500" y="1740519"/>
            <a:ext cx="2667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HOLE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85A98B-4B22-F2CB-D869-165FBB566FF8}"/>
              </a:ext>
            </a:extLst>
          </p:cNvPr>
          <p:cNvSpPr txBox="1"/>
          <p:nvPr/>
        </p:nvSpPr>
        <p:spPr>
          <a:xfrm>
            <a:off x="1079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49C0A7-DFF3-8D07-B400-5DC9FF04B580}"/>
              </a:ext>
            </a:extLst>
          </p:cNvPr>
          <p:cNvCxnSpPr/>
          <p:nvPr/>
        </p:nvCxnSpPr>
        <p:spPr>
          <a:xfrm flipH="1">
            <a:off x="6286500" y="3111500"/>
            <a:ext cx="381000" cy="0"/>
          </a:xfrm>
          <a:prstGeom prst="line">
            <a:avLst/>
          </a:prstGeom>
          <a:ln w="381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6CD54E5-492B-47CB-3358-0024CCA3F4CF}"/>
              </a:ext>
            </a:extLst>
          </p:cNvPr>
          <p:cNvSpPr txBox="1"/>
          <p:nvPr/>
        </p:nvSpPr>
        <p:spPr>
          <a:xfrm>
            <a:off x="4279900" y="4979476"/>
            <a:ext cx="36195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DB9862-7599-D30A-80C8-22D7E3B5CAAC}"/>
              </a:ext>
            </a:extLst>
          </p:cNvPr>
          <p:cNvSpPr txBox="1"/>
          <p:nvPr/>
        </p:nvSpPr>
        <p:spPr>
          <a:xfrm>
            <a:off x="4470400" y="5330815"/>
            <a:ext cx="3238500" cy="5027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1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075185-C884-CC7F-75C0-1F9BCF010E5D}"/>
              </a:ext>
            </a:extLst>
          </p:cNvPr>
          <p:cNvSpPr txBox="1"/>
          <p:nvPr/>
        </p:nvSpPr>
        <p:spPr>
          <a:xfrm>
            <a:off x="4330700" y="6048508"/>
            <a:ext cx="35306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of test synthetic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68827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223952-B43E-31CD-93E4-B827A6F3BB2E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ADAA26-3899-6A85-3CD4-6FC8F8B56B57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B6BB96-1B33-A58E-912A-020807BC7202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השוואת ארבע משפחות מודלים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89399D-3915-79FD-7CA5-F2963216F57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3CBA0D-A624-91E5-C478-BC36E9DC1966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64FA8EE-D330-DD14-945A-C52C89CB87B4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07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2C51D9-A26A-358B-E7CB-EA0296944E8C}"/>
              </a:ext>
            </a:extLst>
          </p:cNvPr>
          <p:cNvSpPr txBox="1"/>
          <p:nvPr/>
        </p:nvSpPr>
        <p:spPr>
          <a:xfrm>
            <a:off x="9080500" y="1524000"/>
            <a:ext cx="2413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485348-DE78-24D8-90C1-21195C3EC298}"/>
              </a:ext>
            </a:extLst>
          </p:cNvPr>
          <p:cNvSpPr txBox="1"/>
          <p:nvPr/>
        </p:nvSpPr>
        <p:spPr>
          <a:xfrm>
            <a:off x="9309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D95620-6C0B-D846-32F5-940C88414F78}"/>
              </a:ext>
            </a:extLst>
          </p:cNvPr>
          <p:cNvSpPr txBox="1"/>
          <p:nvPr/>
        </p:nvSpPr>
        <p:spPr>
          <a:xfrm>
            <a:off x="9309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 + Logistic Regression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19C59B-9718-064B-6890-5A7C01807E5C}"/>
              </a:ext>
            </a:extLst>
          </p:cNvPr>
          <p:cNvSpPr txBox="1"/>
          <p:nvPr/>
        </p:nvSpPr>
        <p:spPr>
          <a:xfrm>
            <a:off x="9309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sparse lexical features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5A94EB-9EF0-EC31-41B2-FE31B805D5B3}"/>
              </a:ext>
            </a:extLst>
          </p:cNvPr>
          <p:cNvSpPr txBox="1"/>
          <p:nvPr/>
        </p:nvSpPr>
        <p:spPr>
          <a:xfrm>
            <a:off x="6286500" y="1524000"/>
            <a:ext cx="24130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958343-96D9-AF06-69F0-8BC861EBDA23}"/>
              </a:ext>
            </a:extLst>
          </p:cNvPr>
          <p:cNvSpPr txBox="1"/>
          <p:nvPr/>
        </p:nvSpPr>
        <p:spPr>
          <a:xfrm>
            <a:off x="6515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DC69B9-8498-2343-2087-503601BCCA27}"/>
              </a:ext>
            </a:extLst>
          </p:cNvPr>
          <p:cNvSpPr txBox="1"/>
          <p:nvPr/>
        </p:nvSpPr>
        <p:spPr>
          <a:xfrm>
            <a:off x="6515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MLP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FE628-9782-91FC-DE70-72E44398FDC3}"/>
              </a:ext>
            </a:extLst>
          </p:cNvPr>
          <p:cNvSpPr txBox="1"/>
          <p:nvPr/>
        </p:nvSpPr>
        <p:spPr>
          <a:xfrm>
            <a:off x="6515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pooled token embeddings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14C0FF-C548-1845-157E-CEDCB323657A}"/>
              </a:ext>
            </a:extLst>
          </p:cNvPr>
          <p:cNvSpPr txBox="1"/>
          <p:nvPr/>
        </p:nvSpPr>
        <p:spPr>
          <a:xfrm>
            <a:off x="3492500" y="1524000"/>
            <a:ext cx="2413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DC4A16-DF07-70D3-6574-2F53E498B379}"/>
              </a:ext>
            </a:extLst>
          </p:cNvPr>
          <p:cNvSpPr txBox="1"/>
          <p:nvPr/>
        </p:nvSpPr>
        <p:spPr>
          <a:xfrm>
            <a:off x="3721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D2C0E8-5033-C4FB-491A-453065B02BEA}"/>
              </a:ext>
            </a:extLst>
          </p:cNvPr>
          <p:cNvSpPr txBox="1"/>
          <p:nvPr/>
        </p:nvSpPr>
        <p:spPr>
          <a:xfrm>
            <a:off x="3721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BiGRU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94BFC7-536B-5380-DE53-1A50EAF69A28}"/>
              </a:ext>
            </a:extLst>
          </p:cNvPr>
          <p:cNvSpPr txBox="1"/>
          <p:nvPr/>
        </p:nvSpPr>
        <p:spPr>
          <a:xfrm>
            <a:off x="3721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flat sequence encoder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F36EDA-DEAA-3431-205A-E09D2E56A670}"/>
              </a:ext>
            </a:extLst>
          </p:cNvPr>
          <p:cNvSpPr txBox="1"/>
          <p:nvPr/>
        </p:nvSpPr>
        <p:spPr>
          <a:xfrm>
            <a:off x="698500" y="1524000"/>
            <a:ext cx="24130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B25453-6A89-3BDE-E52E-2FCDC42C701C}"/>
              </a:ext>
            </a:extLst>
          </p:cNvPr>
          <p:cNvSpPr txBox="1"/>
          <p:nvPr/>
        </p:nvSpPr>
        <p:spPr>
          <a:xfrm>
            <a:off x="927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62B4EF-3C62-6B2D-3A32-C53A5B260256}"/>
              </a:ext>
            </a:extLst>
          </p:cNvPr>
          <p:cNvSpPr txBox="1"/>
          <p:nvPr/>
        </p:nvSpPr>
        <p:spPr>
          <a:xfrm>
            <a:off x="927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Hierarchical Transformer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7758CC-9946-B4D3-3F0C-FD9DA6A58E24}"/>
              </a:ext>
            </a:extLst>
          </p:cNvPr>
          <p:cNvSpPr txBox="1"/>
          <p:nvPr/>
        </p:nvSpPr>
        <p:spPr>
          <a:xfrm>
            <a:off x="927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encoder + diff structure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2C5810-62B8-413A-1F08-96964024E532}"/>
              </a:ext>
            </a:extLst>
          </p:cNvPr>
          <p:cNvSpPr txBox="1"/>
          <p:nvPr/>
        </p:nvSpPr>
        <p:spPr>
          <a:xfrm>
            <a:off x="698500" y="4927600"/>
            <a:ext cx="10795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CE6A89-3548-0746-328B-28D7F65BC1A1}"/>
              </a:ext>
            </a:extLst>
          </p:cNvPr>
          <p:cNvSpPr txBox="1"/>
          <p:nvPr/>
        </p:nvSpPr>
        <p:spPr>
          <a:xfrm>
            <a:off x="990600" y="4959454"/>
            <a:ext cx="10121900" cy="6104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אותו ייצוג משמש לשתי משימות באמצעות </a:t>
            </a:r>
            <a:r>
              <a:rPr lang="en-US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Multi-task head, </a:t>
            </a:r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עם פלט נפרד ל-</a:t>
            </a:r>
            <a:r>
              <a:rPr lang="en-US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ול-</a:t>
            </a:r>
            <a:r>
              <a:rPr lang="en-US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Completeness.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40742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6A8D97-BD90-DBD4-F7A4-C23B0E0C61D7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36CB1-97B3-76D7-C876-B359B255833F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D5A0E3-182C-036D-B6B0-10E2DBE6DB4B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הארכיטקטורה ההיררכית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6CF517-61DA-FA01-0D43-E3C79153D3FF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40ABC9-5902-5AA2-21F7-4CACCAAD422A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38A19C0-641E-8415-CE2B-FA4DC0F7DAB2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08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F496ED-712F-23A8-2287-50DAC5C22937}"/>
              </a:ext>
            </a:extLst>
          </p:cNvPr>
          <p:cNvSpPr txBox="1"/>
          <p:nvPr/>
        </p:nvSpPr>
        <p:spPr>
          <a:xfrm>
            <a:off x="9334500" y="1955800"/>
            <a:ext cx="1905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24267-5CA7-B75E-674D-932D8848214D}"/>
              </a:ext>
            </a:extLst>
          </p:cNvPr>
          <p:cNvSpPr txBox="1"/>
          <p:nvPr/>
        </p:nvSpPr>
        <p:spPr>
          <a:xfrm>
            <a:off x="9486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Typed Diff Lines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1F1503-4318-C419-901F-3A8CF167D982}"/>
              </a:ext>
            </a:extLst>
          </p:cNvPr>
          <p:cNvCxnSpPr/>
          <p:nvPr/>
        </p:nvCxnSpPr>
        <p:spPr>
          <a:xfrm flipH="1">
            <a:off x="9296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04FE904-5380-E974-B8CB-1F7557021F2C}"/>
              </a:ext>
            </a:extLst>
          </p:cNvPr>
          <p:cNvSpPr txBox="1"/>
          <p:nvPr/>
        </p:nvSpPr>
        <p:spPr>
          <a:xfrm>
            <a:off x="7175500" y="1955800"/>
            <a:ext cx="19050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1179EE-6E85-6980-EEBF-B502BA1FC09C}"/>
              </a:ext>
            </a:extLst>
          </p:cNvPr>
          <p:cNvSpPr txBox="1"/>
          <p:nvPr/>
        </p:nvSpPr>
        <p:spPr>
          <a:xfrm>
            <a:off x="7327900" y="2304325"/>
            <a:ext cx="16002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Token Embedding + BiGRU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B8E41CF-1311-ECD5-5220-5C1B2242EEB4}"/>
              </a:ext>
            </a:extLst>
          </p:cNvPr>
          <p:cNvCxnSpPr/>
          <p:nvPr/>
        </p:nvCxnSpPr>
        <p:spPr>
          <a:xfrm flipH="1">
            <a:off x="7137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DC9493E-0B13-F00B-857B-E01E56E2BBC3}"/>
              </a:ext>
            </a:extLst>
          </p:cNvPr>
          <p:cNvSpPr txBox="1"/>
          <p:nvPr/>
        </p:nvSpPr>
        <p:spPr>
          <a:xfrm>
            <a:off x="5016500" y="1955800"/>
            <a:ext cx="1905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2C4B18-CD93-07BD-A1AE-A87981DA50E8}"/>
              </a:ext>
            </a:extLst>
          </p:cNvPr>
          <p:cNvSpPr txBox="1"/>
          <p:nvPr/>
        </p:nvSpPr>
        <p:spPr>
          <a:xfrm>
            <a:off x="5168900" y="2288936"/>
            <a:ext cx="16002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Vector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C4D850-C950-DAAF-9600-655D891B5923}"/>
              </a:ext>
            </a:extLst>
          </p:cNvPr>
          <p:cNvCxnSpPr/>
          <p:nvPr/>
        </p:nvCxnSpPr>
        <p:spPr>
          <a:xfrm flipH="1">
            <a:off x="4978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A247761-7C55-0ECA-57FD-3F52290076F5}"/>
              </a:ext>
            </a:extLst>
          </p:cNvPr>
          <p:cNvSpPr txBox="1"/>
          <p:nvPr/>
        </p:nvSpPr>
        <p:spPr>
          <a:xfrm>
            <a:off x="2857500" y="1955800"/>
            <a:ext cx="1905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9C0BB0-CCBC-BD96-59A3-60E21DC3D0D6}"/>
              </a:ext>
            </a:extLst>
          </p:cNvPr>
          <p:cNvSpPr txBox="1"/>
          <p:nvPr/>
        </p:nvSpPr>
        <p:spPr>
          <a:xfrm>
            <a:off x="3009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Transformer Encoder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487303-7AED-F0CB-9B30-6CDF4F6449A6}"/>
              </a:ext>
            </a:extLst>
          </p:cNvPr>
          <p:cNvCxnSpPr/>
          <p:nvPr/>
        </p:nvCxnSpPr>
        <p:spPr>
          <a:xfrm flipH="1">
            <a:off x="2819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5823F8A-0880-6FB5-B38E-B2006C0B35B0}"/>
              </a:ext>
            </a:extLst>
          </p:cNvPr>
          <p:cNvSpPr txBox="1"/>
          <p:nvPr/>
        </p:nvSpPr>
        <p:spPr>
          <a:xfrm>
            <a:off x="698500" y="1955800"/>
            <a:ext cx="19050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69ACAC-9D2B-0EEB-F669-8AFA59507400}"/>
              </a:ext>
            </a:extLst>
          </p:cNvPr>
          <p:cNvSpPr txBox="1"/>
          <p:nvPr/>
        </p:nvSpPr>
        <p:spPr>
          <a:xfrm>
            <a:off x="850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Head
Hole Head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C46D13-F30B-FB08-466F-B21327775883}"/>
              </a:ext>
            </a:extLst>
          </p:cNvPr>
          <p:cNvSpPr txBox="1"/>
          <p:nvPr/>
        </p:nvSpPr>
        <p:spPr>
          <a:xfrm>
            <a:off x="9410700" y="3996486"/>
            <a:ext cx="17526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ADD   DEL   CONTEXT</a:t>
            </a:r>
            <a:endParaRPr lang="en-IL" sz="13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B5E0D0-BE43-F989-D9AD-83421638053C}"/>
              </a:ext>
            </a:extLst>
          </p:cNvPr>
          <p:cNvSpPr txBox="1"/>
          <p:nvPr/>
        </p:nvSpPr>
        <p:spPr>
          <a:xfrm>
            <a:off x="698500" y="4673600"/>
            <a:ext cx="10795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DD1AA6-1063-5B15-432E-3A3C96B88525}"/>
              </a:ext>
            </a:extLst>
          </p:cNvPr>
          <p:cNvSpPr txBox="1"/>
          <p:nvPr/>
        </p:nvSpPr>
        <p:spPr>
          <a:xfrm>
            <a:off x="990600" y="4856653"/>
            <a:ext cx="101219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הייצוג </a:t>
            </a:r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line-type embedding </a:t>
            </a:r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מוסיף למודל מידע מפורש על תפקיד כל שורה בתוך השינוי.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71341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5BC49C-B812-64F0-ACAA-A5599742B59E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D1294-D11B-37CA-174F-4056E382BB9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95C6CD-6D4A-C0B4-610C-D6E39B7376EB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סיווג המטרה: המודל הפשוט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4CBB36-28F0-B050-B2F2-A2516FE9A079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D98447-97FE-F07D-10F9-4D9F7B38F7A4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170BE23-12F0-9B9C-0C6A-80F21AF26DD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09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8C79CB-AE50-F219-F1F0-D5E79B9E81C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25600"/>
            <a:ext cx="7239000" cy="4241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5432D9C-D6A5-5CEC-CC04-979CBE5D462C}"/>
              </a:ext>
            </a:extLst>
          </p:cNvPr>
          <p:cNvSpPr txBox="1"/>
          <p:nvPr/>
        </p:nvSpPr>
        <p:spPr>
          <a:xfrm>
            <a:off x="8343900" y="1739900"/>
            <a:ext cx="31496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AF8CC4-E729-9DD6-5BBE-4689DCF551A6}"/>
              </a:ext>
            </a:extLst>
          </p:cNvPr>
          <p:cNvSpPr txBox="1"/>
          <p:nvPr/>
        </p:nvSpPr>
        <p:spPr>
          <a:xfrm>
            <a:off x="11404600" y="1739900"/>
            <a:ext cx="889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1F9C89-08AE-7136-D77A-78F5B87E225F}"/>
              </a:ext>
            </a:extLst>
          </p:cNvPr>
          <p:cNvSpPr txBox="1"/>
          <p:nvPr/>
        </p:nvSpPr>
        <p:spPr>
          <a:xfrm>
            <a:off x="8547100" y="1820609"/>
            <a:ext cx="27051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B6B8D5-AD65-A592-20CC-D68D2AA9B47A}"/>
              </a:ext>
            </a:extLst>
          </p:cNvPr>
          <p:cNvSpPr txBox="1"/>
          <p:nvPr/>
        </p:nvSpPr>
        <p:spPr>
          <a:xfrm>
            <a:off x="8547100" y="2472114"/>
            <a:ext cx="27051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test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7CB046-D3CB-E9E7-DCA2-520FF22D3CA3}"/>
              </a:ext>
            </a:extLst>
          </p:cNvPr>
          <p:cNvSpPr txBox="1"/>
          <p:nvPr/>
        </p:nvSpPr>
        <p:spPr>
          <a:xfrm>
            <a:off x="8343900" y="2892787"/>
            <a:ext cx="3149600" cy="125675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 הבסיס </a:t>
            </a:r>
            <a:r>
              <a:rPr lang="en-US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 </a:t>
            </a:r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השיג את התוצאה הטובה ביותר. האות הלקסיקלי הספיק כדי לעקוף את המודלים העמוקים.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3674D3-89EC-B040-2896-AABA3873463A}"/>
              </a:ext>
            </a:extLst>
          </p:cNvPr>
          <p:cNvSpPr txBox="1"/>
          <p:nvPr/>
        </p:nvSpPr>
        <p:spPr>
          <a:xfrm>
            <a:off x="8343900" y="5270500"/>
            <a:ext cx="31496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4DE17D-C0D6-4D84-9D9C-24CF889CD62C}"/>
              </a:ext>
            </a:extLst>
          </p:cNvPr>
          <p:cNvSpPr txBox="1"/>
          <p:nvPr/>
        </p:nvSpPr>
        <p:spPr>
          <a:xfrm>
            <a:off x="8559800" y="5461619"/>
            <a:ext cx="27305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refactor_cleanup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91919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7A4BD6-0633-A5E8-F4BA-445376DC116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A3687-AF33-D6DA-8861-20F4E83CBDC4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3FF1ED-CFDC-199E-C7D2-345B455C0DEE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בדיקת בקרה חושפת דליפה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C7F169-6030-43A3-D729-518DBAB8FFE4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B0080A7-7D58-14DA-F984-2DC72157792A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3E1FE2D-C9CC-E6D7-1957-D1518B081491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10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F1110C-5A51-A4E8-9EBE-C298B6A115E3}"/>
              </a:ext>
            </a:extLst>
          </p:cNvPr>
          <p:cNvSpPr txBox="1"/>
          <p:nvPr/>
        </p:nvSpPr>
        <p:spPr>
          <a:xfrm>
            <a:off x="7747000" y="1968500"/>
            <a:ext cx="2921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E46010-C53C-0BCA-249A-0816B3C56446}"/>
              </a:ext>
            </a:extLst>
          </p:cNvPr>
          <p:cNvSpPr txBox="1"/>
          <p:nvPr/>
        </p:nvSpPr>
        <p:spPr>
          <a:xfrm>
            <a:off x="7975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commit message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A3C6FA0-73DF-7CC0-D70A-863D2A630D9C}"/>
              </a:ext>
            </a:extLst>
          </p:cNvPr>
          <p:cNvCxnSpPr/>
          <p:nvPr/>
        </p:nvCxnSpPr>
        <p:spPr>
          <a:xfrm flipH="1">
            <a:off x="7683500" y="2565400"/>
            <a:ext cx="3175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6E296E7-72DF-DBF6-951D-3D3EC2F50CDB}"/>
              </a:ext>
            </a:extLst>
          </p:cNvPr>
          <p:cNvSpPr txBox="1"/>
          <p:nvPr/>
        </p:nvSpPr>
        <p:spPr>
          <a:xfrm>
            <a:off x="4318000" y="1968500"/>
            <a:ext cx="2921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D112B7-D4C1-5207-935F-DC9B2C015ABF}"/>
              </a:ext>
            </a:extLst>
          </p:cNvPr>
          <p:cNvSpPr txBox="1"/>
          <p:nvPr/>
        </p:nvSpPr>
        <p:spPr>
          <a:xfrm>
            <a:off x="4546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E07E158-4FB3-43C4-5A72-5F4931650863}"/>
              </a:ext>
            </a:extLst>
          </p:cNvPr>
          <p:cNvCxnSpPr/>
          <p:nvPr/>
        </p:nvCxnSpPr>
        <p:spPr>
          <a:xfrm flipH="1">
            <a:off x="4254500" y="2565400"/>
            <a:ext cx="3175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6A467F9-BBB8-BDC6-0E37-C23BFD94DE98}"/>
              </a:ext>
            </a:extLst>
          </p:cNvPr>
          <p:cNvSpPr txBox="1"/>
          <p:nvPr/>
        </p:nvSpPr>
        <p:spPr>
          <a:xfrm>
            <a:off x="889000" y="1968500"/>
            <a:ext cx="2921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408EFB-C426-7665-AB02-CF6BC29D5986}"/>
              </a:ext>
            </a:extLst>
          </p:cNvPr>
          <p:cNvSpPr txBox="1"/>
          <p:nvPr/>
        </p:nvSpPr>
        <p:spPr>
          <a:xfrm>
            <a:off x="1117600" y="2162765"/>
            <a:ext cx="24638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message-only model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3E14AA-D938-DCE5-88AD-27970ED61F1A}"/>
              </a:ext>
            </a:extLst>
          </p:cNvPr>
          <p:cNvSpPr txBox="1"/>
          <p:nvPr/>
        </p:nvSpPr>
        <p:spPr>
          <a:xfrm>
            <a:off x="4279900" y="3485510"/>
            <a:ext cx="3683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48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0.9855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FFF7EE-16C6-A519-E8EB-896C12EAACB7}"/>
              </a:ext>
            </a:extLst>
          </p:cNvPr>
          <p:cNvSpPr txBox="1"/>
          <p:nvPr/>
        </p:nvSpPr>
        <p:spPr>
          <a:xfrm>
            <a:off x="5054600" y="4587636"/>
            <a:ext cx="21336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Macro-F1</a:t>
            </a:r>
            <a:endParaRPr lang="en-IL" sz="1700" b="1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6B7C3B-2EEA-47E6-F3AA-CDDF44B07AE5}"/>
              </a:ext>
            </a:extLst>
          </p:cNvPr>
          <p:cNvSpPr txBox="1"/>
          <p:nvPr/>
        </p:nvSpPr>
        <p:spPr>
          <a:xfrm>
            <a:off x="889000" y="5295900"/>
            <a:ext cx="97790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3A617A-88BB-3204-B54E-8D6F2082D884}"/>
              </a:ext>
            </a:extLst>
          </p:cNvPr>
          <p:cNvSpPr txBox="1"/>
          <p:nvPr/>
        </p:nvSpPr>
        <p:spPr>
          <a:xfrm>
            <a:off x="1206500" y="5440853"/>
            <a:ext cx="9144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המדד כמעט משחזר את מנגנון התיוג, ולכן אינו הוכחה להבנת קוד טהורה.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35145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2BE620-0E46-3473-CE5B-2EC6FC1CFA5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8ECAC5-EF57-C985-B7EB-7AE85253F675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1BB789-B9BB-56F1-5778-DE118095F22A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חוסר: המבנה ההיררכי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6AEFFB-7092-1E41-C1EB-164343DF017F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3EA202-2D90-DB54-D036-19AE09A282E7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7F9A397-FF9E-C74D-C358-ECB6D883DF4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11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24F54E-99F5-AF28-EAE2-A1E7801A9159}"/>
              </a:ext>
            </a:extLst>
          </p:cNvPr>
          <p:cNvSpPr txBox="1"/>
          <p:nvPr/>
        </p:nvSpPr>
        <p:spPr>
          <a:xfrm>
            <a:off x="8191500" y="1320800"/>
            <a:ext cx="33020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1D3BD4-7832-EEBD-E7F0-46EBA30DA3EB}"/>
              </a:ext>
            </a:extLst>
          </p:cNvPr>
          <p:cNvSpPr txBox="1"/>
          <p:nvPr/>
        </p:nvSpPr>
        <p:spPr>
          <a:xfrm>
            <a:off x="11404600" y="1320800"/>
            <a:ext cx="88900" cy="369332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32F354-9419-C8FE-0C4E-6CDF5DDC46AE}"/>
              </a:ext>
            </a:extLst>
          </p:cNvPr>
          <p:cNvSpPr txBox="1"/>
          <p:nvPr/>
        </p:nvSpPr>
        <p:spPr>
          <a:xfrm>
            <a:off x="8394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5E60AC-BDC5-C625-18C5-9B8557C63F39}"/>
              </a:ext>
            </a:extLst>
          </p:cNvPr>
          <p:cNvSpPr txBox="1"/>
          <p:nvPr/>
        </p:nvSpPr>
        <p:spPr>
          <a:xfrm>
            <a:off x="8394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191E11-E573-F943-F5F4-B4A9155D6874}"/>
              </a:ext>
            </a:extLst>
          </p:cNvPr>
          <p:cNvSpPr txBox="1"/>
          <p:nvPr/>
        </p:nvSpPr>
        <p:spPr>
          <a:xfrm>
            <a:off x="4445000" y="1320800"/>
            <a:ext cx="3302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290F66-6905-1155-33BD-1EB04F90DAE3}"/>
              </a:ext>
            </a:extLst>
          </p:cNvPr>
          <p:cNvSpPr txBox="1"/>
          <p:nvPr/>
        </p:nvSpPr>
        <p:spPr>
          <a:xfrm>
            <a:off x="7658100" y="1320800"/>
            <a:ext cx="889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990742-8688-E948-F699-E57F8E2DB0A1}"/>
              </a:ext>
            </a:extLst>
          </p:cNvPr>
          <p:cNvSpPr txBox="1"/>
          <p:nvPr/>
        </p:nvSpPr>
        <p:spPr>
          <a:xfrm>
            <a:off x="46482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44EE37-5614-8282-A847-D652DC6B4E50}"/>
              </a:ext>
            </a:extLst>
          </p:cNvPr>
          <p:cNvSpPr txBox="1"/>
          <p:nvPr/>
        </p:nvSpPr>
        <p:spPr>
          <a:xfrm>
            <a:off x="46482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E72593-AE1C-548B-6AA5-A2959183AE62}"/>
              </a:ext>
            </a:extLst>
          </p:cNvPr>
          <p:cNvSpPr txBox="1"/>
          <p:nvPr/>
        </p:nvSpPr>
        <p:spPr>
          <a:xfrm>
            <a:off x="698500" y="1320800"/>
            <a:ext cx="3302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9309CE-0729-63D5-8F3F-6C71444CE44B}"/>
              </a:ext>
            </a:extLst>
          </p:cNvPr>
          <p:cNvSpPr txBox="1"/>
          <p:nvPr/>
        </p:nvSpPr>
        <p:spPr>
          <a:xfrm>
            <a:off x="3911600" y="1320800"/>
            <a:ext cx="88900" cy="369332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B899D2-A20B-F750-7DE3-AAC382E0AF11}"/>
              </a:ext>
            </a:extLst>
          </p:cNvPr>
          <p:cNvSpPr txBox="1"/>
          <p:nvPr/>
        </p:nvSpPr>
        <p:spPr>
          <a:xfrm>
            <a:off x="901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172 → 81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119D30-C96D-0423-835D-C2BEC88E01EC}"/>
              </a:ext>
            </a:extLst>
          </p:cNvPr>
          <p:cNvSpPr txBox="1"/>
          <p:nvPr/>
        </p:nvSpPr>
        <p:spPr>
          <a:xfrm>
            <a:off x="901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false positives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E22B743-FF3C-5A44-3FFB-6DFBD107A13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717800"/>
            <a:ext cx="98044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900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7071AB-8928-47DC-C06F-461E4CF2DB9F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2D7BE-5D44-7506-1058-FF1E998FFBA9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E74A45-B8A2-55C5-7A9C-47873D783C13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על סוג השורה הוא רכיב מהותי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7CB2F9-C19C-7C3A-3A33-64D9C9B0C98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14606F-17D5-4E33-5D15-013973C8A48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938AD0F-6D09-4892-F335-62DCAEC5499D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12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92DF01-E939-A004-ADC4-3202560F2981}"/>
              </a:ext>
            </a:extLst>
          </p:cNvPr>
          <p:cNvSpPr txBox="1"/>
          <p:nvPr/>
        </p:nvSpPr>
        <p:spPr>
          <a:xfrm>
            <a:off x="1778000" y="1308100"/>
            <a:ext cx="36830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7D9C3C-2328-1347-3CF6-C865C00C3D8C}"/>
              </a:ext>
            </a:extLst>
          </p:cNvPr>
          <p:cNvSpPr txBox="1"/>
          <p:nvPr/>
        </p:nvSpPr>
        <p:spPr>
          <a:xfrm>
            <a:off x="5372100" y="1308100"/>
            <a:ext cx="88900" cy="369332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195166-D44C-883A-3E51-DA3964E35FF1}"/>
              </a:ext>
            </a:extLst>
          </p:cNvPr>
          <p:cNvSpPr txBox="1"/>
          <p:nvPr/>
        </p:nvSpPr>
        <p:spPr>
          <a:xfrm>
            <a:off x="1981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−0.1305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A77CFD-ECC8-BCC2-3AF9-7988A3796D53}"/>
              </a:ext>
            </a:extLst>
          </p:cNvPr>
          <p:cNvSpPr txBox="1"/>
          <p:nvPr/>
        </p:nvSpPr>
        <p:spPr>
          <a:xfrm>
            <a:off x="1981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8C2988-DDA0-FAAF-BE16-823711E5D961}"/>
              </a:ext>
            </a:extLst>
          </p:cNvPr>
          <p:cNvSpPr txBox="1"/>
          <p:nvPr/>
        </p:nvSpPr>
        <p:spPr>
          <a:xfrm>
            <a:off x="6731000" y="1308100"/>
            <a:ext cx="36830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4B565F-EECB-DD81-B7E5-4EADB0412285}"/>
              </a:ext>
            </a:extLst>
          </p:cNvPr>
          <p:cNvSpPr txBox="1"/>
          <p:nvPr/>
        </p:nvSpPr>
        <p:spPr>
          <a:xfrm>
            <a:off x="10325100" y="1308100"/>
            <a:ext cx="88900" cy="369332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E62D5-FCE9-547E-D0E2-052C366EC40E}"/>
              </a:ext>
            </a:extLst>
          </p:cNvPr>
          <p:cNvSpPr txBox="1"/>
          <p:nvPr/>
        </p:nvSpPr>
        <p:spPr>
          <a:xfrm>
            <a:off x="6934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−0.1058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ABD6FC-5649-7A7C-9DEB-6C6EE9A60D06}"/>
              </a:ext>
            </a:extLst>
          </p:cNvPr>
          <p:cNvSpPr txBox="1"/>
          <p:nvPr/>
        </p:nvSpPr>
        <p:spPr>
          <a:xfrm>
            <a:off x="6934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D57B725-5A2C-6D92-48AF-29E016040BF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2603500"/>
            <a:ext cx="109474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47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356BC8-8133-9033-2B70-A7DE2FCE3F82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AD9D8A-1587-018B-2E0F-5532C4C25CEC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9CABD3-9E3D-5020-3705-C3512C5704D4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 המודל עדיין לא הוכיח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D376DA-77D1-4AA6-8C3A-D89447532B81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4D006F-EB67-C68E-CEB7-EA13A3805BFF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543FD6-FBE8-3C7F-D35F-6533BFA9AB9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13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66629-1B3F-DC7E-DFB2-D0356D40649E}"/>
              </a:ext>
            </a:extLst>
          </p:cNvPr>
          <p:cNvSpPr txBox="1"/>
          <p:nvPr/>
        </p:nvSpPr>
        <p:spPr>
          <a:xfrm>
            <a:off x="8382000" y="1204888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IL" sz="44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1C696F-78E3-A34F-A994-D84B48DBA258}"/>
              </a:ext>
            </a:extLst>
          </p:cNvPr>
          <p:cNvSpPr txBox="1"/>
          <p:nvPr/>
        </p:nvSpPr>
        <p:spPr>
          <a:xfrm>
            <a:off x="8382000" y="2288936"/>
            <a:ext cx="3111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96ED60-62F5-91E5-FAF4-9A8EAAC257FB}"/>
              </a:ext>
            </a:extLst>
          </p:cNvPr>
          <p:cNvSpPr txBox="1"/>
          <p:nvPr/>
        </p:nvSpPr>
        <p:spPr>
          <a:xfrm>
            <a:off x="8382000" y="2806700"/>
            <a:ext cx="31115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E0A647-E1C7-CF7E-9E56-C30C06625FA3}"/>
              </a:ext>
            </a:extLst>
          </p:cNvPr>
          <p:cNvSpPr txBox="1"/>
          <p:nvPr/>
        </p:nvSpPr>
        <p:spPr>
          <a:xfrm>
            <a:off x="8940800" y="2806700"/>
            <a:ext cx="2552700" cy="369332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17000E-DE34-25B7-2EE5-DD7FF52C9386}"/>
              </a:ext>
            </a:extLst>
          </p:cNvPr>
          <p:cNvSpPr txBox="1"/>
          <p:nvPr/>
        </p:nvSpPr>
        <p:spPr>
          <a:xfrm>
            <a:off x="8382000" y="3292608"/>
            <a:ext cx="31115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mutation distribution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F8236A-71E3-44BF-E822-889BBA9BE25D}"/>
              </a:ext>
            </a:extLst>
          </p:cNvPr>
          <p:cNvSpPr txBox="1"/>
          <p:nvPr/>
        </p:nvSpPr>
        <p:spPr>
          <a:xfrm>
            <a:off x="698500" y="1346200"/>
            <a:ext cx="7112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92F586-F977-6099-DDEB-371B37E9495E}"/>
              </a:ext>
            </a:extLst>
          </p:cNvPr>
          <p:cNvSpPr txBox="1"/>
          <p:nvPr/>
        </p:nvSpPr>
        <p:spPr>
          <a:xfrm>
            <a:off x="3556000" y="14965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Coverage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4A77B2-03D2-D7B6-5B3B-F31B70F20F63}"/>
              </a:ext>
            </a:extLst>
          </p:cNvPr>
          <p:cNvSpPr txBox="1"/>
          <p:nvPr/>
        </p:nvSpPr>
        <p:spPr>
          <a:xfrm>
            <a:off x="965200" y="18621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רוב הדוגמאות נוצרו מהסרת שורה שנוספה.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0A1562-E000-9D44-151F-2B26AF8750CF}"/>
              </a:ext>
            </a:extLst>
          </p:cNvPr>
          <p:cNvSpPr txBox="1"/>
          <p:nvPr/>
        </p:nvSpPr>
        <p:spPr>
          <a:xfrm>
            <a:off x="698500" y="2921000"/>
            <a:ext cx="7112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A1F44E-8570-46F1-9078-C4E37F6A604D}"/>
              </a:ext>
            </a:extLst>
          </p:cNvPr>
          <p:cNvSpPr txBox="1"/>
          <p:nvPr/>
        </p:nvSpPr>
        <p:spPr>
          <a:xfrm>
            <a:off x="3556000" y="30713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Rare Mutations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DAC4BC-D6DB-1F1A-C7DC-BBE2A198DFBD}"/>
              </a:ext>
            </a:extLst>
          </p:cNvPr>
          <p:cNvSpPr txBox="1"/>
          <p:nvPr/>
        </p:nvSpPr>
        <p:spPr>
          <a:xfrm>
            <a:off x="965200" y="34369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יש מעט דוגמאות לשינויים סמנטיים עדינים.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A663FD-6F8C-2041-A592-3787D299E87A}"/>
              </a:ext>
            </a:extLst>
          </p:cNvPr>
          <p:cNvSpPr txBox="1"/>
          <p:nvPr/>
        </p:nvSpPr>
        <p:spPr>
          <a:xfrm>
            <a:off x="698500" y="4495800"/>
            <a:ext cx="71120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B07F4E-F759-CDEE-7482-2463920407B5}"/>
              </a:ext>
            </a:extLst>
          </p:cNvPr>
          <p:cNvSpPr txBox="1"/>
          <p:nvPr/>
        </p:nvSpPr>
        <p:spPr>
          <a:xfrm>
            <a:off x="3556000" y="46461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External Validity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0B7F4A-8D54-793B-2005-E2B6E5E27CE4}"/>
              </a:ext>
            </a:extLst>
          </p:cNvPr>
          <p:cNvSpPr txBox="1"/>
          <p:nvPr/>
        </p:nvSpPr>
        <p:spPr>
          <a:xfrm>
            <a:off x="965200" y="50117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לא בוצעה הערכה סופית על פרויקט חיצוני.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DAC527-8387-58F5-F4DC-05CD5CBF27E0}"/>
              </a:ext>
            </a:extLst>
          </p:cNvPr>
          <p:cNvSpPr txBox="1"/>
          <p:nvPr/>
        </p:nvSpPr>
        <p:spPr>
          <a:xfrm>
            <a:off x="8382000" y="4162787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נדרש סט בדיקה ידני של חוסרים אמיתיים.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50125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236DD0-A5A7-0186-7E9C-F2E21450967A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15EC59-0FBB-6DF8-A661-F93AE3263AF2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A89F06-7FEF-3723-239D-F07C584598AC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מסקנות ושאלות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E2F784-8AB6-5DCE-6D88-B90F74DBA67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293E790-842C-1D34-10DB-4C1198340B36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43FDDFE-FE04-8E63-2D2E-CD314BB90902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14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ECB9CC-170F-B284-778B-CCD7C70E211E}"/>
              </a:ext>
            </a:extLst>
          </p:cNvPr>
          <p:cNvSpPr txBox="1"/>
          <p:nvPr/>
        </p:nvSpPr>
        <p:spPr>
          <a:xfrm>
            <a:off x="698500" y="1422400"/>
            <a:ext cx="3175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35D611-DEDF-2D2B-FCAF-56DC7B54F0C3}"/>
              </a:ext>
            </a:extLst>
          </p:cNvPr>
          <p:cNvSpPr txBox="1"/>
          <p:nvPr/>
        </p:nvSpPr>
        <p:spPr>
          <a:xfrm>
            <a:off x="3784600" y="1422400"/>
            <a:ext cx="889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1E9CF4-3F77-494F-B731-F1A435B79470}"/>
              </a:ext>
            </a:extLst>
          </p:cNvPr>
          <p:cNvSpPr txBox="1"/>
          <p:nvPr/>
        </p:nvSpPr>
        <p:spPr>
          <a:xfrm>
            <a:off x="901700" y="15031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87A4EB-6437-4944-7B4F-037C5871CFBB}"/>
              </a:ext>
            </a:extLst>
          </p:cNvPr>
          <p:cNvSpPr txBox="1"/>
          <p:nvPr/>
        </p:nvSpPr>
        <p:spPr>
          <a:xfrm>
            <a:off x="901700" y="21546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816355-BA96-628C-4A65-C48B616C2DC4}"/>
              </a:ext>
            </a:extLst>
          </p:cNvPr>
          <p:cNvSpPr txBox="1"/>
          <p:nvPr/>
        </p:nvSpPr>
        <p:spPr>
          <a:xfrm>
            <a:off x="698500" y="2717800"/>
            <a:ext cx="31750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7ABE54-07C8-7C11-032C-E6D34696F3D1}"/>
              </a:ext>
            </a:extLst>
          </p:cNvPr>
          <p:cNvSpPr txBox="1"/>
          <p:nvPr/>
        </p:nvSpPr>
        <p:spPr>
          <a:xfrm>
            <a:off x="3784600" y="2717800"/>
            <a:ext cx="88900" cy="369332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1003EE-9362-E482-E22C-10152D0D4957}"/>
              </a:ext>
            </a:extLst>
          </p:cNvPr>
          <p:cNvSpPr txBox="1"/>
          <p:nvPr/>
        </p:nvSpPr>
        <p:spPr>
          <a:xfrm>
            <a:off x="901700" y="27985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ECBAFF-53D9-92BB-C57B-8CE07887E7F7}"/>
              </a:ext>
            </a:extLst>
          </p:cNvPr>
          <p:cNvSpPr txBox="1"/>
          <p:nvPr/>
        </p:nvSpPr>
        <p:spPr>
          <a:xfrm>
            <a:off x="901700" y="34500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A77FAD-3819-1A98-617E-02C1A5FFC605}"/>
              </a:ext>
            </a:extLst>
          </p:cNvPr>
          <p:cNvSpPr txBox="1"/>
          <p:nvPr/>
        </p:nvSpPr>
        <p:spPr>
          <a:xfrm>
            <a:off x="698500" y="4013200"/>
            <a:ext cx="3175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6B455E-3960-B125-48F7-5BA53BA77464}"/>
              </a:ext>
            </a:extLst>
          </p:cNvPr>
          <p:cNvSpPr txBox="1"/>
          <p:nvPr/>
        </p:nvSpPr>
        <p:spPr>
          <a:xfrm>
            <a:off x="3784600" y="4013200"/>
            <a:ext cx="88900" cy="369332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6EE711-4385-F870-33F6-8711434E693A}"/>
              </a:ext>
            </a:extLst>
          </p:cNvPr>
          <p:cNvSpPr txBox="1"/>
          <p:nvPr/>
        </p:nvSpPr>
        <p:spPr>
          <a:xfrm>
            <a:off x="901700" y="40939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4D6AC9-3BBE-45F4-8604-49A867FEF2A5}"/>
              </a:ext>
            </a:extLst>
          </p:cNvPr>
          <p:cNvSpPr txBox="1"/>
          <p:nvPr/>
        </p:nvSpPr>
        <p:spPr>
          <a:xfrm>
            <a:off x="901700" y="47454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2035EC-BD67-F8A9-A9B2-2B91866D40D2}"/>
              </a:ext>
            </a:extLst>
          </p:cNvPr>
          <p:cNvSpPr txBox="1"/>
          <p:nvPr/>
        </p:nvSpPr>
        <p:spPr>
          <a:xfrm>
            <a:off x="10617200" y="13761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B41B75-E6D7-ADCC-150E-660588A61C78}"/>
              </a:ext>
            </a:extLst>
          </p:cNvPr>
          <p:cNvSpPr txBox="1"/>
          <p:nvPr/>
        </p:nvSpPr>
        <p:spPr>
          <a:xfrm>
            <a:off x="4699000" y="1424965"/>
            <a:ext cx="56642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מבנה השינוי חשוב יותר מנפח המודל.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39A5D8-EEA4-AAA0-94F5-E35748FC0DD7}"/>
              </a:ext>
            </a:extLst>
          </p:cNvPr>
          <p:cNvSpPr txBox="1"/>
          <p:nvPr/>
        </p:nvSpPr>
        <p:spPr>
          <a:xfrm>
            <a:off x="10617200" y="26207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DE05AB-42C7-6777-6643-EA554FA7B942}"/>
              </a:ext>
            </a:extLst>
          </p:cNvPr>
          <p:cNvSpPr txBox="1"/>
          <p:nvPr/>
        </p:nvSpPr>
        <p:spPr>
          <a:xfrm>
            <a:off x="4699000" y="2654176"/>
            <a:ext cx="56642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מפורש על סוג השורה מצמצם התראות שווא ומשפר זיהוי 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363E98-E8A1-4E08-FA32-EB83779B32AD}"/>
              </a:ext>
            </a:extLst>
          </p:cNvPr>
          <p:cNvSpPr txBox="1"/>
          <p:nvPr/>
        </p:nvSpPr>
        <p:spPr>
          <a:xfrm>
            <a:off x="10617200" y="38653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538EB0-E6A1-5C89-E9B6-0764632E6012}"/>
              </a:ext>
            </a:extLst>
          </p:cNvPr>
          <p:cNvSpPr txBox="1"/>
          <p:nvPr/>
        </p:nvSpPr>
        <p:spPr>
          <a:xfrm>
            <a:off x="4699000" y="3737565"/>
            <a:ext cx="56642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תוויות </a:t>
            </a:r>
            <a:r>
              <a:rPr lang="en-US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חייבות להגיע ממקור שאינו </a:t>
            </a:r>
            <a:r>
              <a:rPr lang="en-US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commit message.</a:t>
            </a:r>
            <a:endParaRPr lang="en-IL" sz="20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09E96A7-52C6-09D2-A5D3-4685C9276AFF}"/>
              </a:ext>
            </a:extLst>
          </p:cNvPr>
          <p:cNvCxnSpPr/>
          <p:nvPr/>
        </p:nvCxnSpPr>
        <p:spPr>
          <a:xfrm>
            <a:off x="698500" y="5651500"/>
            <a:ext cx="107950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AFF8015-ED71-3945-C4DC-1D58A9251BB6}"/>
              </a:ext>
            </a:extLst>
          </p:cNvPr>
          <p:cNvSpPr txBox="1"/>
          <p:nvPr/>
        </p:nvSpPr>
        <p:spPr>
          <a:xfrm>
            <a:off x="698500" y="5944219"/>
            <a:ext cx="5842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github.com/korrenhannes/diffintent-rtl</a:t>
            </a:r>
            <a:endParaRPr lang="en-IL" sz="1400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C0ED30-E1BD-30AA-2AF7-C55A8F683822}"/>
              </a:ext>
            </a:extLst>
          </p:cNvPr>
          <p:cNvSpPr txBox="1"/>
          <p:nvPr/>
        </p:nvSpPr>
        <p:spPr>
          <a:xfrm>
            <a:off x="8851900" y="5714504"/>
            <a:ext cx="26416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שאלות?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77082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0584D3-B096-13B9-69D8-7099B7251839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2F558E-D8E3-FEB5-3405-117522F0076A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6B46C6-FFB2-4A50-DB52-6BB664989A40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מטריצות בלבול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1B6E65-A77D-3002-DD16-354106B16179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3089C9-2433-D2E6-551F-0CAF996751BD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72FF030-5F3C-61BA-1863-672112F08D44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A1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DD1336-7B4B-1699-FFD5-DE826BC1BA2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1371600"/>
            <a:ext cx="94234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998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01F7D7-1E2A-40A1-5AFA-20F37EF722FB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48D5B7-D852-388B-1E7D-0AD7E13C14C3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3BA4E6-0FB9-C9E4-4ADB-33E5BF200B47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ביצועים לפי סוג 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88841A-5F02-8760-0BDC-52FAA49E2B4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201707-A374-9D47-6654-6FF0A43BEA13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DB32706-3BED-7390-7FB4-B0429F8BCA02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A2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9EB35F-0B3A-F077-C3F4-CD39DA6A998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1333500"/>
            <a:ext cx="9423400" cy="534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094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A76334-AADE-097D-009D-3549037EC56F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5104B0-D247-B7F4-3A8A-1B1B617A6CB2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E19E2B-9EAA-E43A-4A6B-D1B6EEA35DB3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מחקרי הרחבה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CBDB6A-6D6E-0641-BA78-E07C9534524A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2663D2-C429-4F55-BA6A-1D88BA22FECD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864CE12-7857-9224-27E6-FD8F70FE32D7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A3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BC52FB-0621-5F7E-AC94-8DCA21878F74}"/>
              </a:ext>
            </a:extLst>
          </p:cNvPr>
          <p:cNvSpPr txBox="1"/>
          <p:nvPr/>
        </p:nvSpPr>
        <p:spPr>
          <a:xfrm>
            <a:off x="60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Improved Weak Labeling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EC3454-CCE5-AD58-BADE-1BEC9ACE9C9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9900"/>
            <a:ext cx="3352800" cy="2159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9872E1-94E9-DC75-9C9F-7D622342B50A}"/>
              </a:ext>
            </a:extLst>
          </p:cNvPr>
          <p:cNvSpPr txBox="1"/>
          <p:nvPr/>
        </p:nvSpPr>
        <p:spPr>
          <a:xfrm>
            <a:off x="441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Hardware-aware Features</a:t>
            </a:r>
            <a:endParaRPr lang="en-IL" sz="16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5C17F2E-FF9C-4444-8FD0-0EC84DE7884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39900"/>
            <a:ext cx="3048000" cy="218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7D6581F-2F61-D7D7-B570-23CD5C605D45}"/>
              </a:ext>
            </a:extLst>
          </p:cNvPr>
          <p:cNvSpPr txBox="1"/>
          <p:nvPr/>
        </p:nvSpPr>
        <p:spPr>
          <a:xfrm>
            <a:off x="822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Cross-project Study</a:t>
            </a:r>
            <a:endParaRPr lang="en-IL" sz="16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75F552B-A259-9FBF-381A-E158B2688A9F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739900"/>
            <a:ext cx="3352800" cy="13081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68A24F9-1E68-3DB1-B1A4-A2610C545F21}"/>
              </a:ext>
            </a:extLst>
          </p:cNvPr>
          <p:cNvSpPr txBox="1"/>
          <p:nvPr/>
        </p:nvSpPr>
        <p:spPr>
          <a:xfrm>
            <a:off x="609600" y="4406900"/>
            <a:ext cx="109728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A72A9D-11E6-6CDE-AA63-626EF941304F}"/>
              </a:ext>
            </a:extLst>
          </p:cNvPr>
          <p:cNvSpPr txBox="1"/>
          <p:nvPr/>
        </p:nvSpPr>
        <p:spPr>
          <a:xfrm>
            <a:off x="901700" y="4681542"/>
            <a:ext cx="2921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Medium-scale studies</a:t>
            </a:r>
            <a:endParaRPr lang="en-IL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F754D1-5858-C037-B548-339305C1D66B}"/>
              </a:ext>
            </a:extLst>
          </p:cNvPr>
          <p:cNvSpPr txBox="1"/>
          <p:nvPr/>
        </p:nvSpPr>
        <p:spPr>
          <a:xfrm>
            <a:off x="4064000" y="4592642"/>
            <a:ext cx="71755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המספרים אינם בני השוואה ישירה לניסוי המלא. הם מצביעים על שיפור כיסוי התיוג, ערך של מאפייני חומרה ופער בין פרויקטים.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35608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1920</Words>
  <Application>Microsoft Macintosh PowerPoint</Application>
  <PresentationFormat>Widescreen</PresentationFormat>
  <Paragraphs>198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Korren Hannes</dc:creator>
  <cp:lastModifiedBy>Korren Hannes</cp:lastModifiedBy>
  <cp:revision>1</cp:revision>
  <dcterms:created xsi:type="dcterms:W3CDTF">2026-10-07T17:02:31Z</dcterms:created>
  <dcterms:modified xsi:type="dcterms:W3CDTF">2026-10-07T17:02:46Z</dcterms:modified>
</cp:coreProperties>
</file>