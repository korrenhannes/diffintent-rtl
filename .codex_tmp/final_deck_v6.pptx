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>
      <p:cViewPr varScale="1">
        <p:scale>
          <a:sx n="116" d="100"/>
          <a:sy n="116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BDC6CE-3E07-6E45-8DF6-D0A850EF9C13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B303BF-3CCE-4543-B621-2E1245E63DA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7127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00:20
פתיחה קצרה: הפרויקט בוחן האם ניתן להבין שינויי קוד ברמת 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ולא רק את הקובץ לאחר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DiffIntent-RTL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שתי משימות: זיהוי מטרת השינוי וזיהוי חוסר פונקציונלי.
מעבר: נתחיל מהבעיה המעשית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 -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הצעת פרויקט.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pdf; report/final_report.md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303BF-3CCE-4543-B621-2E1245E63DA0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9156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המסר המרכזי: תקינות תחבירית אינה מבטיחה שלמות פונקציונלית.
בדוגמה,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קטן משנה נתיב בקרה; שורה חסרה יכולה לשנות את ההתנהגות בלי לשבור קומפילציה.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מפתח משתמש בסוג השורה, בקוד הסמוך ובמבנה השינוי.
מעבר: מכאן נגזרות שתי שאלות המחקר.
מקור: סעיפים 1 ו-3.3 בדוח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303BF-3CCE-4543-B621-2E1245E63DA0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18875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00:45
יש שתי משימות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diff.
Intent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ארבע מחלקות של מטרת 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הפרדה בין שינוי שלם לבין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implementation hole.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ההשערה נבנתה על מחקר קודם של ייצוגי שינוי, מודלים היררכיים וחיזוי מתיקוני קוד.
מעבר: כעת נראה כיצד הופכים 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Git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לנתוני אימון.
מקורות: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CC2Vec; PatchNet; DeepJIT; CodeReviewer;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סעיף 2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303BF-3CCE-4543-B621-2E1245E63DA0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19183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הצינור מתחיל בהיסטוריית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OpenTitan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ומסנן רק קבצי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SystemVerilog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רלוונטיים.
כל דוגמה היא שינוי בקובץ אחד.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נוצרות מהודעות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commit.
Synthetic Holes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נוצרים בתוך אזור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Chronological Split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הזוג המקורי והגרסה המוטנטית לעולם אינם מתפצלים בין קבוצות.
מעבר: נבחן את הרכב מערך הנתונים.
מקור: סעיפים 3.1 עד 3.4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303BF-3CCE-4543-B621-2E1245E63DA0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76181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המספרים המרכזיים: 5,903 מועמדים גולמיים, 2,843 דוגמאות אמיתיות לאחר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ו-5,500 דוגמאות לאחר יצירת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synthetic holes.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החלוקה כרונולוגית: 3,873 לאימון, 830 לאימות ו-797 לבדיקה.
הגרף מציג גם את חוסר האיזון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Intent: 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המחלקה הקטנה ביותר.
מעבר: איך בדיוק נוצרת דוגמה חסרה?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outputs/full_run/dataset_summary.json; figure_dataset_overview.png.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303BF-3CCE-4543-B621-2E1245E63DA0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63155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הדוגמה המקורית נשארת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עותק שלה עובר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מבוקר בתוך השורות שהשתנו.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הפעולה השכיחה ביותר, והיא מהווה 82.2 אחוז מדוגמאות החוסר בבדיקה.
יש גם הסרת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guard, assertion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reset assignment,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וכן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flips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אופרטורים, אך חלקם נדירים.
היתרון הוא שליטה בזוגות; החיסרון הוא פער מחוסרים אמיתיים.
מעבר: נציג את קו הבסיס ואת המודלים העמוקים.
מקור: סעיף 3.3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303BF-3CCE-4543-B621-2E1245E63DA0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02883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ההשוואה נבנתה כסולם מורכבות.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 + Logistic Regression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חזק.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MLP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מאגר ממוצע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embeddings.
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רצף שטוח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tokens.
Hierarchical Transformer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מקודד כל שורה ואז את רצף השורות, כולל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למודלים העמוקים יש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Multi-task head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לשתי המשימות.
מעבר: נפתח את הארכיטקטורה ההיררכית.
מקור: סעיף 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303BF-3CCE-4543-B621-2E1245E63DA0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78434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זו הארכיטקטורה המרכזית.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Typed Diff Lines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כל שורה מסומנת לפי תפקידה.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 Embedding + 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יוצר ייצוג פנימי לכל שורה.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Transformer Encoder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לומד קשרים בין שורות רחוקות.
שני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heads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מפיקים תחזית נפרדת לכל משימה.
הניסוי החשוב בהמשך מסיר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embedding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ובודק מה אובד.
מעבר: קודם נבחן את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סעיפים 4.3 ו-4.4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303BF-3CCE-4543-B621-2E1245E63DA0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78062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התוצאה המרכזית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0.4197 עבור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הגרף מראה שהיתרון אינו אחיד בין המחלקות;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נשארת קשה בגלל מיעוט דוגמאות וחפיפה סמנטית.
המשמעות אינה שמודלים עמוקים חסרי ערך, אלא שהמשימה והתיוג מספקים אות לקסיקלי חזק מאוד.
מעבר: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חושף עד כמה האות הזה קשור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figure_intent_per_class_f1.png.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303BF-3CCE-4543-B621-2E1245E63DA0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74769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זהו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קריטי.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 ממילות מפתח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כאשר מאמנים מודל רק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message,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מתקבל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0.9855.
לכן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משקפת במידה רבה את מנגנון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כדי לטעון להבנת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נדרש סט תוויות ידני או מקור תוויות עצמאי.
מעבר: משימת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אינה נשענת על אותו ערוץ, ושם המבנה ההיררכי בולט.
מקור: סעיף 7.5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303BF-3CCE-4543-B621-2E1245E63DA0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949888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כאן מתקבלת התוצאה החזקה ביותר של הפרויקט.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Hierarchical Transformer
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0.6029 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0.7352.
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seed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המוצג הוא שומר כמעט על אותו מספר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true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כמו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אך מוריד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מ-172 ל-81.
זה חשוב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Review: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פחות התראות שווא משפרות שימושיות.
מעבר: האם השיפור באמת מגיע ממידע על סוג השורה?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figure_hole_confusion_panels.png.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303BF-3CCE-4543-B621-2E1245E63DA0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67655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ablation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מסיר רק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information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ושומר את שאר הארכיטקטורה.
התוצאה: ירידה של 0.1305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ושל 0.1058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זהו הממצא הסיבתי החזק ביותר במצגת: לא רק נפח המודל, אלא הייצוג המפורש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ADD, DEL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CONTEXT,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תורם לזיהוי חוסר.
מעבר: עדיין צריך לפרש את התוצאה בתוך מגבלות מערך הנתונים.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figure_ablation_results.png.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303BF-3CCE-4543-B621-2E1245E63DA0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38140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שלוש מגבלות מגדירות את גבול הטענה.
ראשית, 82.2 אחוז מהחוסרים הסינתטיים הם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שנית, מספר משפחות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נדירות מדי להערכה.
שלישית, מחקר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Caliptra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הוא מקדים ובקנה מידה קטן, ולא הערכת סיום שקולה.
לכן התוצאה מצביעה על פוטנציאל, אך אינה תחליף לסט בדיקה ידני של חוסרים אמיתיים.
מעבר: נסכם את שלוש המסקנות שניתן להגן עליהן.
מקור: סעיפים 7.7 ו-8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303BF-3CCE-4543-B621-2E1245E63DA0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928549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00:35
שלוש מסקנות.
אחת: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נשאר תחרותי.
שתיים: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מבנה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מפורש משפר ביצועים ומפחית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שלוש: תוויות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חייבות להגיע ממקור שאינו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סיום: הפרויקט מספק תשתית מלאה למחקר המשך על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RTL.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מסקנות הדוח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303BF-3CCE-4543-B621-2E1245E63DA0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393419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השתמשו בה אם נשאלת שאלה על דפוסי הבלבול בין מחלקות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figure_intent_confusion_panels.png.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303BF-3CCE-4543-B621-2E1245E63DA0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406387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התרשים מפריד ביצועים לפי משפחת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וממחיש מדוע המספר הכולל מושפע מהתפלגות הדוגמאות.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figure_hole_mutation_recall.png.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303BF-3CCE-4543-B621-2E1245E63DA0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523421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מחקרי ההרחבה בוצעו על מערך קטן יותר ובפרוטוקולים אחרים. אין להשוות את הערכים המוחלטים לתוצאות הניסוי המלא.
מקור: סעיף 7.7 בדוח;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labeler_improvement.png; rtl_features_cv.png; generalization_compare.png.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303BF-3CCE-4543-B621-2E1245E63DA0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0600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7800E-3BFD-EBE4-2498-CB59D5A84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8D443C-09EB-78D0-4892-83416C044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304DA-0482-A011-2EEC-AD9A420C7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03B88-3CDC-1D41-A8B6-BA4A294EDCAE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6D0E2-D37F-E6AD-C737-E55DFFBEC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819B9-2BA1-91CE-BEEF-2F139F0C2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5440-283D-314F-9D6E-9F60A6C93A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00297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49E21-BD6C-F1C1-5A71-0EC650D2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BFD46-3657-D168-6D73-3EE634280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9AB75-A66C-F71C-AEC6-FD91C8EB1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03B88-3CDC-1D41-A8B6-BA4A294EDCAE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4D091-833A-AE4F-9F83-C8B099CE3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38212-21B3-290F-6226-7B6262420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5440-283D-314F-9D6E-9F60A6C93A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26622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D2559-D3BF-2DAC-82EA-DD47A853A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80D35-13AE-4E4B-6860-7A6BC8D22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1DA29-1D36-86B2-8882-F88B850DE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03B88-3CDC-1D41-A8B6-BA4A294EDCAE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24F77-5BD7-7B67-56F0-613DC955C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59D8D-BA56-50C2-3637-FD3520A82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5440-283D-314F-9D6E-9F60A6C93A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68438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8FA0-3EF8-A3CB-7FE5-64A918B79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286FF-FE87-B46D-8D08-4DAC65579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6AAA29-4A7D-F11F-AADB-7A9701958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8D2A4-EEE9-A4A8-8BB8-E1C533F2D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03B88-3CDC-1D41-A8B6-BA4A294EDCAE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6FB36-3A46-D194-83F1-4C37C069C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A5BCB-411A-3A8C-3591-4164B19B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5440-283D-314F-9D6E-9F60A6C93A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39518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8D34E-ED60-8216-ACBE-4686D1EF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C1566-3CE1-5A83-A2B4-4D5468E89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6B02B-9206-C063-64EB-7C3C53A3D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BD3A2A-2E83-F353-833A-F38254A8B2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B6508E-AF03-F05C-5D6B-41ADC29D4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C47671-DD3D-C12C-B151-319E95B5C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03B88-3CDC-1D41-A8B6-BA4A294EDCAE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5EA2DC-D373-32AE-C832-B70F29A5A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9FE749-5961-AF33-9EF8-1BDCA19C4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5440-283D-314F-9D6E-9F60A6C93A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16489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1718E-16E2-47C3-49FB-B3A9C0066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52EF81-2933-8190-2112-03A203BDE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03B88-3CDC-1D41-A8B6-BA4A294EDCAE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D19D9-5097-313B-AD93-34F6010F6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6F8F1E-B7C5-C26D-9899-EFFDFDB73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5440-283D-314F-9D6E-9F60A6C93A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15205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D47B2C-FD34-78D0-CB99-5A47FC5CF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03B88-3CDC-1D41-A8B6-BA4A294EDCAE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36F7E7-D19F-3F92-B80A-798F62003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5FFAF-E887-0361-9EFE-349DA7C3D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5440-283D-314F-9D6E-9F60A6C93A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3478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975B9-6218-BDCA-623B-E5B39603C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1ED9F-CA24-5A96-C614-F1F540913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8C818-14A7-A6B2-6225-2A45200C6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3D5B1-78AF-FE82-72C8-07A02FAF8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03B88-3CDC-1D41-A8B6-BA4A294EDCAE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9EF21-D266-CDA0-1EA6-F1F2A634B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FF28A-8A4A-0B83-A606-33812CDD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5440-283D-314F-9D6E-9F60A6C93A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40893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4001C-ABF0-4F2B-BD63-B4AA5310D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F71765-0370-EC45-B21A-1B491691E35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10865B-FADA-0FA1-39AA-094548221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14108-5CFA-D9DF-8661-225A39857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03B88-3CDC-1D41-A8B6-BA4A294EDCAE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15E90-6F47-1825-8BE4-8A99B7F86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59D0F-5729-E2BC-EFDB-EEB3418A5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5440-283D-314F-9D6E-9F60A6C93A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80727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B6326-E866-FC42-D74D-ADDC33B1E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1D3C24-C3B6-14EA-C6C0-9648C3FA5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274A9-5C76-B8BC-12D5-A20E3B235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03B88-3CDC-1D41-A8B6-BA4A294EDCAE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66845-D26B-27AA-AA81-D03BBB95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FFCFB-FEE0-D90C-9593-9B9D20D71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5440-283D-314F-9D6E-9F60A6C93A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67707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B7DE3-182B-CB06-69F1-E9EE7DC608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65151C-6961-D03F-9EA4-B0DDA91A0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98338-BE39-37B4-6C42-979449700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03B88-3CDC-1D41-A8B6-BA4A294EDCAE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58C12-37F3-7BE6-9F54-8AD9913E9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90FD1-C41B-E0A7-B54D-019430E95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5440-283D-314F-9D6E-9F60A6C93A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23601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F554E5-D141-2347-D00A-1E91125F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C1841-7B84-4597-42F1-F8743F5C8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BD03F-EBB6-591F-63DC-6CA8BB2B23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03B88-3CDC-1D41-A8B6-BA4A294EDCAE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4A90F-B7DB-1E9F-225F-BDF1F90D4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F5F32-48D7-19B1-7A9E-9FD4BF5CED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065440-283D-314F-9D6E-9F60A6C93A6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95972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1">
            <a:extLst>
              <a:ext uri="{FF2B5EF4-FFF2-40B4-BE49-F238E27FC236}">
                <a16:creationId xmlns:a16="http://schemas.microsoft.com/office/drawing/2014/main" id="{B9478291-D0A3-43BB-AE6B-FF196486A3EC}"/>
              </a:ext>
            </a:extLst>
          </p:cNvPr>
          <p:cNvSpPr/>
          <p:nvPr/>
        </p:nvSpPr>
        <p:spPr>
          <a:xfrm>
            <a:off x="12065000" y="0"/>
            <a:ext cx="127000" cy="68580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23EB0B-E0AE-F345-DE8D-55A38672D3A3}"/>
              </a:ext>
            </a:extLst>
          </p:cNvPr>
          <p:cNvSpPr txBox="1"/>
          <p:nvPr/>
        </p:nvSpPr>
        <p:spPr>
          <a:xfrm>
            <a:off x="5207000" y="869310"/>
            <a:ext cx="60325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4800" b="1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4800" b="1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3115A9-1BF0-B01C-F709-F94DE1313C20}"/>
              </a:ext>
            </a:extLst>
          </p:cNvPr>
          <p:cNvSpPr txBox="1"/>
          <p:nvPr/>
        </p:nvSpPr>
        <p:spPr>
          <a:xfrm>
            <a:off x="5207000" y="1894577"/>
            <a:ext cx="60325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3000" b="1">
                <a:solidFill>
                  <a:srgbClr val="DDE7F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מטרת שינוי וחוסרים פונקציונליים בקוד</a:t>
            </a:r>
            <a:endParaRPr lang="en-IL" sz="3000" b="1">
              <a:solidFill>
                <a:srgbClr val="DDE7F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6D921C-DED6-7343-72EF-97221BD8C41D}"/>
              </a:ext>
            </a:extLst>
          </p:cNvPr>
          <p:cNvSpPr txBox="1"/>
          <p:nvPr/>
        </p:nvSpPr>
        <p:spPr>
          <a:xfrm>
            <a:off x="9144000" y="3098304"/>
            <a:ext cx="20955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29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RTL</a:t>
            </a:r>
            <a:endParaRPr lang="en-IL" sz="29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6864474-B05D-BFAD-A99F-7460CF275558}"/>
              </a:ext>
            </a:extLst>
          </p:cNvPr>
          <p:cNvCxnSpPr/>
          <p:nvPr/>
        </p:nvCxnSpPr>
        <p:spPr>
          <a:xfrm>
            <a:off x="825500" y="3987800"/>
            <a:ext cx="10414000" cy="0"/>
          </a:xfrm>
          <a:prstGeom prst="line">
            <a:avLst/>
          </a:prstGeom>
          <a:ln w="19050">
            <a:solidFill>
              <a:srgbClr val="405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1949E7E-52C0-631D-C5BE-3CDC9B34A7D9}"/>
              </a:ext>
            </a:extLst>
          </p:cNvPr>
          <p:cNvSpPr txBox="1"/>
          <p:nvPr/>
        </p:nvSpPr>
        <p:spPr>
          <a:xfrm>
            <a:off x="5207000" y="4348653"/>
            <a:ext cx="60325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קורן הנס  |  נועה סבג</a:t>
            </a:r>
            <a:endParaRPr lang="en-IL" sz="2000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6A3A28-A5B4-3161-4828-04DD000EEE30}"/>
              </a:ext>
            </a:extLst>
          </p:cNvPr>
          <p:cNvSpPr txBox="1"/>
          <p:nvPr/>
        </p:nvSpPr>
        <p:spPr>
          <a:xfrm>
            <a:off x="825500" y="4384436"/>
            <a:ext cx="4445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7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Deep Learning Project</a:t>
            </a:r>
            <a:endParaRPr lang="en-IL" sz="17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95B878-9553-B790-5E28-7FC36CBAD9E4}"/>
              </a:ext>
            </a:extLst>
          </p:cNvPr>
          <p:cNvSpPr txBox="1"/>
          <p:nvPr/>
        </p:nvSpPr>
        <p:spPr>
          <a:xfrm>
            <a:off x="825500" y="5741019"/>
            <a:ext cx="1651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15 min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8E2DB3-759C-F24A-14A2-F8FCFE130BAE}"/>
              </a:ext>
            </a:extLst>
          </p:cNvPr>
          <p:cNvSpPr txBox="1"/>
          <p:nvPr/>
        </p:nvSpPr>
        <p:spPr>
          <a:xfrm>
            <a:off x="825500" y="6150108"/>
            <a:ext cx="3302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2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Final Presentation</a:t>
            </a:r>
            <a:endParaRPr lang="en-IL" sz="12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42927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2">
            <a:extLst>
              <a:ext uri="{FF2B5EF4-FFF2-40B4-BE49-F238E27FC236}">
                <a16:creationId xmlns:a16="http://schemas.microsoft.com/office/drawing/2014/main" id="{48202664-8D22-6350-2F91-8C868B2FB2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93">
            <a:extLst>
              <a:ext uri="{FF2B5EF4-FFF2-40B4-BE49-F238E27FC236}">
                <a16:creationId xmlns:a16="http://schemas.microsoft.com/office/drawing/2014/main" id="{322383C6-34BC-2BA8-C9EE-3D222BCE1DB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634B4D-B992-7189-4331-0BC8D0B15047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חוסר גדול מסתתר בשינוי קטן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4053E5-C07A-FB1C-4E53-505FBCA24483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324D9F-37BA-AF76-0CEE-12B1A55CB1F4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7DCFA22-8121-5FE4-B84D-ED6DEB284BB1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02 / 14</a:t>
            </a:r>
          </a:p>
        </p:txBody>
      </p:sp>
      <p:sp>
        <p:nvSpPr>
          <p:cNvPr id="10" name="Shape_94">
            <a:extLst>
              <a:ext uri="{FF2B5EF4-FFF2-40B4-BE49-F238E27FC236}">
                <a16:creationId xmlns:a16="http://schemas.microsoft.com/office/drawing/2014/main" id="{AEA263E6-42A4-3CDC-70F9-0C5087B36E4D}"/>
              </a:ext>
            </a:extLst>
          </p:cNvPr>
          <p:cNvSpPr/>
          <p:nvPr/>
        </p:nvSpPr>
        <p:spPr>
          <a:xfrm>
            <a:off x="609600" y="1333500"/>
            <a:ext cx="6413500" cy="41910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E8F350-96E3-52B4-0339-037A645A3184}"/>
              </a:ext>
            </a:extLst>
          </p:cNvPr>
          <p:cNvSpPr txBox="1"/>
          <p:nvPr/>
        </p:nvSpPr>
        <p:spPr>
          <a:xfrm>
            <a:off x="914400" y="1676400"/>
            <a:ext cx="5778500" cy="20313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@@ always_ff @(posedge clk_i) @@
- if (!rst_ni) state_q &lt;= IDLE;
+ if (!rst_ni) state_q &lt;= IDLE;
+ else if (req_i) begin
+   state_q &lt;= BUSY;
+   valid_o &lt;= 1'b1;
+ end</a:t>
            </a:r>
            <a:endParaRPr lang="en-IL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2" name="Shape_95">
            <a:extLst>
              <a:ext uri="{FF2B5EF4-FFF2-40B4-BE49-F238E27FC236}">
                <a16:creationId xmlns:a16="http://schemas.microsoft.com/office/drawing/2014/main" id="{36F45E63-1A95-6F1E-01E7-A129BECAE908}"/>
              </a:ext>
            </a:extLst>
          </p:cNvPr>
          <p:cNvSpPr/>
          <p:nvPr/>
        </p:nvSpPr>
        <p:spPr>
          <a:xfrm>
            <a:off x="914400" y="4749800"/>
            <a:ext cx="5778500" cy="457200"/>
          </a:xfrm>
          <a:prstGeom prst="rect">
            <a:avLst/>
          </a:prstGeom>
          <a:solidFill>
            <a:srgbClr val="23364A"/>
          </a:solidFill>
          <a:ln w="0" cap="flat" cmpd="sng" algn="ctr">
            <a:solidFill>
              <a:srgbClr val="23364A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3DA307-F5DE-2A4D-BDF2-E2C8F5F4FC1D}"/>
              </a:ext>
            </a:extLst>
          </p:cNvPr>
          <p:cNvSpPr txBox="1"/>
          <p:nvPr/>
        </p:nvSpPr>
        <p:spPr>
          <a:xfrm>
            <a:off x="1079500" y="4869725"/>
            <a:ext cx="5461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What if the final assignment is missing?</a:t>
            </a:r>
            <a:endParaRPr lang="en-IL" sz="15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4C5FD3-B1EB-DB73-69DF-DEA509F25D23}"/>
              </a:ext>
            </a:extLst>
          </p:cNvPr>
          <p:cNvSpPr txBox="1"/>
          <p:nvPr/>
        </p:nvSpPr>
        <p:spPr>
          <a:xfrm>
            <a:off x="7429500" y="1428110"/>
            <a:ext cx="4064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4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השינוי עדיין יכול להיות תקין תחבירית</a:t>
            </a:r>
            <a:endParaRPr lang="en-IL" sz="24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A40916-5ED8-BC99-C5AB-2F30EB2BB7B3}"/>
              </a:ext>
            </a:extLst>
          </p:cNvPr>
          <p:cNvSpPr txBox="1"/>
          <p:nvPr/>
        </p:nvSpPr>
        <p:spPr>
          <a:xfrm>
            <a:off x="7429500" y="2141999"/>
            <a:ext cx="40640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3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אבל ההתנהגות הרצויה אינה שלמה</a:t>
            </a:r>
            <a:endParaRPr lang="en-IL" sz="23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1CAB62C-592D-FBC2-7EFA-83E059079F6C}"/>
              </a:ext>
            </a:extLst>
          </p:cNvPr>
          <p:cNvCxnSpPr/>
          <p:nvPr/>
        </p:nvCxnSpPr>
        <p:spPr>
          <a:xfrm>
            <a:off x="7366000" y="3175000"/>
            <a:ext cx="41275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4E486B4-94B4-A7E2-8D63-508F3DE344C6}"/>
              </a:ext>
            </a:extLst>
          </p:cNvPr>
          <p:cNvSpPr txBox="1"/>
          <p:nvPr/>
        </p:nvSpPr>
        <p:spPr>
          <a:xfrm>
            <a:off x="7429500" y="3454275"/>
            <a:ext cx="40640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קורא הקשר, מבנה והבדלים בין שורות. המודל חייב לקבל את אותם רמזים.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33B50E-71B9-AE0E-A55E-54043BA4C6AE}"/>
              </a:ext>
            </a:extLst>
          </p:cNvPr>
          <p:cNvSpPr txBox="1"/>
          <p:nvPr/>
        </p:nvSpPr>
        <p:spPr>
          <a:xfrm>
            <a:off x="7429500" y="5006736"/>
            <a:ext cx="4064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Code Review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DFC527-C0A7-A0FF-C7FF-5686D2516289}"/>
              </a:ext>
            </a:extLst>
          </p:cNvPr>
          <p:cNvSpPr txBox="1"/>
          <p:nvPr/>
        </p:nvSpPr>
        <p:spPr>
          <a:xfrm>
            <a:off x="7429500" y="5354642"/>
            <a:ext cx="40640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קורא יחד את ההקשר, המבנה וההבדל בין השורות.</a:t>
            </a:r>
            <a:endParaRPr lang="en-IL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0186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6">
            <a:extLst>
              <a:ext uri="{FF2B5EF4-FFF2-40B4-BE49-F238E27FC236}">
                <a16:creationId xmlns:a16="http://schemas.microsoft.com/office/drawing/2014/main" id="{15968478-A067-85F3-C067-B0BC34611A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97">
            <a:extLst>
              <a:ext uri="{FF2B5EF4-FFF2-40B4-BE49-F238E27FC236}">
                <a16:creationId xmlns:a16="http://schemas.microsoft.com/office/drawing/2014/main" id="{715D34A9-E68E-3E78-24A8-B16807E3290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8E7739-FD78-1BE7-CEA2-21FB7318C761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שתי שאלות מחקר, אובייקט למידה אחד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0AC57B-D897-6D95-45CC-AD7887B99DE1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FFC311-152C-85B3-1810-BD8AF6099833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298D20D-38DA-18D5-469E-FCA059D46422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03 / 14</a:t>
            </a:r>
          </a:p>
        </p:txBody>
      </p:sp>
      <p:sp>
        <p:nvSpPr>
          <p:cNvPr id="10" name="Shape_98">
            <a:extLst>
              <a:ext uri="{FF2B5EF4-FFF2-40B4-BE49-F238E27FC236}">
                <a16:creationId xmlns:a16="http://schemas.microsoft.com/office/drawing/2014/main" id="{435834F0-BA60-09B9-0082-FD0DF8CA5254}"/>
              </a:ext>
            </a:extLst>
          </p:cNvPr>
          <p:cNvSpPr/>
          <p:nvPr/>
        </p:nvSpPr>
        <p:spPr>
          <a:xfrm>
            <a:off x="6350000" y="1498600"/>
            <a:ext cx="5143500" cy="2616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E1B85C-97DD-3A23-08C0-C08B7869D963}"/>
              </a:ext>
            </a:extLst>
          </p:cNvPr>
          <p:cNvSpPr txBox="1"/>
          <p:nvPr/>
        </p:nvSpPr>
        <p:spPr>
          <a:xfrm>
            <a:off x="67945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</a:t>
            </a:r>
            <a:endParaRPr lang="en-IL" sz="30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D54A4F-00BB-A272-8DF9-073C9C5032D8}"/>
              </a:ext>
            </a:extLst>
          </p:cNvPr>
          <p:cNvSpPr txBox="1"/>
          <p:nvPr/>
        </p:nvSpPr>
        <p:spPr>
          <a:xfrm>
            <a:off x="67945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איזו מטרה עומדת מאחורי השינוי?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E599C1-2E99-8610-D5DB-5FC68B1ECB2B}"/>
              </a:ext>
            </a:extLst>
          </p:cNvPr>
          <p:cNvSpPr txBox="1"/>
          <p:nvPr/>
        </p:nvSpPr>
        <p:spPr>
          <a:xfrm>
            <a:off x="90170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 classes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99">
            <a:extLst>
              <a:ext uri="{FF2B5EF4-FFF2-40B4-BE49-F238E27FC236}">
                <a16:creationId xmlns:a16="http://schemas.microsoft.com/office/drawing/2014/main" id="{BAD7CBA1-6EE9-1EC4-831E-5ADA98BDA40E}"/>
              </a:ext>
            </a:extLst>
          </p:cNvPr>
          <p:cNvSpPr/>
          <p:nvPr/>
        </p:nvSpPr>
        <p:spPr>
          <a:xfrm>
            <a:off x="698500" y="1498600"/>
            <a:ext cx="5143500" cy="2616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90915A-B7CE-1A5C-D63B-7A779B783AFB}"/>
              </a:ext>
            </a:extLst>
          </p:cNvPr>
          <p:cNvSpPr txBox="1"/>
          <p:nvPr/>
        </p:nvSpPr>
        <p:spPr>
          <a:xfrm>
            <a:off x="11430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Completeness</a:t>
            </a:r>
            <a:endParaRPr lang="en-IL" sz="30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541A38-BFD2-D2E9-3F01-AFA57572FAF6}"/>
              </a:ext>
            </a:extLst>
          </p:cNvPr>
          <p:cNvSpPr txBox="1"/>
          <p:nvPr/>
        </p:nvSpPr>
        <p:spPr>
          <a:xfrm>
            <a:off x="11430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האם השינוי נראה שלם?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DB9938-891B-9899-3607-BC443E4A2209}"/>
              </a:ext>
            </a:extLst>
          </p:cNvPr>
          <p:cNvSpPr txBox="1"/>
          <p:nvPr/>
        </p:nvSpPr>
        <p:spPr>
          <a:xfrm>
            <a:off x="33655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binary task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4956D3A-4BFD-4B43-2254-13298F57A385}"/>
              </a:ext>
            </a:extLst>
          </p:cNvPr>
          <p:cNvCxnSpPr/>
          <p:nvPr/>
        </p:nvCxnSpPr>
        <p:spPr>
          <a:xfrm>
            <a:off x="6096000" y="1676400"/>
            <a:ext cx="0" cy="2260600"/>
          </a:xfrm>
          <a:prstGeom prst="line">
            <a:avLst/>
          </a:prstGeom>
          <a:ln w="254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5EFD1E2-BCB1-C4D7-5A11-950D2AF0E7FE}"/>
              </a:ext>
            </a:extLst>
          </p:cNvPr>
          <p:cNvSpPr txBox="1"/>
          <p:nvPr/>
        </p:nvSpPr>
        <p:spPr>
          <a:xfrm>
            <a:off x="9842500" y="4542670"/>
            <a:ext cx="1651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ההשערה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F5FF0B-C9F8-B0A7-51FC-F5D33FF5CD0E}"/>
              </a:ext>
            </a:extLst>
          </p:cNvPr>
          <p:cNvSpPr txBox="1"/>
          <p:nvPr/>
        </p:nvSpPr>
        <p:spPr>
          <a:xfrm>
            <a:off x="3276600" y="4763576"/>
            <a:ext cx="82169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היררכי שמבחין בין שורות שנוספו, נמחקו ונשמרו ישפר את זיהוי החוסר.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BA05FD-149E-3EA8-08C6-7B02B880AF9D}"/>
              </a:ext>
            </a:extLst>
          </p:cNvPr>
          <p:cNvSpPr txBox="1"/>
          <p:nvPr/>
        </p:nvSpPr>
        <p:spPr>
          <a:xfrm>
            <a:off x="698500" y="5886553"/>
            <a:ext cx="10795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4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CC2Vec   PatchNet   DeepJIT   CodeReviewer</a:t>
            </a:r>
            <a:endParaRPr lang="en-IL" sz="14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19888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00">
            <a:extLst>
              <a:ext uri="{FF2B5EF4-FFF2-40B4-BE49-F238E27FC236}">
                <a16:creationId xmlns:a16="http://schemas.microsoft.com/office/drawing/2014/main" id="{43B80626-C3A4-E6D0-CE97-9997489F43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01">
            <a:extLst>
              <a:ext uri="{FF2B5EF4-FFF2-40B4-BE49-F238E27FC236}">
                <a16:creationId xmlns:a16="http://schemas.microsoft.com/office/drawing/2014/main" id="{327C4C1B-A4DC-4087-D108-5287D0195FC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0E7D03-50BE-361C-03EC-8224A16DB497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מהיסטוריית קוד לניסוי מבוקר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193BF2-880C-23E1-5C0D-8DC7E73E3764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ABB7733-0021-AAED-6F27-093343E53007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D7166AD-AE4F-3D64-555C-348072CD8878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04 / 14</a:t>
            </a:r>
          </a:p>
        </p:txBody>
      </p:sp>
      <p:sp>
        <p:nvSpPr>
          <p:cNvPr id="10" name="Shape_102">
            <a:extLst>
              <a:ext uri="{FF2B5EF4-FFF2-40B4-BE49-F238E27FC236}">
                <a16:creationId xmlns:a16="http://schemas.microsoft.com/office/drawing/2014/main" id="{337FE71E-F5FE-01B4-7A80-E40B12B81214}"/>
              </a:ext>
            </a:extLst>
          </p:cNvPr>
          <p:cNvSpPr/>
          <p:nvPr/>
        </p:nvSpPr>
        <p:spPr>
          <a:xfrm>
            <a:off x="939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611ABF-8D0E-A107-9EF1-07BD17AE5A34}"/>
              </a:ext>
            </a:extLst>
          </p:cNvPr>
          <p:cNvSpPr txBox="1"/>
          <p:nvPr/>
        </p:nvSpPr>
        <p:spPr>
          <a:xfrm>
            <a:off x="952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OpenTitan Git History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1ED933-3AB3-C9C7-BC3B-68675D343061}"/>
              </a:ext>
            </a:extLst>
          </p:cNvPr>
          <p:cNvCxnSpPr/>
          <p:nvPr/>
        </p:nvCxnSpPr>
        <p:spPr>
          <a:xfrm flipH="1">
            <a:off x="9169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103">
            <a:extLst>
              <a:ext uri="{FF2B5EF4-FFF2-40B4-BE49-F238E27FC236}">
                <a16:creationId xmlns:a16="http://schemas.microsoft.com/office/drawing/2014/main" id="{7BC07BB7-CA8C-AB05-F48F-4C15690D3296}"/>
              </a:ext>
            </a:extLst>
          </p:cNvPr>
          <p:cNvSpPr/>
          <p:nvPr/>
        </p:nvSpPr>
        <p:spPr>
          <a:xfrm>
            <a:off x="7175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E8AA8D-4132-7C4B-2C0B-ECAE035310A6}"/>
              </a:ext>
            </a:extLst>
          </p:cNvPr>
          <p:cNvSpPr txBox="1"/>
          <p:nvPr/>
        </p:nvSpPr>
        <p:spPr>
          <a:xfrm>
            <a:off x="7302500" y="2301636"/>
            <a:ext cx="1587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 Mining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8B7CD7-2A5F-B3DC-2CB2-21735FE71D07}"/>
              </a:ext>
            </a:extLst>
          </p:cNvPr>
          <p:cNvCxnSpPr/>
          <p:nvPr/>
        </p:nvCxnSpPr>
        <p:spPr>
          <a:xfrm flipH="1">
            <a:off x="6946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104">
            <a:extLst>
              <a:ext uri="{FF2B5EF4-FFF2-40B4-BE49-F238E27FC236}">
                <a16:creationId xmlns:a16="http://schemas.microsoft.com/office/drawing/2014/main" id="{E64103FF-B297-E0FC-1BAA-3DD11BC97EAC}"/>
              </a:ext>
            </a:extLst>
          </p:cNvPr>
          <p:cNvSpPr/>
          <p:nvPr/>
        </p:nvSpPr>
        <p:spPr>
          <a:xfrm>
            <a:off x="4953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2F4E12-43AC-65C1-F675-3B11011A8ABB}"/>
              </a:ext>
            </a:extLst>
          </p:cNvPr>
          <p:cNvSpPr txBox="1"/>
          <p:nvPr/>
        </p:nvSpPr>
        <p:spPr>
          <a:xfrm>
            <a:off x="5080000" y="2317025"/>
            <a:ext cx="15875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Labels + Synthetic Holes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7D1DE30-0979-D620-8C1A-C3AC6C5B67BA}"/>
              </a:ext>
            </a:extLst>
          </p:cNvPr>
          <p:cNvCxnSpPr/>
          <p:nvPr/>
        </p:nvCxnSpPr>
        <p:spPr>
          <a:xfrm flipH="1">
            <a:off x="4724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105">
            <a:extLst>
              <a:ext uri="{FF2B5EF4-FFF2-40B4-BE49-F238E27FC236}">
                <a16:creationId xmlns:a16="http://schemas.microsoft.com/office/drawing/2014/main" id="{7FBF28CF-31E0-C6B4-AE4A-CC2EBE9263A0}"/>
              </a:ext>
            </a:extLst>
          </p:cNvPr>
          <p:cNvSpPr/>
          <p:nvPr/>
        </p:nvSpPr>
        <p:spPr>
          <a:xfrm>
            <a:off x="2730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C9BA16-8BD0-EB89-D6A1-41615BDD5CD2}"/>
              </a:ext>
            </a:extLst>
          </p:cNvPr>
          <p:cNvSpPr txBox="1"/>
          <p:nvPr/>
        </p:nvSpPr>
        <p:spPr>
          <a:xfrm>
            <a:off x="28575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Chronological Split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2350EF-718A-51FC-039F-8D7A0D3DBA3F}"/>
              </a:ext>
            </a:extLst>
          </p:cNvPr>
          <p:cNvCxnSpPr/>
          <p:nvPr/>
        </p:nvCxnSpPr>
        <p:spPr>
          <a:xfrm flipH="1">
            <a:off x="2501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106">
            <a:extLst>
              <a:ext uri="{FF2B5EF4-FFF2-40B4-BE49-F238E27FC236}">
                <a16:creationId xmlns:a16="http://schemas.microsoft.com/office/drawing/2014/main" id="{5A3AE414-640A-4AEF-15AE-CB8028CAC9BA}"/>
              </a:ext>
            </a:extLst>
          </p:cNvPr>
          <p:cNvSpPr/>
          <p:nvPr/>
        </p:nvSpPr>
        <p:spPr>
          <a:xfrm>
            <a:off x="50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BA1264-EF38-6868-55A4-A060BDFC5D89}"/>
              </a:ext>
            </a:extLst>
          </p:cNvPr>
          <p:cNvSpPr txBox="1"/>
          <p:nvPr/>
        </p:nvSpPr>
        <p:spPr>
          <a:xfrm>
            <a:off x="63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Training &amp; Evaluation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1315BF-7D93-248C-7780-FFFF4D911690}"/>
              </a:ext>
            </a:extLst>
          </p:cNvPr>
          <p:cNvSpPr txBox="1"/>
          <p:nvPr/>
        </p:nvSpPr>
        <p:spPr>
          <a:xfrm>
            <a:off x="9626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A6BFE8-B0F5-403E-1642-D959C41BF5DE}"/>
              </a:ext>
            </a:extLst>
          </p:cNvPr>
          <p:cNvSpPr txBox="1"/>
          <p:nvPr/>
        </p:nvSpPr>
        <p:spPr>
          <a:xfrm>
            <a:off x="5181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B55582-AFBD-A1A4-DF7D-45057ED9B515}"/>
              </a:ext>
            </a:extLst>
          </p:cNvPr>
          <p:cNvSpPr txBox="1"/>
          <p:nvPr/>
        </p:nvSpPr>
        <p:spPr>
          <a:xfrm>
            <a:off x="29337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569832-8714-286C-AFB9-475C621DA025}"/>
              </a:ext>
            </a:extLst>
          </p:cNvPr>
          <p:cNvSpPr txBox="1"/>
          <p:nvPr/>
        </p:nvSpPr>
        <p:spPr>
          <a:xfrm>
            <a:off x="9423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7AF4E5-51F2-BF22-36DB-70A6075E3C6E}"/>
              </a:ext>
            </a:extLst>
          </p:cNvPr>
          <p:cNvSpPr txBox="1"/>
          <p:nvPr/>
        </p:nvSpPr>
        <p:spPr>
          <a:xfrm>
            <a:off x="4978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AB5D81-7877-040F-500C-C28073904BD1}"/>
              </a:ext>
            </a:extLst>
          </p:cNvPr>
          <p:cNvSpPr txBox="1"/>
          <p:nvPr/>
        </p:nvSpPr>
        <p:spPr>
          <a:xfrm>
            <a:off x="27305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total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Shape_107">
            <a:extLst>
              <a:ext uri="{FF2B5EF4-FFF2-40B4-BE49-F238E27FC236}">
                <a16:creationId xmlns:a16="http://schemas.microsoft.com/office/drawing/2014/main" id="{080E2D02-1E0D-C1C5-A64B-24FAED33ECD5}"/>
              </a:ext>
            </a:extLst>
          </p:cNvPr>
          <p:cNvSpPr/>
          <p:nvPr/>
        </p:nvSpPr>
        <p:spPr>
          <a:xfrm>
            <a:off x="698500" y="5181600"/>
            <a:ext cx="10795000" cy="774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F36183-A71D-5E07-1228-9C4BDD90724C}"/>
              </a:ext>
            </a:extLst>
          </p:cNvPr>
          <p:cNvSpPr txBox="1"/>
          <p:nvPr/>
        </p:nvSpPr>
        <p:spPr>
          <a:xfrm>
            <a:off x="1054100" y="5359648"/>
            <a:ext cx="100838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כל שינוי נשמר ברמת קובץ, והזוג המקורי והסינתטי נשאר באותה חלוקה.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23713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08">
            <a:extLst>
              <a:ext uri="{FF2B5EF4-FFF2-40B4-BE49-F238E27FC236}">
                <a16:creationId xmlns:a16="http://schemas.microsoft.com/office/drawing/2014/main" id="{6326CFE8-7CBE-99FF-4D43-3B6D029CC0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09">
            <a:extLst>
              <a:ext uri="{FF2B5EF4-FFF2-40B4-BE49-F238E27FC236}">
                <a16:creationId xmlns:a16="http://schemas.microsoft.com/office/drawing/2014/main" id="{607AE062-38FC-DF8E-C0DD-BB075D6CD2F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8D325A-D714-4B75-74C8-61DF3C5912FE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מערך הנתונים: כרונולוגי, מאוזן בזוגות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59F1B9-3DB1-1D3A-DAC9-A8B766D0E03B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CD9B4E-8195-323D-D27A-CF6044F4904B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77C28A7-B2DA-0CCC-2976-C7573E9154BB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05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85409F-876C-E076-BFA3-0522DADE6C8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71600"/>
            <a:ext cx="4953000" cy="4432300"/>
          </a:xfrm>
          <a:prstGeom prst="rect">
            <a:avLst/>
          </a:prstGeom>
        </p:spPr>
      </p:pic>
      <p:sp>
        <p:nvSpPr>
          <p:cNvPr id="12" name="Shape_110">
            <a:extLst>
              <a:ext uri="{FF2B5EF4-FFF2-40B4-BE49-F238E27FC236}">
                <a16:creationId xmlns:a16="http://schemas.microsoft.com/office/drawing/2014/main" id="{6816E2B3-F5D4-CAD7-6D30-B3949D93D854}"/>
              </a:ext>
            </a:extLst>
          </p:cNvPr>
          <p:cNvSpPr/>
          <p:nvPr/>
        </p:nvSpPr>
        <p:spPr>
          <a:xfrm>
            <a:off x="6261100" y="1447800"/>
            <a:ext cx="52324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111">
            <a:extLst>
              <a:ext uri="{FF2B5EF4-FFF2-40B4-BE49-F238E27FC236}">
                <a16:creationId xmlns:a16="http://schemas.microsoft.com/office/drawing/2014/main" id="{846D1EF6-C0C7-CFBD-F573-4DD9FC816704}"/>
              </a:ext>
            </a:extLst>
          </p:cNvPr>
          <p:cNvSpPr/>
          <p:nvPr/>
        </p:nvSpPr>
        <p:spPr>
          <a:xfrm>
            <a:off x="11404600" y="1447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99E11C-299F-2AF2-A28E-F30E3184C580}"/>
              </a:ext>
            </a:extLst>
          </p:cNvPr>
          <p:cNvSpPr txBox="1"/>
          <p:nvPr/>
        </p:nvSpPr>
        <p:spPr>
          <a:xfrm>
            <a:off x="6464300" y="15285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6E0ECA-0D63-DADD-5FA3-96D40220E705}"/>
              </a:ext>
            </a:extLst>
          </p:cNvPr>
          <p:cNvSpPr txBox="1"/>
          <p:nvPr/>
        </p:nvSpPr>
        <p:spPr>
          <a:xfrm>
            <a:off x="6464300" y="21800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Shape_112">
            <a:extLst>
              <a:ext uri="{FF2B5EF4-FFF2-40B4-BE49-F238E27FC236}">
                <a16:creationId xmlns:a16="http://schemas.microsoft.com/office/drawing/2014/main" id="{D6E63351-B9A0-55F8-D085-4FA2EB30D697}"/>
              </a:ext>
            </a:extLst>
          </p:cNvPr>
          <p:cNvSpPr/>
          <p:nvPr/>
        </p:nvSpPr>
        <p:spPr>
          <a:xfrm>
            <a:off x="6261100" y="2705100"/>
            <a:ext cx="52324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Shape_113">
            <a:extLst>
              <a:ext uri="{FF2B5EF4-FFF2-40B4-BE49-F238E27FC236}">
                <a16:creationId xmlns:a16="http://schemas.microsoft.com/office/drawing/2014/main" id="{E564DFD6-E6AE-7338-2B85-4E34CB1EB0C2}"/>
              </a:ext>
            </a:extLst>
          </p:cNvPr>
          <p:cNvSpPr/>
          <p:nvPr/>
        </p:nvSpPr>
        <p:spPr>
          <a:xfrm>
            <a:off x="11404600" y="27051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C5CD41-C2F4-D0B3-B439-AC3AC7482CE5}"/>
              </a:ext>
            </a:extLst>
          </p:cNvPr>
          <p:cNvSpPr txBox="1"/>
          <p:nvPr/>
        </p:nvSpPr>
        <p:spPr>
          <a:xfrm>
            <a:off x="6464300" y="27858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76A6E5-7303-4A2A-BB08-A539E737509D}"/>
              </a:ext>
            </a:extLst>
          </p:cNvPr>
          <p:cNvSpPr txBox="1"/>
          <p:nvPr/>
        </p:nvSpPr>
        <p:spPr>
          <a:xfrm>
            <a:off x="6464300" y="34373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weak-labeled real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114">
            <a:extLst>
              <a:ext uri="{FF2B5EF4-FFF2-40B4-BE49-F238E27FC236}">
                <a16:creationId xmlns:a16="http://schemas.microsoft.com/office/drawing/2014/main" id="{EE89DC84-CB19-946D-43AC-14EE64CE7E00}"/>
              </a:ext>
            </a:extLst>
          </p:cNvPr>
          <p:cNvSpPr/>
          <p:nvPr/>
        </p:nvSpPr>
        <p:spPr>
          <a:xfrm>
            <a:off x="6261100" y="3962400"/>
            <a:ext cx="52324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Shape_115">
            <a:extLst>
              <a:ext uri="{FF2B5EF4-FFF2-40B4-BE49-F238E27FC236}">
                <a16:creationId xmlns:a16="http://schemas.microsoft.com/office/drawing/2014/main" id="{4A7C33D9-29A6-96A0-C098-730C647ADE4A}"/>
              </a:ext>
            </a:extLst>
          </p:cNvPr>
          <p:cNvSpPr/>
          <p:nvPr/>
        </p:nvSpPr>
        <p:spPr>
          <a:xfrm>
            <a:off x="11404600" y="39624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6C616B-048E-6B81-6C26-A5775878E143}"/>
              </a:ext>
            </a:extLst>
          </p:cNvPr>
          <p:cNvSpPr txBox="1"/>
          <p:nvPr/>
        </p:nvSpPr>
        <p:spPr>
          <a:xfrm>
            <a:off x="6464300" y="40431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7C5707-722F-2575-9ACA-6BBA9DECBED1}"/>
              </a:ext>
            </a:extLst>
          </p:cNvPr>
          <p:cNvSpPr txBox="1"/>
          <p:nvPr/>
        </p:nvSpPr>
        <p:spPr>
          <a:xfrm>
            <a:off x="6464300" y="46946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after synthetic holes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AF53E6-6100-2678-429F-4F70C3B95723}"/>
              </a:ext>
            </a:extLst>
          </p:cNvPr>
          <p:cNvSpPr txBox="1"/>
          <p:nvPr/>
        </p:nvSpPr>
        <p:spPr>
          <a:xfrm>
            <a:off x="6261100" y="5408131"/>
            <a:ext cx="52324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 3,873    validation 830    test 797</a:t>
            </a:r>
            <a:endParaRPr lang="en-IL" sz="16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69210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16">
            <a:extLst>
              <a:ext uri="{FF2B5EF4-FFF2-40B4-BE49-F238E27FC236}">
                <a16:creationId xmlns:a16="http://schemas.microsoft.com/office/drawing/2014/main" id="{1D499243-D11D-8C16-6506-52C5A73BD3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17">
            <a:extLst>
              <a:ext uri="{FF2B5EF4-FFF2-40B4-BE49-F238E27FC236}">
                <a16:creationId xmlns:a16="http://schemas.microsoft.com/office/drawing/2014/main" id="{CFAF7429-44EE-C385-94D8-9CA775D88EA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B072DD-BD37-7A57-5DBD-61759E20FC55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יצירת חוסרים סינתטיים בתוך אזור השינוי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07E7C8-303E-C984-F660-598DF15A79E4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87F40CE-DFFE-E153-5472-52E8468B31AA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867DB88-F35C-E6EF-E61E-C1272B9D3742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06 / 14</a:t>
            </a:r>
          </a:p>
        </p:txBody>
      </p:sp>
      <p:sp>
        <p:nvSpPr>
          <p:cNvPr id="10" name="Shape_118">
            <a:extLst>
              <a:ext uri="{FF2B5EF4-FFF2-40B4-BE49-F238E27FC236}">
                <a16:creationId xmlns:a16="http://schemas.microsoft.com/office/drawing/2014/main" id="{C6475479-8B8B-3C41-8C61-B1E49DCE5F6C}"/>
              </a:ext>
            </a:extLst>
          </p:cNvPr>
          <p:cNvSpPr/>
          <p:nvPr/>
        </p:nvSpPr>
        <p:spPr>
          <a:xfrm>
            <a:off x="6413500" y="1498600"/>
            <a:ext cx="5080000" cy="32385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6A69B5-2156-2C19-9382-F0268A95BF55}"/>
              </a:ext>
            </a:extLst>
          </p:cNvPr>
          <p:cNvSpPr txBox="1"/>
          <p:nvPr/>
        </p:nvSpPr>
        <p:spPr>
          <a:xfrm>
            <a:off x="6794500" y="1740519"/>
            <a:ext cx="1778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</a:t>
            </a:r>
            <a:endParaRPr lang="en-IL" sz="14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2EF64E-1CC6-FCA4-AACD-483B8DA4479A}"/>
              </a:ext>
            </a:extLst>
          </p:cNvPr>
          <p:cNvSpPr txBox="1"/>
          <p:nvPr/>
        </p:nvSpPr>
        <p:spPr>
          <a:xfrm>
            <a:off x="6794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  valid_d = 1'b1;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3" name="Shape_119">
            <a:extLst>
              <a:ext uri="{FF2B5EF4-FFF2-40B4-BE49-F238E27FC236}">
                <a16:creationId xmlns:a16="http://schemas.microsoft.com/office/drawing/2014/main" id="{246AF021-7683-D50A-985B-035306970091}"/>
              </a:ext>
            </a:extLst>
          </p:cNvPr>
          <p:cNvSpPr/>
          <p:nvPr/>
        </p:nvSpPr>
        <p:spPr>
          <a:xfrm>
            <a:off x="698500" y="1498600"/>
            <a:ext cx="5080000" cy="3238500"/>
          </a:xfrm>
          <a:prstGeom prst="rect">
            <a:avLst/>
          </a:prstGeom>
          <a:solidFill>
            <a:srgbClr val="262F3E"/>
          </a:solidFill>
          <a:ln w="0" cap="flat" cmpd="sng" algn="ctr">
            <a:solidFill>
              <a:srgbClr val="262F3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38DBDB-3D36-6A23-9D53-E48851664F0B}"/>
              </a:ext>
            </a:extLst>
          </p:cNvPr>
          <p:cNvSpPr txBox="1"/>
          <p:nvPr/>
        </p:nvSpPr>
        <p:spPr>
          <a:xfrm>
            <a:off x="1079500" y="1740519"/>
            <a:ext cx="2667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HOLE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F27C0A-5E45-3A85-D765-FB51A0E5E3F2}"/>
              </a:ext>
            </a:extLst>
          </p:cNvPr>
          <p:cNvSpPr txBox="1"/>
          <p:nvPr/>
        </p:nvSpPr>
        <p:spPr>
          <a:xfrm>
            <a:off x="1079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ED116A2-2295-0C30-24D3-5A530CF7FB17}"/>
              </a:ext>
            </a:extLst>
          </p:cNvPr>
          <p:cNvCxnSpPr/>
          <p:nvPr/>
        </p:nvCxnSpPr>
        <p:spPr>
          <a:xfrm flipH="1">
            <a:off x="6286500" y="3111500"/>
            <a:ext cx="381000" cy="0"/>
          </a:xfrm>
          <a:prstGeom prst="line">
            <a:avLst/>
          </a:prstGeom>
          <a:ln w="381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53F8FB7-768E-1EAC-551B-94C00305B34D}"/>
              </a:ext>
            </a:extLst>
          </p:cNvPr>
          <p:cNvSpPr txBox="1"/>
          <p:nvPr/>
        </p:nvSpPr>
        <p:spPr>
          <a:xfrm>
            <a:off x="4279900" y="4979476"/>
            <a:ext cx="36195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9D7032-1A81-A1C8-F7E9-40F9CAA1DAA5}"/>
              </a:ext>
            </a:extLst>
          </p:cNvPr>
          <p:cNvSpPr txBox="1"/>
          <p:nvPr/>
        </p:nvSpPr>
        <p:spPr>
          <a:xfrm>
            <a:off x="4470400" y="5330815"/>
            <a:ext cx="3238500" cy="5027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1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4403BD-985D-B3BB-7CD1-25D9769D4C14}"/>
              </a:ext>
            </a:extLst>
          </p:cNvPr>
          <p:cNvSpPr txBox="1"/>
          <p:nvPr/>
        </p:nvSpPr>
        <p:spPr>
          <a:xfrm>
            <a:off x="4330700" y="6048508"/>
            <a:ext cx="35306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of test synthetic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20391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20">
            <a:extLst>
              <a:ext uri="{FF2B5EF4-FFF2-40B4-BE49-F238E27FC236}">
                <a16:creationId xmlns:a16="http://schemas.microsoft.com/office/drawing/2014/main" id="{28427C9E-A674-6DE4-AA1D-A5CB7C28231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21">
            <a:extLst>
              <a:ext uri="{FF2B5EF4-FFF2-40B4-BE49-F238E27FC236}">
                <a16:creationId xmlns:a16="http://schemas.microsoft.com/office/drawing/2014/main" id="{D54E1FAA-F3B1-D392-B91C-4D5E6B92E45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41A681-94DA-2FB3-56D6-87419EAF716E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השוואת ארבע משפחות מודלים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929A9E-988F-D0F5-A394-474FF887561E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B05A34-794D-57B7-5060-020F4C4690A1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45A20E7-CFA4-C63E-874D-EF4941D9DEEA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07 / 14</a:t>
            </a:r>
          </a:p>
        </p:txBody>
      </p:sp>
      <p:sp>
        <p:nvSpPr>
          <p:cNvPr id="10" name="Shape_122">
            <a:extLst>
              <a:ext uri="{FF2B5EF4-FFF2-40B4-BE49-F238E27FC236}">
                <a16:creationId xmlns:a16="http://schemas.microsoft.com/office/drawing/2014/main" id="{D06DEB74-6761-8F42-2CF6-663581E43A8D}"/>
              </a:ext>
            </a:extLst>
          </p:cNvPr>
          <p:cNvSpPr/>
          <p:nvPr/>
        </p:nvSpPr>
        <p:spPr>
          <a:xfrm>
            <a:off x="9080500" y="1524000"/>
            <a:ext cx="2413000" cy="30226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1EACA4-9401-1F68-E920-58D143C62D9F}"/>
              </a:ext>
            </a:extLst>
          </p:cNvPr>
          <p:cNvSpPr txBox="1"/>
          <p:nvPr/>
        </p:nvSpPr>
        <p:spPr>
          <a:xfrm>
            <a:off x="9309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7DCDD4-C6AA-8028-0ED9-0AEE6B4D149A}"/>
              </a:ext>
            </a:extLst>
          </p:cNvPr>
          <p:cNvSpPr txBox="1"/>
          <p:nvPr/>
        </p:nvSpPr>
        <p:spPr>
          <a:xfrm>
            <a:off x="9309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TF-IDF + Logistic Regression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98DF76-D7B4-0669-E252-4FFA5BA2F31D}"/>
              </a:ext>
            </a:extLst>
          </p:cNvPr>
          <p:cNvSpPr txBox="1"/>
          <p:nvPr/>
        </p:nvSpPr>
        <p:spPr>
          <a:xfrm>
            <a:off x="9309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sparse lexical features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123">
            <a:extLst>
              <a:ext uri="{FF2B5EF4-FFF2-40B4-BE49-F238E27FC236}">
                <a16:creationId xmlns:a16="http://schemas.microsoft.com/office/drawing/2014/main" id="{C0229E6C-41B2-5579-E1A5-A10FE6D8EF74}"/>
              </a:ext>
            </a:extLst>
          </p:cNvPr>
          <p:cNvSpPr/>
          <p:nvPr/>
        </p:nvSpPr>
        <p:spPr>
          <a:xfrm>
            <a:off x="6286500" y="1524000"/>
            <a:ext cx="2413000" cy="30226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755632-3563-009C-4B59-4303DE353A4A}"/>
              </a:ext>
            </a:extLst>
          </p:cNvPr>
          <p:cNvSpPr txBox="1"/>
          <p:nvPr/>
        </p:nvSpPr>
        <p:spPr>
          <a:xfrm>
            <a:off x="6515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85A79D-18A7-D60B-8324-B24F0D9981AA}"/>
              </a:ext>
            </a:extLst>
          </p:cNvPr>
          <p:cNvSpPr txBox="1"/>
          <p:nvPr/>
        </p:nvSpPr>
        <p:spPr>
          <a:xfrm>
            <a:off x="6515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MLP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058977-3463-8B05-2D17-C26F8C780480}"/>
              </a:ext>
            </a:extLst>
          </p:cNvPr>
          <p:cNvSpPr txBox="1"/>
          <p:nvPr/>
        </p:nvSpPr>
        <p:spPr>
          <a:xfrm>
            <a:off x="6515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pooled token embeddings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124">
            <a:extLst>
              <a:ext uri="{FF2B5EF4-FFF2-40B4-BE49-F238E27FC236}">
                <a16:creationId xmlns:a16="http://schemas.microsoft.com/office/drawing/2014/main" id="{2DD14599-7995-B2EF-EF40-3F968D8B3C7D}"/>
              </a:ext>
            </a:extLst>
          </p:cNvPr>
          <p:cNvSpPr/>
          <p:nvPr/>
        </p:nvSpPr>
        <p:spPr>
          <a:xfrm>
            <a:off x="3492500" y="1524000"/>
            <a:ext cx="2413000" cy="30226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FA1E0B-F7BF-BA95-0580-CF95A07027A7}"/>
              </a:ext>
            </a:extLst>
          </p:cNvPr>
          <p:cNvSpPr txBox="1"/>
          <p:nvPr/>
        </p:nvSpPr>
        <p:spPr>
          <a:xfrm>
            <a:off x="3721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B3F98A-2D75-8B16-8C32-98A5C8D8A73B}"/>
              </a:ext>
            </a:extLst>
          </p:cNvPr>
          <p:cNvSpPr txBox="1"/>
          <p:nvPr/>
        </p:nvSpPr>
        <p:spPr>
          <a:xfrm>
            <a:off x="3721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BiGRU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C94502-4D3B-D232-30DD-1E97BDAA2860}"/>
              </a:ext>
            </a:extLst>
          </p:cNvPr>
          <p:cNvSpPr txBox="1"/>
          <p:nvPr/>
        </p:nvSpPr>
        <p:spPr>
          <a:xfrm>
            <a:off x="3721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flat sequence encoder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Shape_125">
            <a:extLst>
              <a:ext uri="{FF2B5EF4-FFF2-40B4-BE49-F238E27FC236}">
                <a16:creationId xmlns:a16="http://schemas.microsoft.com/office/drawing/2014/main" id="{D0BDF752-6B45-BEAF-FC3D-C23C301E04B0}"/>
              </a:ext>
            </a:extLst>
          </p:cNvPr>
          <p:cNvSpPr/>
          <p:nvPr/>
        </p:nvSpPr>
        <p:spPr>
          <a:xfrm>
            <a:off x="698500" y="1524000"/>
            <a:ext cx="2413000" cy="30226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1471D9-BC46-1F70-8091-E9BDA973E428}"/>
              </a:ext>
            </a:extLst>
          </p:cNvPr>
          <p:cNvSpPr txBox="1"/>
          <p:nvPr/>
        </p:nvSpPr>
        <p:spPr>
          <a:xfrm>
            <a:off x="927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E037DB-1D9C-EA04-8FA1-C5E781E311D3}"/>
              </a:ext>
            </a:extLst>
          </p:cNvPr>
          <p:cNvSpPr txBox="1"/>
          <p:nvPr/>
        </p:nvSpPr>
        <p:spPr>
          <a:xfrm>
            <a:off x="927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Hierarchical Transformer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081D89-0AF2-47E0-D59B-2F8550A58663}"/>
              </a:ext>
            </a:extLst>
          </p:cNvPr>
          <p:cNvSpPr txBox="1"/>
          <p:nvPr/>
        </p:nvSpPr>
        <p:spPr>
          <a:xfrm>
            <a:off x="927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encoder + diff structure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Shape_126">
            <a:extLst>
              <a:ext uri="{FF2B5EF4-FFF2-40B4-BE49-F238E27FC236}">
                <a16:creationId xmlns:a16="http://schemas.microsoft.com/office/drawing/2014/main" id="{3576A2B6-8E31-D46E-4023-D7AE4D87758C}"/>
              </a:ext>
            </a:extLst>
          </p:cNvPr>
          <p:cNvSpPr/>
          <p:nvPr/>
        </p:nvSpPr>
        <p:spPr>
          <a:xfrm>
            <a:off x="698500" y="4927600"/>
            <a:ext cx="10795000" cy="1028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F8E34E-C3B8-476D-608B-F8051FB61D30}"/>
              </a:ext>
            </a:extLst>
          </p:cNvPr>
          <p:cNvSpPr txBox="1"/>
          <p:nvPr/>
        </p:nvSpPr>
        <p:spPr>
          <a:xfrm>
            <a:off x="8559800" y="5032136"/>
            <a:ext cx="25527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Multi-task head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219CEE-60AC-B860-25F6-6D4241C39CFB}"/>
              </a:ext>
            </a:extLst>
          </p:cNvPr>
          <p:cNvSpPr txBox="1"/>
          <p:nvPr/>
        </p:nvSpPr>
        <p:spPr>
          <a:xfrm>
            <a:off x="990600" y="5359648"/>
            <a:ext cx="101219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משותף לשתי המשימות, עם פלט נפרד לכל משימה.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30978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27">
            <a:extLst>
              <a:ext uri="{FF2B5EF4-FFF2-40B4-BE49-F238E27FC236}">
                <a16:creationId xmlns:a16="http://schemas.microsoft.com/office/drawing/2014/main" id="{CB926804-6CB3-F81A-2ABF-4FDFBC4960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28">
            <a:extLst>
              <a:ext uri="{FF2B5EF4-FFF2-40B4-BE49-F238E27FC236}">
                <a16:creationId xmlns:a16="http://schemas.microsoft.com/office/drawing/2014/main" id="{DCFC6232-6722-6511-A38D-664D494E355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BF3BF0-6C41-0E93-08E2-2D04A0C69C59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הארכיטקטורה ההיררכית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0FB0A2-44A7-4BC8-90DC-BB06750D08A0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431B8A-EF06-36FE-6333-AA264D02B66E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E8628D9-0FEA-54F2-4293-BF7E1358FA36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08 / 14</a:t>
            </a:r>
          </a:p>
        </p:txBody>
      </p:sp>
      <p:sp>
        <p:nvSpPr>
          <p:cNvPr id="10" name="Shape_129">
            <a:extLst>
              <a:ext uri="{FF2B5EF4-FFF2-40B4-BE49-F238E27FC236}">
                <a16:creationId xmlns:a16="http://schemas.microsoft.com/office/drawing/2014/main" id="{F84622C9-F5A6-BDAE-7EFA-7703C3CEA5DC}"/>
              </a:ext>
            </a:extLst>
          </p:cNvPr>
          <p:cNvSpPr/>
          <p:nvPr/>
        </p:nvSpPr>
        <p:spPr>
          <a:xfrm>
            <a:off x="9334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AB7AC0-AAA9-3685-C358-80DCD5E8A2B3}"/>
              </a:ext>
            </a:extLst>
          </p:cNvPr>
          <p:cNvSpPr txBox="1"/>
          <p:nvPr/>
        </p:nvSpPr>
        <p:spPr>
          <a:xfrm>
            <a:off x="9486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Typed Diff Lines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E39900B-B508-B325-729E-4E944CEFDD41}"/>
              </a:ext>
            </a:extLst>
          </p:cNvPr>
          <p:cNvCxnSpPr/>
          <p:nvPr/>
        </p:nvCxnSpPr>
        <p:spPr>
          <a:xfrm flipH="1">
            <a:off x="9296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130">
            <a:extLst>
              <a:ext uri="{FF2B5EF4-FFF2-40B4-BE49-F238E27FC236}">
                <a16:creationId xmlns:a16="http://schemas.microsoft.com/office/drawing/2014/main" id="{C0945FAF-A0B0-6179-06C6-1015CEE5FE53}"/>
              </a:ext>
            </a:extLst>
          </p:cNvPr>
          <p:cNvSpPr/>
          <p:nvPr/>
        </p:nvSpPr>
        <p:spPr>
          <a:xfrm>
            <a:off x="7175500" y="1955800"/>
            <a:ext cx="1905000" cy="16764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98D7B7-814D-5D8D-AA22-0E8238428B66}"/>
              </a:ext>
            </a:extLst>
          </p:cNvPr>
          <p:cNvSpPr txBox="1"/>
          <p:nvPr/>
        </p:nvSpPr>
        <p:spPr>
          <a:xfrm>
            <a:off x="7327900" y="2304325"/>
            <a:ext cx="16002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Token Embedding + BiGRU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9E7DBB-D91B-6552-8080-AA6F6AE4A25C}"/>
              </a:ext>
            </a:extLst>
          </p:cNvPr>
          <p:cNvCxnSpPr/>
          <p:nvPr/>
        </p:nvCxnSpPr>
        <p:spPr>
          <a:xfrm flipH="1">
            <a:off x="7137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131">
            <a:extLst>
              <a:ext uri="{FF2B5EF4-FFF2-40B4-BE49-F238E27FC236}">
                <a16:creationId xmlns:a16="http://schemas.microsoft.com/office/drawing/2014/main" id="{D4D5B9B2-A960-ECE9-12CF-C380B8DE0334}"/>
              </a:ext>
            </a:extLst>
          </p:cNvPr>
          <p:cNvSpPr/>
          <p:nvPr/>
        </p:nvSpPr>
        <p:spPr>
          <a:xfrm>
            <a:off x="5016500" y="1955800"/>
            <a:ext cx="1905000" cy="16764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759385-F5E1-A0F7-013A-D04BDEADF4EC}"/>
              </a:ext>
            </a:extLst>
          </p:cNvPr>
          <p:cNvSpPr txBox="1"/>
          <p:nvPr/>
        </p:nvSpPr>
        <p:spPr>
          <a:xfrm>
            <a:off x="5168900" y="2288936"/>
            <a:ext cx="16002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Vector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4E4193F-E1F7-F8EC-6C5A-02E6BEAAEA14}"/>
              </a:ext>
            </a:extLst>
          </p:cNvPr>
          <p:cNvCxnSpPr/>
          <p:nvPr/>
        </p:nvCxnSpPr>
        <p:spPr>
          <a:xfrm flipH="1">
            <a:off x="4978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132">
            <a:extLst>
              <a:ext uri="{FF2B5EF4-FFF2-40B4-BE49-F238E27FC236}">
                <a16:creationId xmlns:a16="http://schemas.microsoft.com/office/drawing/2014/main" id="{E9BB1AD6-1E04-8348-3D3A-257DF31AFDF5}"/>
              </a:ext>
            </a:extLst>
          </p:cNvPr>
          <p:cNvSpPr/>
          <p:nvPr/>
        </p:nvSpPr>
        <p:spPr>
          <a:xfrm>
            <a:off x="2857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A507FF-E47A-4606-6B4A-91E646ABAE37}"/>
              </a:ext>
            </a:extLst>
          </p:cNvPr>
          <p:cNvSpPr txBox="1"/>
          <p:nvPr/>
        </p:nvSpPr>
        <p:spPr>
          <a:xfrm>
            <a:off x="3009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Transformer Encoder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FD71AB3-C988-465C-8BE7-E0D16D7F65BD}"/>
              </a:ext>
            </a:extLst>
          </p:cNvPr>
          <p:cNvCxnSpPr/>
          <p:nvPr/>
        </p:nvCxnSpPr>
        <p:spPr>
          <a:xfrm flipH="1">
            <a:off x="2819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133">
            <a:extLst>
              <a:ext uri="{FF2B5EF4-FFF2-40B4-BE49-F238E27FC236}">
                <a16:creationId xmlns:a16="http://schemas.microsoft.com/office/drawing/2014/main" id="{81A7760C-A09C-1886-FA01-0FFAF9AFADAC}"/>
              </a:ext>
            </a:extLst>
          </p:cNvPr>
          <p:cNvSpPr/>
          <p:nvPr/>
        </p:nvSpPr>
        <p:spPr>
          <a:xfrm>
            <a:off x="698500" y="1955800"/>
            <a:ext cx="1905000" cy="16764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2999FA-947D-AE20-CF32-8CCD30E247E2}"/>
              </a:ext>
            </a:extLst>
          </p:cNvPr>
          <p:cNvSpPr txBox="1"/>
          <p:nvPr/>
        </p:nvSpPr>
        <p:spPr>
          <a:xfrm>
            <a:off x="850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Head
Hole Head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0E8F0E-740E-3BF9-C3D6-80BD64F6B663}"/>
              </a:ext>
            </a:extLst>
          </p:cNvPr>
          <p:cNvSpPr txBox="1"/>
          <p:nvPr/>
        </p:nvSpPr>
        <p:spPr>
          <a:xfrm>
            <a:off x="9410700" y="3996486"/>
            <a:ext cx="17526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ADD   DEL   CONTEXT</a:t>
            </a:r>
            <a:endParaRPr lang="en-IL" sz="13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Shape_134">
            <a:extLst>
              <a:ext uri="{FF2B5EF4-FFF2-40B4-BE49-F238E27FC236}">
                <a16:creationId xmlns:a16="http://schemas.microsoft.com/office/drawing/2014/main" id="{A310E38B-A0B4-F5FA-9A2A-922A8262F84B}"/>
              </a:ext>
            </a:extLst>
          </p:cNvPr>
          <p:cNvSpPr/>
          <p:nvPr/>
        </p:nvSpPr>
        <p:spPr>
          <a:xfrm>
            <a:off x="698500" y="4673600"/>
            <a:ext cx="10795000" cy="11557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E7DD38-52A4-FC7E-3B55-5B9136ABA292}"/>
              </a:ext>
            </a:extLst>
          </p:cNvPr>
          <p:cNvSpPr txBox="1"/>
          <p:nvPr/>
        </p:nvSpPr>
        <p:spPr>
          <a:xfrm>
            <a:off x="8001000" y="4867036"/>
            <a:ext cx="3111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line-type embedding</a:t>
            </a:r>
            <a:endParaRPr lang="en-IL" sz="17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DDA9F5-163B-8084-DDD7-9FFE0C8277DD}"/>
              </a:ext>
            </a:extLst>
          </p:cNvPr>
          <p:cNvSpPr txBox="1"/>
          <p:nvPr/>
        </p:nvSpPr>
        <p:spPr>
          <a:xfrm>
            <a:off x="990600" y="5212253"/>
            <a:ext cx="101219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מפורש על תפקיד כל שורה בתוך השינוי.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57359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35">
            <a:extLst>
              <a:ext uri="{FF2B5EF4-FFF2-40B4-BE49-F238E27FC236}">
                <a16:creationId xmlns:a16="http://schemas.microsoft.com/office/drawing/2014/main" id="{D6F3D0E9-C078-138D-36A1-958D831413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36">
            <a:extLst>
              <a:ext uri="{FF2B5EF4-FFF2-40B4-BE49-F238E27FC236}">
                <a16:creationId xmlns:a16="http://schemas.microsoft.com/office/drawing/2014/main" id="{AE7F49B8-4778-C0C7-FF16-8F8F4C3C29B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BA4243-28B2-7884-7F39-AA0C891FDB0B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סיווג המטרה: המודל הפשוט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0BD95-CD66-776B-E7C1-BCBB3B06740D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0C1876-8BDA-4EDF-0C5D-8C8A6B6A62D5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091F664-9E07-C06C-B148-B1C1836E46F0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09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D4795D-4BA9-57FE-1207-84AB3EB7F14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25600"/>
            <a:ext cx="7239000" cy="4241800"/>
          </a:xfrm>
          <a:prstGeom prst="rect">
            <a:avLst/>
          </a:prstGeom>
        </p:spPr>
      </p:pic>
      <p:sp>
        <p:nvSpPr>
          <p:cNvPr id="12" name="Shape_137">
            <a:extLst>
              <a:ext uri="{FF2B5EF4-FFF2-40B4-BE49-F238E27FC236}">
                <a16:creationId xmlns:a16="http://schemas.microsoft.com/office/drawing/2014/main" id="{B4D30D5D-5858-6FEE-641D-E0F40366EC0F}"/>
              </a:ext>
            </a:extLst>
          </p:cNvPr>
          <p:cNvSpPr/>
          <p:nvPr/>
        </p:nvSpPr>
        <p:spPr>
          <a:xfrm>
            <a:off x="8343900" y="1739900"/>
            <a:ext cx="31496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138">
            <a:extLst>
              <a:ext uri="{FF2B5EF4-FFF2-40B4-BE49-F238E27FC236}">
                <a16:creationId xmlns:a16="http://schemas.microsoft.com/office/drawing/2014/main" id="{A6AC676B-D6E9-5CAD-A0BC-8017C96852FB}"/>
              </a:ext>
            </a:extLst>
          </p:cNvPr>
          <p:cNvSpPr/>
          <p:nvPr/>
        </p:nvSpPr>
        <p:spPr>
          <a:xfrm>
            <a:off x="11404600" y="17399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458ADA-BBBE-9B20-0EF8-9F540F69D9DC}"/>
              </a:ext>
            </a:extLst>
          </p:cNvPr>
          <p:cNvSpPr txBox="1"/>
          <p:nvPr/>
        </p:nvSpPr>
        <p:spPr>
          <a:xfrm>
            <a:off x="8547100" y="1820609"/>
            <a:ext cx="27051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8F106E-909D-1D46-3B5A-142B9D5F7B22}"/>
              </a:ext>
            </a:extLst>
          </p:cNvPr>
          <p:cNvSpPr txBox="1"/>
          <p:nvPr/>
        </p:nvSpPr>
        <p:spPr>
          <a:xfrm>
            <a:off x="8547100" y="2472114"/>
            <a:ext cx="27051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test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6FE96D-5073-B292-33C2-25A314A53B30}"/>
              </a:ext>
            </a:extLst>
          </p:cNvPr>
          <p:cNvSpPr txBox="1"/>
          <p:nvPr/>
        </p:nvSpPr>
        <p:spPr>
          <a:xfrm>
            <a:off x="8343900" y="2908176"/>
            <a:ext cx="31496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24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TF-IDF</a:t>
            </a:r>
            <a:endParaRPr lang="en-IL" sz="24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B358FE-F111-7FA2-42B4-17F122320E72}"/>
              </a:ext>
            </a:extLst>
          </p:cNvPr>
          <p:cNvSpPr txBox="1"/>
          <p:nvPr/>
        </p:nvSpPr>
        <p:spPr>
          <a:xfrm>
            <a:off x="8343900" y="3502387"/>
            <a:ext cx="3149600" cy="125675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 הבסיס השיג את התוצאה הטובה ביותר. האות הלקסיקלי הספיק כדי לעקוף את המודלים העמוקים.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139">
            <a:extLst>
              <a:ext uri="{FF2B5EF4-FFF2-40B4-BE49-F238E27FC236}">
                <a16:creationId xmlns:a16="http://schemas.microsoft.com/office/drawing/2014/main" id="{587A71D8-D49F-F0EB-D0D0-FEDB559AB583}"/>
              </a:ext>
            </a:extLst>
          </p:cNvPr>
          <p:cNvSpPr/>
          <p:nvPr/>
        </p:nvSpPr>
        <p:spPr>
          <a:xfrm>
            <a:off x="8343900" y="5270500"/>
            <a:ext cx="3149600" cy="5969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DA1FCC-6D02-1605-1569-D3BEF3977973}"/>
              </a:ext>
            </a:extLst>
          </p:cNvPr>
          <p:cNvSpPr txBox="1"/>
          <p:nvPr/>
        </p:nvSpPr>
        <p:spPr>
          <a:xfrm>
            <a:off x="8559800" y="5461619"/>
            <a:ext cx="27305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refactor_cleanup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59975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40">
            <a:extLst>
              <a:ext uri="{FF2B5EF4-FFF2-40B4-BE49-F238E27FC236}">
                <a16:creationId xmlns:a16="http://schemas.microsoft.com/office/drawing/2014/main" id="{FCBD5A02-CECF-FF63-5DE9-926901423A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41">
            <a:extLst>
              <a:ext uri="{FF2B5EF4-FFF2-40B4-BE49-F238E27FC236}">
                <a16:creationId xmlns:a16="http://schemas.microsoft.com/office/drawing/2014/main" id="{46E9BF2E-1E4E-10A5-AEE5-817390EC57F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59F72E-18E3-3130-C925-5E891F837138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בדיקת בקרה חושפת דליפה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85D92D-C5B7-894F-59CF-442F24BED10E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91A0F9-7C39-5408-86B2-FFEBFD216467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BED2320-6FB3-A71E-B231-61585245E9E4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10 / 14</a:t>
            </a:r>
          </a:p>
        </p:txBody>
      </p:sp>
      <p:sp>
        <p:nvSpPr>
          <p:cNvPr id="10" name="Shape_142">
            <a:extLst>
              <a:ext uri="{FF2B5EF4-FFF2-40B4-BE49-F238E27FC236}">
                <a16:creationId xmlns:a16="http://schemas.microsoft.com/office/drawing/2014/main" id="{6877DB2A-F446-660E-38F0-EFCF04448335}"/>
              </a:ext>
            </a:extLst>
          </p:cNvPr>
          <p:cNvSpPr/>
          <p:nvPr/>
        </p:nvSpPr>
        <p:spPr>
          <a:xfrm>
            <a:off x="7747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B00D12-A7FF-61C5-966A-3455B44196C8}"/>
              </a:ext>
            </a:extLst>
          </p:cNvPr>
          <p:cNvSpPr txBox="1"/>
          <p:nvPr/>
        </p:nvSpPr>
        <p:spPr>
          <a:xfrm>
            <a:off x="7975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commit message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2A47A21-20C9-F3BB-79BA-F3A7D92FF8BA}"/>
              </a:ext>
            </a:extLst>
          </p:cNvPr>
          <p:cNvCxnSpPr/>
          <p:nvPr/>
        </p:nvCxnSpPr>
        <p:spPr>
          <a:xfrm flipH="1">
            <a:off x="7683500" y="2565400"/>
            <a:ext cx="3175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143">
            <a:extLst>
              <a:ext uri="{FF2B5EF4-FFF2-40B4-BE49-F238E27FC236}">
                <a16:creationId xmlns:a16="http://schemas.microsoft.com/office/drawing/2014/main" id="{3E962CD3-6399-FC22-5C29-AC118B83F342}"/>
              </a:ext>
            </a:extLst>
          </p:cNvPr>
          <p:cNvSpPr/>
          <p:nvPr/>
        </p:nvSpPr>
        <p:spPr>
          <a:xfrm>
            <a:off x="4318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66BE20-9495-3626-EAD9-0C82D4D6B495}"/>
              </a:ext>
            </a:extLst>
          </p:cNvPr>
          <p:cNvSpPr txBox="1"/>
          <p:nvPr/>
        </p:nvSpPr>
        <p:spPr>
          <a:xfrm>
            <a:off x="4546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9F1FF2B-1987-ABF3-DAEF-5F6A7415FE19}"/>
              </a:ext>
            </a:extLst>
          </p:cNvPr>
          <p:cNvCxnSpPr/>
          <p:nvPr/>
        </p:nvCxnSpPr>
        <p:spPr>
          <a:xfrm flipH="1">
            <a:off x="4254500" y="2565400"/>
            <a:ext cx="3175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144">
            <a:extLst>
              <a:ext uri="{FF2B5EF4-FFF2-40B4-BE49-F238E27FC236}">
                <a16:creationId xmlns:a16="http://schemas.microsoft.com/office/drawing/2014/main" id="{E20C3A98-C2BC-A9FC-84EA-BB8E82D60E5B}"/>
              </a:ext>
            </a:extLst>
          </p:cNvPr>
          <p:cNvSpPr/>
          <p:nvPr/>
        </p:nvSpPr>
        <p:spPr>
          <a:xfrm>
            <a:off x="889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FBE73A-89D9-D298-06EA-E66C02CE488F}"/>
              </a:ext>
            </a:extLst>
          </p:cNvPr>
          <p:cNvSpPr txBox="1"/>
          <p:nvPr/>
        </p:nvSpPr>
        <p:spPr>
          <a:xfrm>
            <a:off x="1117600" y="2162765"/>
            <a:ext cx="24638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message-only model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0C4049-A664-0CDA-C486-19F81D5ECDDD}"/>
              </a:ext>
            </a:extLst>
          </p:cNvPr>
          <p:cNvSpPr txBox="1"/>
          <p:nvPr/>
        </p:nvSpPr>
        <p:spPr>
          <a:xfrm>
            <a:off x="4279900" y="3485510"/>
            <a:ext cx="3683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48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0.9855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B6319-F953-AC16-3823-CAECB9BBE14B}"/>
              </a:ext>
            </a:extLst>
          </p:cNvPr>
          <p:cNvSpPr txBox="1"/>
          <p:nvPr/>
        </p:nvSpPr>
        <p:spPr>
          <a:xfrm>
            <a:off x="5054600" y="4587636"/>
            <a:ext cx="21336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Macro-F1</a:t>
            </a:r>
            <a:endParaRPr lang="en-IL" sz="1700" b="1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145">
            <a:extLst>
              <a:ext uri="{FF2B5EF4-FFF2-40B4-BE49-F238E27FC236}">
                <a16:creationId xmlns:a16="http://schemas.microsoft.com/office/drawing/2014/main" id="{DEE7DA46-6972-FFAC-853E-B1A068598D25}"/>
              </a:ext>
            </a:extLst>
          </p:cNvPr>
          <p:cNvSpPr/>
          <p:nvPr/>
        </p:nvSpPr>
        <p:spPr>
          <a:xfrm>
            <a:off x="889000" y="5295900"/>
            <a:ext cx="9779000" cy="7493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A64CD-A45C-5502-C89C-3D216A5BE3B1}"/>
              </a:ext>
            </a:extLst>
          </p:cNvPr>
          <p:cNvSpPr txBox="1"/>
          <p:nvPr/>
        </p:nvSpPr>
        <p:spPr>
          <a:xfrm>
            <a:off x="1206500" y="5440853"/>
            <a:ext cx="9144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המדד כמעט משחזר את מנגנון התיוג, ולכן אינו הוכחה להבנת קוד טהורה.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46334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46">
            <a:extLst>
              <a:ext uri="{FF2B5EF4-FFF2-40B4-BE49-F238E27FC236}">
                <a16:creationId xmlns:a16="http://schemas.microsoft.com/office/drawing/2014/main" id="{40769668-BCB8-C663-7202-2B1993983A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47">
            <a:extLst>
              <a:ext uri="{FF2B5EF4-FFF2-40B4-BE49-F238E27FC236}">
                <a16:creationId xmlns:a16="http://schemas.microsoft.com/office/drawing/2014/main" id="{A0CA3545-4B2A-BD29-951F-A6478BDE898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7F0397-AA98-0C8A-E4EB-5BD38A3AA3CE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חוסר: המבנה ההיררכי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6227CE-2D8B-8F8D-DC66-CBDB408528F3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9061083-32F2-4B4B-68FD-7DA40A29E8BA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736810-93A6-DF11-D2E2-29A9538F6823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11 / 14</a:t>
            </a:r>
          </a:p>
        </p:txBody>
      </p:sp>
      <p:sp>
        <p:nvSpPr>
          <p:cNvPr id="10" name="Shape_148">
            <a:extLst>
              <a:ext uri="{FF2B5EF4-FFF2-40B4-BE49-F238E27FC236}">
                <a16:creationId xmlns:a16="http://schemas.microsoft.com/office/drawing/2014/main" id="{2415EE4F-013C-BB00-567B-F197D8A334F1}"/>
              </a:ext>
            </a:extLst>
          </p:cNvPr>
          <p:cNvSpPr/>
          <p:nvPr/>
        </p:nvSpPr>
        <p:spPr>
          <a:xfrm>
            <a:off x="8191500" y="1320800"/>
            <a:ext cx="3302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149">
            <a:extLst>
              <a:ext uri="{FF2B5EF4-FFF2-40B4-BE49-F238E27FC236}">
                <a16:creationId xmlns:a16="http://schemas.microsoft.com/office/drawing/2014/main" id="{605F15C7-192C-B99C-E41A-DDF702D11662}"/>
              </a:ext>
            </a:extLst>
          </p:cNvPr>
          <p:cNvSpPr/>
          <p:nvPr/>
        </p:nvSpPr>
        <p:spPr>
          <a:xfrm>
            <a:off x="11404600" y="1320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39BE8F-B486-A108-7610-F6AB3567B530}"/>
              </a:ext>
            </a:extLst>
          </p:cNvPr>
          <p:cNvSpPr txBox="1"/>
          <p:nvPr/>
        </p:nvSpPr>
        <p:spPr>
          <a:xfrm>
            <a:off x="8394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E888FC-AF33-650F-4AAD-39BE4A5DD5EE}"/>
              </a:ext>
            </a:extLst>
          </p:cNvPr>
          <p:cNvSpPr txBox="1"/>
          <p:nvPr/>
        </p:nvSpPr>
        <p:spPr>
          <a:xfrm>
            <a:off x="8394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150">
            <a:extLst>
              <a:ext uri="{FF2B5EF4-FFF2-40B4-BE49-F238E27FC236}">
                <a16:creationId xmlns:a16="http://schemas.microsoft.com/office/drawing/2014/main" id="{22E388FC-5853-2FA7-AB3E-4D6323907B2A}"/>
              </a:ext>
            </a:extLst>
          </p:cNvPr>
          <p:cNvSpPr/>
          <p:nvPr/>
        </p:nvSpPr>
        <p:spPr>
          <a:xfrm>
            <a:off x="4445000" y="1320800"/>
            <a:ext cx="3302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151">
            <a:extLst>
              <a:ext uri="{FF2B5EF4-FFF2-40B4-BE49-F238E27FC236}">
                <a16:creationId xmlns:a16="http://schemas.microsoft.com/office/drawing/2014/main" id="{3EAE3BFE-72EB-C7D2-FBDB-EFB6BA0BCC6B}"/>
              </a:ext>
            </a:extLst>
          </p:cNvPr>
          <p:cNvSpPr/>
          <p:nvPr/>
        </p:nvSpPr>
        <p:spPr>
          <a:xfrm>
            <a:off x="7658100" y="1320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D77632-C549-1556-6119-377A237CDC77}"/>
              </a:ext>
            </a:extLst>
          </p:cNvPr>
          <p:cNvSpPr txBox="1"/>
          <p:nvPr/>
        </p:nvSpPr>
        <p:spPr>
          <a:xfrm>
            <a:off x="46482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931C53-F47D-EA71-E28D-82D45B4FEE4C}"/>
              </a:ext>
            </a:extLst>
          </p:cNvPr>
          <p:cNvSpPr txBox="1"/>
          <p:nvPr/>
        </p:nvSpPr>
        <p:spPr>
          <a:xfrm>
            <a:off x="46482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152">
            <a:extLst>
              <a:ext uri="{FF2B5EF4-FFF2-40B4-BE49-F238E27FC236}">
                <a16:creationId xmlns:a16="http://schemas.microsoft.com/office/drawing/2014/main" id="{E4F30DC6-04A5-9319-1FC6-2304F68135A3}"/>
              </a:ext>
            </a:extLst>
          </p:cNvPr>
          <p:cNvSpPr/>
          <p:nvPr/>
        </p:nvSpPr>
        <p:spPr>
          <a:xfrm>
            <a:off x="698500" y="1320800"/>
            <a:ext cx="3302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153">
            <a:extLst>
              <a:ext uri="{FF2B5EF4-FFF2-40B4-BE49-F238E27FC236}">
                <a16:creationId xmlns:a16="http://schemas.microsoft.com/office/drawing/2014/main" id="{ED555469-30C8-B65B-9A5C-A71C7EF60A7F}"/>
              </a:ext>
            </a:extLst>
          </p:cNvPr>
          <p:cNvSpPr/>
          <p:nvPr/>
        </p:nvSpPr>
        <p:spPr>
          <a:xfrm>
            <a:off x="3911600" y="13208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3D6243-C7A1-C048-40A2-FCBE090BB418}"/>
              </a:ext>
            </a:extLst>
          </p:cNvPr>
          <p:cNvSpPr txBox="1"/>
          <p:nvPr/>
        </p:nvSpPr>
        <p:spPr>
          <a:xfrm>
            <a:off x="901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172 → 81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E6C55F-DA75-CD5E-B3E8-5D3664563628}"/>
              </a:ext>
            </a:extLst>
          </p:cNvPr>
          <p:cNvSpPr txBox="1"/>
          <p:nvPr/>
        </p:nvSpPr>
        <p:spPr>
          <a:xfrm>
            <a:off x="901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false positives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5DB70CE-FCD8-CD8C-58DA-617501D7BA7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717800"/>
            <a:ext cx="9804400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089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54">
            <a:extLst>
              <a:ext uri="{FF2B5EF4-FFF2-40B4-BE49-F238E27FC236}">
                <a16:creationId xmlns:a16="http://schemas.microsoft.com/office/drawing/2014/main" id="{94E68E4B-BEB0-116D-F1EA-25DB63443B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55">
            <a:extLst>
              <a:ext uri="{FF2B5EF4-FFF2-40B4-BE49-F238E27FC236}">
                <a16:creationId xmlns:a16="http://schemas.microsoft.com/office/drawing/2014/main" id="{78E49550-3CE6-D98C-DBC9-40D798DDF76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66880E-C1FF-F5DB-19B9-DFC86868C3F8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על סוג השורה הוא רכיב מהותי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6261D6-E787-D8CF-1E29-F0F1D1AF386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666BE5-7A94-B00F-8F83-695D2BEBA72A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DD7F033-1C92-030B-0ED7-FF3054C083C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12 / 14</a:t>
            </a:r>
          </a:p>
        </p:txBody>
      </p:sp>
      <p:sp>
        <p:nvSpPr>
          <p:cNvPr id="10" name="Shape_156">
            <a:extLst>
              <a:ext uri="{FF2B5EF4-FFF2-40B4-BE49-F238E27FC236}">
                <a16:creationId xmlns:a16="http://schemas.microsoft.com/office/drawing/2014/main" id="{ED570763-EC75-0D50-0DD1-1B6F2D9EFBBE}"/>
              </a:ext>
            </a:extLst>
          </p:cNvPr>
          <p:cNvSpPr/>
          <p:nvPr/>
        </p:nvSpPr>
        <p:spPr>
          <a:xfrm>
            <a:off x="1778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157">
            <a:extLst>
              <a:ext uri="{FF2B5EF4-FFF2-40B4-BE49-F238E27FC236}">
                <a16:creationId xmlns:a16="http://schemas.microsoft.com/office/drawing/2014/main" id="{FC5F40ED-D5EE-DADC-F8A4-DC3F1E46C3F5}"/>
              </a:ext>
            </a:extLst>
          </p:cNvPr>
          <p:cNvSpPr/>
          <p:nvPr/>
        </p:nvSpPr>
        <p:spPr>
          <a:xfrm>
            <a:off x="5372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EC78D3-94CE-4305-3219-213F681DF35B}"/>
              </a:ext>
            </a:extLst>
          </p:cNvPr>
          <p:cNvSpPr txBox="1"/>
          <p:nvPr/>
        </p:nvSpPr>
        <p:spPr>
          <a:xfrm>
            <a:off x="1981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−0.1305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5A7C90-CA28-3B73-4F57-B23D1AF128FC}"/>
              </a:ext>
            </a:extLst>
          </p:cNvPr>
          <p:cNvSpPr txBox="1"/>
          <p:nvPr/>
        </p:nvSpPr>
        <p:spPr>
          <a:xfrm>
            <a:off x="1981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158">
            <a:extLst>
              <a:ext uri="{FF2B5EF4-FFF2-40B4-BE49-F238E27FC236}">
                <a16:creationId xmlns:a16="http://schemas.microsoft.com/office/drawing/2014/main" id="{D78F8CBB-1D25-4628-EE31-B07C403B6C73}"/>
              </a:ext>
            </a:extLst>
          </p:cNvPr>
          <p:cNvSpPr/>
          <p:nvPr/>
        </p:nvSpPr>
        <p:spPr>
          <a:xfrm>
            <a:off x="6731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159">
            <a:extLst>
              <a:ext uri="{FF2B5EF4-FFF2-40B4-BE49-F238E27FC236}">
                <a16:creationId xmlns:a16="http://schemas.microsoft.com/office/drawing/2014/main" id="{398787D7-8425-7A4C-7530-C677A7B04C61}"/>
              </a:ext>
            </a:extLst>
          </p:cNvPr>
          <p:cNvSpPr/>
          <p:nvPr/>
        </p:nvSpPr>
        <p:spPr>
          <a:xfrm>
            <a:off x="10325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F2BE1F-0521-8429-7F93-5F2694BF0185}"/>
              </a:ext>
            </a:extLst>
          </p:cNvPr>
          <p:cNvSpPr txBox="1"/>
          <p:nvPr/>
        </p:nvSpPr>
        <p:spPr>
          <a:xfrm>
            <a:off x="6934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−0.1058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A71A65-E6C1-9E0D-008D-A530831E2243}"/>
              </a:ext>
            </a:extLst>
          </p:cNvPr>
          <p:cNvSpPr txBox="1"/>
          <p:nvPr/>
        </p:nvSpPr>
        <p:spPr>
          <a:xfrm>
            <a:off x="6934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42B3CB8-E405-C39D-97E9-B0A587507FE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2603500"/>
            <a:ext cx="109474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588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60">
            <a:extLst>
              <a:ext uri="{FF2B5EF4-FFF2-40B4-BE49-F238E27FC236}">
                <a16:creationId xmlns:a16="http://schemas.microsoft.com/office/drawing/2014/main" id="{B1FBCA23-3838-6BB6-A74E-F7FE9B79F3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61">
            <a:extLst>
              <a:ext uri="{FF2B5EF4-FFF2-40B4-BE49-F238E27FC236}">
                <a16:creationId xmlns:a16="http://schemas.microsoft.com/office/drawing/2014/main" id="{A627FEFF-FEA0-4A92-D3C3-D15D76F6ADE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EC5A5D-1478-B773-3288-BF11019F6200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 המודל עדיין לא הוכיח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AD81A8-26EA-8802-DDB8-4386060C7748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E5787F-F691-BCA3-802D-C10C15F8C2F6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C89FA79-FB11-83C3-822E-0C1C51BF5E9B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13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A22CD6-7BC1-6F2C-C0C9-A02CB068FCF8}"/>
              </a:ext>
            </a:extLst>
          </p:cNvPr>
          <p:cNvSpPr txBox="1"/>
          <p:nvPr/>
        </p:nvSpPr>
        <p:spPr>
          <a:xfrm>
            <a:off x="8382000" y="1204888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IL" sz="44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1674B8-3F4F-EBB9-BC26-7C89C2C44467}"/>
              </a:ext>
            </a:extLst>
          </p:cNvPr>
          <p:cNvSpPr txBox="1"/>
          <p:nvPr/>
        </p:nvSpPr>
        <p:spPr>
          <a:xfrm>
            <a:off x="8382000" y="2288936"/>
            <a:ext cx="3111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Shape_162">
            <a:extLst>
              <a:ext uri="{FF2B5EF4-FFF2-40B4-BE49-F238E27FC236}">
                <a16:creationId xmlns:a16="http://schemas.microsoft.com/office/drawing/2014/main" id="{164816A2-23E7-FDF4-618F-B863C50B6228}"/>
              </a:ext>
            </a:extLst>
          </p:cNvPr>
          <p:cNvSpPr/>
          <p:nvPr/>
        </p:nvSpPr>
        <p:spPr>
          <a:xfrm>
            <a:off x="8382000" y="2806700"/>
            <a:ext cx="3111500" cy="3048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163">
            <a:extLst>
              <a:ext uri="{FF2B5EF4-FFF2-40B4-BE49-F238E27FC236}">
                <a16:creationId xmlns:a16="http://schemas.microsoft.com/office/drawing/2014/main" id="{52FABCFB-CFE0-61D6-E1B1-AC779DFA4F0E}"/>
              </a:ext>
            </a:extLst>
          </p:cNvPr>
          <p:cNvSpPr/>
          <p:nvPr/>
        </p:nvSpPr>
        <p:spPr>
          <a:xfrm>
            <a:off x="8940800" y="2806700"/>
            <a:ext cx="2552700" cy="3048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4ECFF5-CE64-8CB0-268C-FD8579477DD6}"/>
              </a:ext>
            </a:extLst>
          </p:cNvPr>
          <p:cNvSpPr txBox="1"/>
          <p:nvPr/>
        </p:nvSpPr>
        <p:spPr>
          <a:xfrm>
            <a:off x="8382000" y="3292608"/>
            <a:ext cx="31115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mutation distribution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Shape_164">
            <a:extLst>
              <a:ext uri="{FF2B5EF4-FFF2-40B4-BE49-F238E27FC236}">
                <a16:creationId xmlns:a16="http://schemas.microsoft.com/office/drawing/2014/main" id="{1B5DB188-E3B4-5BEF-8466-47E35E76F8BB}"/>
              </a:ext>
            </a:extLst>
          </p:cNvPr>
          <p:cNvSpPr/>
          <p:nvPr/>
        </p:nvSpPr>
        <p:spPr>
          <a:xfrm>
            <a:off x="698500" y="1346200"/>
            <a:ext cx="7112000" cy="12573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756D6A-3CCB-8882-1846-121034592AC7}"/>
              </a:ext>
            </a:extLst>
          </p:cNvPr>
          <p:cNvSpPr txBox="1"/>
          <p:nvPr/>
        </p:nvSpPr>
        <p:spPr>
          <a:xfrm>
            <a:off x="3556000" y="14965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Coverage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1E973B-AD85-93CA-C74C-40371B21E71E}"/>
              </a:ext>
            </a:extLst>
          </p:cNvPr>
          <p:cNvSpPr txBox="1"/>
          <p:nvPr/>
        </p:nvSpPr>
        <p:spPr>
          <a:xfrm>
            <a:off x="965200" y="18621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רוב הדוגמאות נוצרו מהסרת שורה שנוספה.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165">
            <a:extLst>
              <a:ext uri="{FF2B5EF4-FFF2-40B4-BE49-F238E27FC236}">
                <a16:creationId xmlns:a16="http://schemas.microsoft.com/office/drawing/2014/main" id="{2FCF4B34-9788-B304-24BC-A375CC94A772}"/>
              </a:ext>
            </a:extLst>
          </p:cNvPr>
          <p:cNvSpPr/>
          <p:nvPr/>
        </p:nvSpPr>
        <p:spPr>
          <a:xfrm>
            <a:off x="698500" y="2921000"/>
            <a:ext cx="7112000" cy="12573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8B7942-A4EF-3371-E705-2EA131CBA5D1}"/>
              </a:ext>
            </a:extLst>
          </p:cNvPr>
          <p:cNvSpPr txBox="1"/>
          <p:nvPr/>
        </p:nvSpPr>
        <p:spPr>
          <a:xfrm>
            <a:off x="3556000" y="30713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Rare Mutations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1B25AF-6E67-DA69-846E-5D0ACA5BA968}"/>
              </a:ext>
            </a:extLst>
          </p:cNvPr>
          <p:cNvSpPr txBox="1"/>
          <p:nvPr/>
        </p:nvSpPr>
        <p:spPr>
          <a:xfrm>
            <a:off x="965200" y="34369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יש מעט דוגמאות לשינויים סמנטיים עדינים.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Shape_166">
            <a:extLst>
              <a:ext uri="{FF2B5EF4-FFF2-40B4-BE49-F238E27FC236}">
                <a16:creationId xmlns:a16="http://schemas.microsoft.com/office/drawing/2014/main" id="{D678FB13-1EFA-7FB4-0ADB-30B283ED4130}"/>
              </a:ext>
            </a:extLst>
          </p:cNvPr>
          <p:cNvSpPr/>
          <p:nvPr/>
        </p:nvSpPr>
        <p:spPr>
          <a:xfrm>
            <a:off x="698500" y="4495800"/>
            <a:ext cx="7112000" cy="12573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C5503D-9CA5-B3C6-45C3-847522116C5E}"/>
              </a:ext>
            </a:extLst>
          </p:cNvPr>
          <p:cNvSpPr txBox="1"/>
          <p:nvPr/>
        </p:nvSpPr>
        <p:spPr>
          <a:xfrm>
            <a:off x="3556000" y="46461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External Validity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CB5CAE-2844-35B8-7D83-7A2626E7E8D0}"/>
              </a:ext>
            </a:extLst>
          </p:cNvPr>
          <p:cNvSpPr txBox="1"/>
          <p:nvPr/>
        </p:nvSpPr>
        <p:spPr>
          <a:xfrm>
            <a:off x="965200" y="50117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לא בוצעה הערכה סופית על פרויקט חיצוני.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14A229-20E3-C3C6-CF5A-B33C2C1420C3}"/>
              </a:ext>
            </a:extLst>
          </p:cNvPr>
          <p:cNvSpPr txBox="1"/>
          <p:nvPr/>
        </p:nvSpPr>
        <p:spPr>
          <a:xfrm>
            <a:off x="8382000" y="4162787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נדרש סט בדיקה ידני של חוסרים אמיתיים.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77980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67">
            <a:extLst>
              <a:ext uri="{FF2B5EF4-FFF2-40B4-BE49-F238E27FC236}">
                <a16:creationId xmlns:a16="http://schemas.microsoft.com/office/drawing/2014/main" id="{2817D8EC-8137-CE7D-D073-20843AADC8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68">
            <a:extLst>
              <a:ext uri="{FF2B5EF4-FFF2-40B4-BE49-F238E27FC236}">
                <a16:creationId xmlns:a16="http://schemas.microsoft.com/office/drawing/2014/main" id="{92F9DBDA-7F39-DBB8-3F84-4A0E29FCB85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DD1603-E1E5-2441-581C-F8197919E0C4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מסקנות ושאלות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B1AEA6-5E24-6C1C-C2A2-8B67BD4E4DE4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37F10E-7141-8463-2D57-81963B556C24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ED75563-6604-49F9-15FA-BB89D3414C7A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14 / 14</a:t>
            </a:r>
          </a:p>
        </p:txBody>
      </p:sp>
      <p:sp>
        <p:nvSpPr>
          <p:cNvPr id="10" name="Shape_169">
            <a:extLst>
              <a:ext uri="{FF2B5EF4-FFF2-40B4-BE49-F238E27FC236}">
                <a16:creationId xmlns:a16="http://schemas.microsoft.com/office/drawing/2014/main" id="{6F2F6F48-CFF2-915C-7609-62618E329C08}"/>
              </a:ext>
            </a:extLst>
          </p:cNvPr>
          <p:cNvSpPr/>
          <p:nvPr/>
        </p:nvSpPr>
        <p:spPr>
          <a:xfrm>
            <a:off x="698500" y="1422400"/>
            <a:ext cx="3175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170">
            <a:extLst>
              <a:ext uri="{FF2B5EF4-FFF2-40B4-BE49-F238E27FC236}">
                <a16:creationId xmlns:a16="http://schemas.microsoft.com/office/drawing/2014/main" id="{945AD475-FB2E-53F3-C0D9-808932A41C02}"/>
              </a:ext>
            </a:extLst>
          </p:cNvPr>
          <p:cNvSpPr/>
          <p:nvPr/>
        </p:nvSpPr>
        <p:spPr>
          <a:xfrm>
            <a:off x="3784600" y="14224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F95B05-400E-FF3A-1431-CE297DC8F0BF}"/>
              </a:ext>
            </a:extLst>
          </p:cNvPr>
          <p:cNvSpPr txBox="1"/>
          <p:nvPr/>
        </p:nvSpPr>
        <p:spPr>
          <a:xfrm>
            <a:off x="901700" y="15031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0C1D36-AF09-D7B9-882F-406172176441}"/>
              </a:ext>
            </a:extLst>
          </p:cNvPr>
          <p:cNvSpPr txBox="1"/>
          <p:nvPr/>
        </p:nvSpPr>
        <p:spPr>
          <a:xfrm>
            <a:off x="901700" y="21546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171">
            <a:extLst>
              <a:ext uri="{FF2B5EF4-FFF2-40B4-BE49-F238E27FC236}">
                <a16:creationId xmlns:a16="http://schemas.microsoft.com/office/drawing/2014/main" id="{C284B8BA-56E7-7358-3ABF-43E95B3A8A36}"/>
              </a:ext>
            </a:extLst>
          </p:cNvPr>
          <p:cNvSpPr/>
          <p:nvPr/>
        </p:nvSpPr>
        <p:spPr>
          <a:xfrm>
            <a:off x="698500" y="2717800"/>
            <a:ext cx="3175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172">
            <a:extLst>
              <a:ext uri="{FF2B5EF4-FFF2-40B4-BE49-F238E27FC236}">
                <a16:creationId xmlns:a16="http://schemas.microsoft.com/office/drawing/2014/main" id="{D89A4251-4424-3947-C8CE-35E1417217DD}"/>
              </a:ext>
            </a:extLst>
          </p:cNvPr>
          <p:cNvSpPr/>
          <p:nvPr/>
        </p:nvSpPr>
        <p:spPr>
          <a:xfrm>
            <a:off x="3784600" y="2717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CC16FD-9B34-FFB5-7B21-36D4D4B8AFEF}"/>
              </a:ext>
            </a:extLst>
          </p:cNvPr>
          <p:cNvSpPr txBox="1"/>
          <p:nvPr/>
        </p:nvSpPr>
        <p:spPr>
          <a:xfrm>
            <a:off x="901700" y="27985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E5BA3D-C3B9-5E23-D8CC-223FB4A2C5EC}"/>
              </a:ext>
            </a:extLst>
          </p:cNvPr>
          <p:cNvSpPr txBox="1"/>
          <p:nvPr/>
        </p:nvSpPr>
        <p:spPr>
          <a:xfrm>
            <a:off x="901700" y="34500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173">
            <a:extLst>
              <a:ext uri="{FF2B5EF4-FFF2-40B4-BE49-F238E27FC236}">
                <a16:creationId xmlns:a16="http://schemas.microsoft.com/office/drawing/2014/main" id="{3E2DD3EE-41FC-4E94-35F7-6A12B8027CAA}"/>
              </a:ext>
            </a:extLst>
          </p:cNvPr>
          <p:cNvSpPr/>
          <p:nvPr/>
        </p:nvSpPr>
        <p:spPr>
          <a:xfrm>
            <a:off x="698500" y="4013200"/>
            <a:ext cx="3175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174">
            <a:extLst>
              <a:ext uri="{FF2B5EF4-FFF2-40B4-BE49-F238E27FC236}">
                <a16:creationId xmlns:a16="http://schemas.microsoft.com/office/drawing/2014/main" id="{FFFFB6B1-FE87-5A2E-EDD4-E2514AF3341C}"/>
              </a:ext>
            </a:extLst>
          </p:cNvPr>
          <p:cNvSpPr/>
          <p:nvPr/>
        </p:nvSpPr>
        <p:spPr>
          <a:xfrm>
            <a:off x="3784600" y="40132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1852E0-C0D0-D6B6-C316-B340EE6583AC}"/>
              </a:ext>
            </a:extLst>
          </p:cNvPr>
          <p:cNvSpPr txBox="1"/>
          <p:nvPr/>
        </p:nvSpPr>
        <p:spPr>
          <a:xfrm>
            <a:off x="901700" y="40939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2C0C36-67D6-E285-CF31-2FEF04A8ACD4}"/>
              </a:ext>
            </a:extLst>
          </p:cNvPr>
          <p:cNvSpPr txBox="1"/>
          <p:nvPr/>
        </p:nvSpPr>
        <p:spPr>
          <a:xfrm>
            <a:off x="901700" y="47454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A59157-22E5-1B8F-E793-CA964ED95168}"/>
              </a:ext>
            </a:extLst>
          </p:cNvPr>
          <p:cNvSpPr txBox="1"/>
          <p:nvPr/>
        </p:nvSpPr>
        <p:spPr>
          <a:xfrm>
            <a:off x="10617200" y="13761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29D2F6-1EA7-A3C0-DD31-A93D6B7CCFE0}"/>
              </a:ext>
            </a:extLst>
          </p:cNvPr>
          <p:cNvSpPr txBox="1"/>
          <p:nvPr/>
        </p:nvSpPr>
        <p:spPr>
          <a:xfrm>
            <a:off x="4699000" y="1424965"/>
            <a:ext cx="56642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מבנה השינוי חשוב יותר מנפח המודל.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625C7A-6B95-D911-B214-0C7D06789A19}"/>
              </a:ext>
            </a:extLst>
          </p:cNvPr>
          <p:cNvSpPr txBox="1"/>
          <p:nvPr/>
        </p:nvSpPr>
        <p:spPr>
          <a:xfrm>
            <a:off x="10617200" y="26207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1110CD-CF5E-8EA8-E766-718669D00CAA}"/>
              </a:ext>
            </a:extLst>
          </p:cNvPr>
          <p:cNvSpPr txBox="1"/>
          <p:nvPr/>
        </p:nvSpPr>
        <p:spPr>
          <a:xfrm>
            <a:off x="4699000" y="2654176"/>
            <a:ext cx="56642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מפורש על סוג השורה מצמצם התראות שווא ומשפר זיהוי 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7DDC21-ACF5-D1C5-96D9-DF4169F799FD}"/>
              </a:ext>
            </a:extLst>
          </p:cNvPr>
          <p:cNvSpPr txBox="1"/>
          <p:nvPr/>
        </p:nvSpPr>
        <p:spPr>
          <a:xfrm>
            <a:off x="10617200" y="38653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F52DE5-0F61-6B89-DC14-DA78CF1A7D5E}"/>
              </a:ext>
            </a:extLst>
          </p:cNvPr>
          <p:cNvSpPr txBox="1"/>
          <p:nvPr/>
        </p:nvSpPr>
        <p:spPr>
          <a:xfrm>
            <a:off x="4699000" y="3891453"/>
            <a:ext cx="56642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מקור התוויות חייב להיות עצמאי ממנגנון התיוג.</a:t>
            </a:r>
            <a:endParaRPr lang="en-IL" sz="20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EA5A27E-9D54-A456-A4BA-4A428F2757DE}"/>
              </a:ext>
            </a:extLst>
          </p:cNvPr>
          <p:cNvCxnSpPr/>
          <p:nvPr/>
        </p:nvCxnSpPr>
        <p:spPr>
          <a:xfrm>
            <a:off x="698500" y="5651500"/>
            <a:ext cx="107950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E864044-6FCA-71F6-B4C4-EBCD03D0BA2B}"/>
              </a:ext>
            </a:extLst>
          </p:cNvPr>
          <p:cNvSpPr txBox="1"/>
          <p:nvPr/>
        </p:nvSpPr>
        <p:spPr>
          <a:xfrm>
            <a:off x="698500" y="5944219"/>
            <a:ext cx="5842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github.com/korrenhannes/diffintent-rtl</a:t>
            </a:r>
            <a:endParaRPr lang="en-IL" sz="1400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537C4F-366E-FC29-2C87-B9105DEAC0CE}"/>
              </a:ext>
            </a:extLst>
          </p:cNvPr>
          <p:cNvSpPr txBox="1"/>
          <p:nvPr/>
        </p:nvSpPr>
        <p:spPr>
          <a:xfrm>
            <a:off x="8851900" y="5714504"/>
            <a:ext cx="26416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שאלות?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72977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75">
            <a:extLst>
              <a:ext uri="{FF2B5EF4-FFF2-40B4-BE49-F238E27FC236}">
                <a16:creationId xmlns:a16="http://schemas.microsoft.com/office/drawing/2014/main" id="{A96260B8-F864-CE46-4BAA-4F33702C98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76">
            <a:extLst>
              <a:ext uri="{FF2B5EF4-FFF2-40B4-BE49-F238E27FC236}">
                <a16:creationId xmlns:a16="http://schemas.microsoft.com/office/drawing/2014/main" id="{11099B6A-468A-3F28-CEE5-EFADCB763EB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D72E75-87BD-F30B-7969-DB90824EE21B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מטריצות בלבול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149BD1-9C12-6F0A-FD99-8560F8AFA6DA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DB58DD-7AB0-2AAA-BDFF-EA0E31BD53BB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4D0A61C-05A5-A37F-7C8D-A86152607A90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A1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05855C-AF18-0AD0-4ADA-5FF7A37A69F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1371600"/>
            <a:ext cx="942340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249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77">
            <a:extLst>
              <a:ext uri="{FF2B5EF4-FFF2-40B4-BE49-F238E27FC236}">
                <a16:creationId xmlns:a16="http://schemas.microsoft.com/office/drawing/2014/main" id="{AE4735EC-6C0E-07D1-35E6-3E3C34E99F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78">
            <a:extLst>
              <a:ext uri="{FF2B5EF4-FFF2-40B4-BE49-F238E27FC236}">
                <a16:creationId xmlns:a16="http://schemas.microsoft.com/office/drawing/2014/main" id="{05EE1600-8312-5E94-726E-18A24ABB284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FF258B-9149-A206-93D2-57B160AA75DB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ביצועים לפי סוג 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DE1BB2-0459-9FD8-2B1C-DCE18C44736D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0BFFA1-9E97-E706-E342-9FE79EB7236C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4645475-1F61-7FD2-043E-32E4153D495B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A2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95C61A-5F2D-2793-0A3E-7309677E328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1333500"/>
            <a:ext cx="9423400" cy="534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10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79">
            <a:extLst>
              <a:ext uri="{FF2B5EF4-FFF2-40B4-BE49-F238E27FC236}">
                <a16:creationId xmlns:a16="http://schemas.microsoft.com/office/drawing/2014/main" id="{D0B35069-3955-DEFE-1669-7735545031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80">
            <a:extLst>
              <a:ext uri="{FF2B5EF4-FFF2-40B4-BE49-F238E27FC236}">
                <a16:creationId xmlns:a16="http://schemas.microsoft.com/office/drawing/2014/main" id="{DE107CF1-29E3-4984-9AF8-21E1648D7AF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E223C1-BB81-B587-BF1D-84C7063FB765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מחקרי הרחבה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84B16E-8934-F438-E7B0-756494B8A6C1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A381C9A-BAFF-684F-469B-09D6C3E3ADC9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8BC1FF7-82B2-7F2E-D399-705DDBF43E86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A3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0DFD17-BDBA-C906-5618-BB9D0609272F}"/>
              </a:ext>
            </a:extLst>
          </p:cNvPr>
          <p:cNvSpPr txBox="1"/>
          <p:nvPr/>
        </p:nvSpPr>
        <p:spPr>
          <a:xfrm>
            <a:off x="60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Improved Weak Labeling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BE4EFF-5278-F9ED-EB3F-CF530F0A8C7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9900"/>
            <a:ext cx="3352800" cy="2159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6AFFE1-9E2F-3100-E3BA-0CD22955A8DB}"/>
              </a:ext>
            </a:extLst>
          </p:cNvPr>
          <p:cNvSpPr txBox="1"/>
          <p:nvPr/>
        </p:nvSpPr>
        <p:spPr>
          <a:xfrm>
            <a:off x="441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Hardware-aware Features</a:t>
            </a:r>
            <a:endParaRPr lang="en-IL" sz="16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A22058F-A0D0-2617-9AA2-189C46B31C61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39900"/>
            <a:ext cx="3048000" cy="218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6F1BBF-D22D-957F-CC80-9ED046D9A998}"/>
              </a:ext>
            </a:extLst>
          </p:cNvPr>
          <p:cNvSpPr txBox="1"/>
          <p:nvPr/>
        </p:nvSpPr>
        <p:spPr>
          <a:xfrm>
            <a:off x="822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Cross-project Study</a:t>
            </a:r>
            <a:endParaRPr lang="en-IL" sz="16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ACF2B76-A710-CF57-4C1B-2FF7764AEF83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739900"/>
            <a:ext cx="3352800" cy="1308100"/>
          </a:xfrm>
          <a:prstGeom prst="rect">
            <a:avLst/>
          </a:prstGeom>
        </p:spPr>
      </p:pic>
      <p:sp>
        <p:nvSpPr>
          <p:cNvPr id="19" name="Shape_181">
            <a:extLst>
              <a:ext uri="{FF2B5EF4-FFF2-40B4-BE49-F238E27FC236}">
                <a16:creationId xmlns:a16="http://schemas.microsoft.com/office/drawing/2014/main" id="{7F870314-05F2-3882-5E6C-55BF92B1076A}"/>
              </a:ext>
            </a:extLst>
          </p:cNvPr>
          <p:cNvSpPr/>
          <p:nvPr/>
        </p:nvSpPr>
        <p:spPr>
          <a:xfrm>
            <a:off x="609600" y="4406900"/>
            <a:ext cx="10972800" cy="1422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290538-82E3-FAE4-A611-757E8844E94C}"/>
              </a:ext>
            </a:extLst>
          </p:cNvPr>
          <p:cNvSpPr txBox="1"/>
          <p:nvPr/>
        </p:nvSpPr>
        <p:spPr>
          <a:xfrm>
            <a:off x="901700" y="4681542"/>
            <a:ext cx="2921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Medium-scale studies</a:t>
            </a:r>
            <a:endParaRPr lang="en-IL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E0FA51-DA9B-0D97-87D0-6275CBEC7779}"/>
              </a:ext>
            </a:extLst>
          </p:cNvPr>
          <p:cNvSpPr txBox="1"/>
          <p:nvPr/>
        </p:nvSpPr>
        <p:spPr>
          <a:xfrm>
            <a:off x="4064000" y="4592642"/>
            <a:ext cx="71755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המספרים אינם בני השוואה ישירה לניסוי המלא. הם מצביעים על שיפור כיסוי התיוג, ערך של מאפייני חומרה ופער בין פרויקטים.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54485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1912</Words>
  <Application>Microsoft Macintosh PowerPoint</Application>
  <PresentationFormat>Widescreen</PresentationFormat>
  <Paragraphs>203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Korren Hannes</dc:creator>
  <cp:lastModifiedBy>Korren Hannes</cp:lastModifiedBy>
  <cp:revision>1</cp:revision>
  <dcterms:created xsi:type="dcterms:W3CDTF">2026-10-07T17:08:03Z</dcterms:created>
  <dcterms:modified xsi:type="dcterms:W3CDTF">2026-10-07T17:08:24Z</dcterms:modified>
</cp:coreProperties>
</file>