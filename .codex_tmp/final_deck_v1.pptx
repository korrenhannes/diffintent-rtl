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6"/>
  </p:normalViewPr>
  <p:slideViewPr>
    <p:cSldViewPr snapToGrid="0">
      <p:cViewPr varScale="1">
        <p:scale>
          <a:sx n="116" d="100"/>
          <a:sy n="116" d="100"/>
        </p:scale>
        <p:origin x="6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EC03EA-97C7-7D4D-9D50-DD5D41AC724E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39786-6503-2D4C-8281-9F70639C00D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4891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00:20
פתיחה קצרה: הפרויקט בוחן האם ניתן להבין שינויי קוד ברמת ה-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ולא רק את הקובץ לאחר השינוי.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DiffIntent-RTL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שתי משימות: זיהוי מטרת השינוי וזיהוי חוסר פונקציונלי.
מעבר: נתחיל מהבעיה המעשית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Code Review.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DiffIntent -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הצעת פרויקט.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pdf; report/final_report.md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8682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00:55
המסר המרכזי: תקינות תחבירית אינה מבטיחה שלמות פונקציונלית.
בדוגמה,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קטן משנה נתיב בקרה; שורה חסרה יכולה לשנות את ההתנהגות בלי לשבור קומפילציה.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Code Review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מפתח משתמש בסוג השורה, בקוד הסמוך ובמבנה השינוי.
מעבר: מכאן נגזרות שתי שאלות המחקר.
מקור: סעיפים 1 ו-3.3 בדוח הסופי.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91352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00:45
יש שתי משימות על אותו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diff.
Intent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ארבע מחלקות של מטרת שינוי.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Completeness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הפרדה בין שינוי שלם לבין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implementation hole.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ההשערה נבנתה על מחקר קודם של ייצוגי שינוי, מודלים היררכיים וחיזוי מתיקוני קוד.
מעבר: כעת נראה כיצד הופכים היסטוריית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Git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לנתוני אימון.
מקורות: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CC2Vec; PatchNet; DeepJIT; CodeReviewer;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סעיף 2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3484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01:05
הצינור מתחיל בהיסטוריית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OpenTitan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ומסנן רק קבצי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SystemVerilog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רלוונטיים.
כל דוגמה היא שינוי בקובץ אחד.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Weak Labels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נוצרות מהודעות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commit.
Synthetic Holes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נוצרים בתוך אזור השינוי.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Chronological Split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הזוג המקורי והגרסה המוטנטית לעולם אינם מתפצלים בין קבוצות.
מעבר: נבחן את הרכב מערך הנתונים.
מקור: סעיפים 3.1 עד 3.4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9598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00:55
המספרים המרכזיים: 5,903 מועמדים גולמיים, 2,843 דוגמאות אמיתיות לאחר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weak labeling,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ו-5,500 דוגמאות לאחר יצירת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synthetic holes.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החלוקה כרונולוגית: 3,873 לאימון, 830 לאימות ו-797 לבדיקה.
הגרף מציג גם את חוסר האיזון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Intent: refactor_cleanup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היא המחלקה הקטנה ביותר.
מעבר: איך בדיוק נוצרת דוגמה חסרה?
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outputs/full_run/dataset_summary.json; figure_dataset_overview.png.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433863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01:00
הדוגמה המקורית נשארת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complete.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עותק שלה עובר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מבוקר בתוך השורות שהשתנו.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drop_added_line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היא הפעולה השכיחה ביותר, והיא מהווה 82.2 אחוז מדוגמאות החוסר בבדיקה.
יש גם הסרת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guard, assertion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או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reset assignment,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וכן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flips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 אופרטורים, אך חלקם נדירים.
היתרון הוא שליטה בזוגות; החיסרון הוא פער מחוסרים אמיתיים.
מעבר: נציג את קו הבסיס ואת המודלים העמוקים.
מקור: סעיף 3.3 וסעיף 8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1109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01:00
ההשוואה נבנתה כסולם מורכבות.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TF-IDF + Logistic Regression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קו בסיס לקסיקלי חזק.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MLP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מאגר ממוצע של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embeddings.
BiGRU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רצף שטוח של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tokens.
Hierarchical Transformer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מקודד כל שורה ואז את רצף השורות, כולל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line-type.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למודלים העמוקים יש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Multi-task head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לשתי המשימות.
מעבר: נפתח את הארכיטקטורה ההיררכית.
מקור: סעיף 4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21105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01:15
זו הארכיטקטורה המרכזית.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Typed Diff Lines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כל שורה מסומנת לפי תפקידה.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Token Embedding + BiGRU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יוצר ייצוג פנימי לכל שורה.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Transformer Encoder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לומד קשרים בין שורות רחוקות.
שני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heads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מפיקים תחזית נפרדת לכל משימה.
הניסוי החשוב בהמשך מסיר את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line-type embedding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ובודק מה אובד.
מעבר: קודם נבחן את תוצאת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מקור: סעיפים 4.3 ו-4.4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01628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01:00
התוצאה המרכזית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היא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 0.4197 עבור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TF-IDF.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הגרף מראה שהיתרון אינו אחיד בין המחלקות;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refactor_cleanup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נשארת קשה בגלל מיעוט דוגמאות וחפיפה סמנטית.
המשמעות אינה שמודלים עמוקים חסרי ערך, אלא שהמשימה והתיוג מספקים אות לקסיקלי חזק מאוד.
מעבר: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חושף עד כמה האות הזה קשור ל-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weak labels.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outputs/full_run/full_results.json; figure_intent_per_class_f1.png.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10565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00:55
זהו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control experiment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קריטי.
ה-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label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נוצר ממילות מפתח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commit message.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כאשר מאמנים מודל רק על אותו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message,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מתקבל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Macro-F1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 0.9855.
לכן תוצאת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משקפת במידה רבה את מנגנון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weak labeling.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כדי לטעון להבנת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נדרש סט תוויות ידני או מקור תוויות עצמאי.
מעבר: משימת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Completeness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אינה נשענת על אותו ערוץ, ושם המבנה ההיררכי בולט.
מקור: סעיף 7.5 וסעיף 8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201807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01:15
כאן מתקבלת התוצאה החזקה ביותר של הפרויקט.
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Hierarchical Transformer
hole F1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 0.6029 ו-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AUROC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 0.7352.
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seed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המוצג הוא שומר כמעט על אותו מספר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true positives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כמו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TF-IDF,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אך מוריד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false positives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מ-172 ל-81.
זה חשוב ל-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Code Review: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פחות התראות שווא משפרות שימושיות.
מעבר: האם השיפור באמת מגיע ממידע על סוג השורה?
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outputs/full_run/full_results.json; figure_hole_confusion_panels.png.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10086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01:05
ה-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ablation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מסיר רק את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line-type information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ושומר את שאר הארכיטקטורה.
התוצאה: ירידה של 0.1305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hole F1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ושל 0.1058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AUROC.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זהו הממצא הסיבתי החזק ביותר במצגת: לא רק נפח המודל, אלא הייצוג המפורש של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ADD, DEL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CONTEXT,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תורם לזיהוי חוסר.
מעבר: עדיין צריך לפרש את התוצאה בתוך מגבלות מערך הנתונים.
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outputs/full_run/full_results.json; figure_ablation_results.png.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8450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00:55
שלוש מגבלות מגדירות את גבול הטענה.
ראשית, 82.2 אחוז מהחוסרים הסינתטיים הם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drop_added_line.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שנית, מספר משפחות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נדירות מדי להערכה.
שלישית, מחקר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Caliptra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הוא מקדים ובקנה מידה קטן, ולא הערכת סיום שקולה.
לכן התוצאה מצביעה על פוטנציאל, אך אינה תחליף לסט בדיקה ידני של חוסרים אמיתיים.
מעבר: נסכם את שלוש המסקנות שניתן להגן עליהן.
מקור: סעיפים 7.7 ו-8 בדוח.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55492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00:35
שלוש מסקנות.
אחת: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קו בסיס לקסיקלי נשאר תחרותי.
שתיים: ב-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Completeness,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מבנה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diff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מפורש משפר ביצועים ומפחית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false positives.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שלוש: תוויות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חייבות להגיע ממקור שאינו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commit message.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סיום: הפרויקט מספק תשתית מלאה למחקר המשך על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Code Review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ל-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RTL.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מקור: מסקנות הדוח הסופי.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328184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שקופית גיבוי.
השתמשו בה אם נשאלת שאלה על דפוסי הבלבול בין מחלקות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Intent.
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figure_intent_confusion_panels.png.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00507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שקופית גיבוי.
התרשים מפריד ביצועים לפי משפחת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mutation </a:t>
            </a:r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וממחיש מדוע המספר הכולל מושפע מהתפלגות הדוגמאות.
מקור: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figure_hole_mutation_recall.png.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04304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1"/>
            <a:r>
              <a:rPr lang="he-IL" sz="1500">
                <a:latin typeface="Arial" panose="020B0604020202020204" pitchFamily="34" charset="0"/>
                <a:sym typeface="Arial" panose="020B0604020202020204" pitchFamily="34" charset="0"/>
              </a:rPr>
              <a:t>שקופית גיבוי.
מחקרי ההרחבה בוצעו על מערך קטן יותר ובפרוטוקולים אחרים. אין להשוות את הערכים המוחלטים לתוצאות הניסוי המלא.
מקור: סעיף 7.7 בדוח; </a:t>
            </a:r>
            <a:r>
              <a:rPr lang="en-US" sz="1500">
                <a:latin typeface="Arial" panose="020B0604020202020204" pitchFamily="34" charset="0"/>
                <a:sym typeface="Arial" panose="020B0604020202020204" pitchFamily="34" charset="0"/>
              </a:rPr>
              <a:t>labeler_improvement.png; rtl_features_cv.png; generalization_compare.png.</a:t>
            </a:r>
            <a:endParaRPr lang="en-IL" sz="15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39786-6503-2D4C-8281-9F70639C00D7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1320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E143C-337D-A8EF-4697-6DEEE3D481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76B40A-1D1C-BCF9-E7F5-5B0C696454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F9E692-8E6E-C9D6-4856-9718797D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A7286-7AD2-CB91-332E-C658FB553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6CFF6-2BB0-9BEB-C8AF-603C78BD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1466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0451D-A69F-1F24-5B46-32778729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D2FA2-0D7A-42B0-DCD0-F84C38D48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01507-61AE-9FB6-8BF2-5F1A335C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7E048-13E1-83D2-43EE-CE8043A01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699A7-6CD6-6139-EDEB-0C553DEA4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1448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DBC26-278F-F8F6-E1F4-205D5A0B1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ADE94-ED09-5601-239C-4A8128937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C89A7C-AEA5-0426-214C-8C7C18C8A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06E7B-B106-9CFF-D46D-0B9BC4F2F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8643F-81E1-9D82-E2F6-813E9962A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82330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E9626-97CD-A9EF-EB2B-26EE207D0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29F88-0729-4B5D-F4F6-B3E52F0DEA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E8E148-2D1A-0E15-C15B-8892F8680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50BA5E-AA1B-FF07-484D-25874E3DD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38F735-FE95-DD8B-0EDB-5BD58334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8870F-6A79-B080-4FB5-326847B6F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53685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31749-AAC7-12F3-765D-DD131B6ED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01B3E-686E-4582-04E5-136240E97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EAACAE-3FB5-1879-F73C-E2F7D7F3B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016B9D-2FED-96DB-B1BF-368DF04DED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96280E-8DCF-C447-D0BC-95DE0D49E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46ADDD-6960-C81A-7B1E-574DACBCE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140FE5-0A68-9E31-FB63-B8B64E07A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69408A-43C0-27E0-1521-4DDA0E437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1429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7808F-0205-DE8A-3615-A5B8E2DF8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D9CACF-B862-C194-EDA1-7E32762F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B818D-D1BF-1360-FD31-357925007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E6C6A-1B08-9B29-B42A-F445D7005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24115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936CB3-43AD-85C9-C2A1-CFF5132BB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4F83F-37A5-765E-0269-C2F077CCA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6DC4E-E2DA-81C6-9F82-A9A8BF760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2163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2A1E6-0C13-E9AA-3A3F-CE5980E4D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04CEFE-59BA-AE5F-54CD-F929465A8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376476-5649-44B9-F02C-9B0E84E5C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F35A3-3202-DE3F-73BE-8AFB837D8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CED7B-1FDB-9546-BFFB-654C7B5D1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1DFFC-4EFC-7F3B-A865-FEB16D7F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22636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82A90-C087-8109-D234-A4E977741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67A99E-CFC5-8BF1-6580-686B85A2CAD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085C0-B94C-4192-AA5D-E77CDE48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1CB10-B81F-C821-5C21-06488B489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2C5EF0-D24F-784B-4872-79ADAEBB0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A75744-ED03-72A1-CB81-BAC57CA64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398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87FE-E09F-9B0A-B316-B8DA0B0C4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F5527-6713-70C7-1CF9-D8A075792B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41C8F-F24C-6480-6D65-54090FFD4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7E3E3-BEF7-BB20-FCE0-74BC71547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A252A-559B-77D7-EE4D-7D8225A8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58293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D00002-DCC0-FC8A-4C2D-A52F0EE5DE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17B156-7C2F-821D-61DD-95E0CD7C2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5D76C-A00E-B1CD-AE67-CB3DA1C18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42363-E2B4-9A5E-E153-BFFCAD27D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10F89-91E5-EC89-16D7-D4F6A2A8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70580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A73B29-6573-BB02-D5A3-AED6923B2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1B9FE2-5C3D-C7EA-C4BE-EFC4BECB1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9968B-03F9-45C7-629C-65853369F1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0A732-5DFD-3044-A1EC-7999A4A1BA23}" type="datetimeFigureOut">
              <a:rPr lang="en-IL" smtClean="0"/>
              <a:t>07/10/2026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C2345-5EE2-7D32-28B9-A124E3CC70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755BE-3EEF-8A02-86BC-EEF588D53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02AC16-911C-B746-B006-822FE0DBDF85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5321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A5A0B5-EE98-B729-341F-9A944F28881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E4660-361E-82CB-6576-849CF36669C7}"/>
              </a:ext>
            </a:extLst>
          </p:cNvPr>
          <p:cNvSpPr txBox="1"/>
          <p:nvPr/>
        </p:nvSpPr>
        <p:spPr>
          <a:xfrm>
            <a:off x="0" y="0"/>
            <a:ext cx="1270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EB773A-1D22-8498-E572-420E18ED4E65}"/>
              </a:ext>
            </a:extLst>
          </p:cNvPr>
          <p:cNvSpPr txBox="1"/>
          <p:nvPr/>
        </p:nvSpPr>
        <p:spPr>
          <a:xfrm>
            <a:off x="825500" y="882010"/>
            <a:ext cx="1041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4800" b="1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C9CF2B-3B4D-E0B7-6EE9-3D3F7481995A}"/>
              </a:ext>
            </a:extLst>
          </p:cNvPr>
          <p:cNvSpPr txBox="1"/>
          <p:nvPr/>
        </p:nvSpPr>
        <p:spPr>
          <a:xfrm>
            <a:off x="825500" y="2150809"/>
            <a:ext cx="10414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3000" b="1">
                <a:solidFill>
                  <a:srgbClr val="DDE7F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זיהוי מטרת שינוי וחוסרים פונקציונליים בקוד</a:t>
            </a:r>
            <a:endParaRPr lang="en-IL" sz="3000" b="1">
              <a:solidFill>
                <a:srgbClr val="DDE7F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A0EFD-F5E0-CAE9-AABF-A04220070C48}"/>
              </a:ext>
            </a:extLst>
          </p:cNvPr>
          <p:cNvSpPr txBox="1"/>
          <p:nvPr/>
        </p:nvSpPr>
        <p:spPr>
          <a:xfrm>
            <a:off x="9118600" y="2948220"/>
            <a:ext cx="2120900" cy="51809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32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RTL</a:t>
            </a:r>
            <a:endParaRPr lang="en-IL" sz="32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995DE1-2E72-0F2F-624A-A8D31616462A}"/>
              </a:ext>
            </a:extLst>
          </p:cNvPr>
          <p:cNvCxnSpPr/>
          <p:nvPr/>
        </p:nvCxnSpPr>
        <p:spPr>
          <a:xfrm>
            <a:off x="825500" y="3987800"/>
            <a:ext cx="10414000" cy="0"/>
          </a:xfrm>
          <a:prstGeom prst="line">
            <a:avLst/>
          </a:prstGeom>
          <a:ln w="19050">
            <a:solidFill>
              <a:srgbClr val="40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16BFA75-FEE4-BB92-8D2A-9467B21E57F6}"/>
              </a:ext>
            </a:extLst>
          </p:cNvPr>
          <p:cNvSpPr txBox="1"/>
          <p:nvPr/>
        </p:nvSpPr>
        <p:spPr>
          <a:xfrm>
            <a:off x="6858000" y="4348653"/>
            <a:ext cx="43815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FFFFFF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קורן הנס  |  נועה סבג</a:t>
            </a:r>
            <a:endParaRPr lang="en-IL" sz="2000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417C18-5E89-98A7-E00D-BB4B7863BA33}"/>
              </a:ext>
            </a:extLst>
          </p:cNvPr>
          <p:cNvSpPr txBox="1"/>
          <p:nvPr/>
        </p:nvSpPr>
        <p:spPr>
          <a:xfrm>
            <a:off x="825500" y="4384436"/>
            <a:ext cx="4445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>
                <a:solidFill>
                  <a:srgbClr val="AAC1D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Deep Learning Project</a:t>
            </a:r>
            <a:endParaRPr lang="en-IL" sz="1700">
              <a:solidFill>
                <a:srgbClr val="AAC1D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27A591-49AF-163C-8DF0-1F294DF38E4A}"/>
              </a:ext>
            </a:extLst>
          </p:cNvPr>
          <p:cNvSpPr txBox="1"/>
          <p:nvPr/>
        </p:nvSpPr>
        <p:spPr>
          <a:xfrm>
            <a:off x="825500" y="5741019"/>
            <a:ext cx="1651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15 min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3F18E8-6EDA-E966-5D15-80719B8A394E}"/>
              </a:ext>
            </a:extLst>
          </p:cNvPr>
          <p:cNvSpPr txBox="1"/>
          <p:nvPr/>
        </p:nvSpPr>
        <p:spPr>
          <a:xfrm>
            <a:off x="825500" y="6150108"/>
            <a:ext cx="33020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AAC1D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Final Presentation</a:t>
            </a:r>
            <a:endParaRPr lang="en-IL" sz="1200">
              <a:solidFill>
                <a:srgbClr val="AAC1D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4820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0AFFA4-9ED7-0064-5840-C8E0B2D1541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F5C5FA-D339-616B-0623-56A850A583A5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557E8B-1D1D-DD9D-7ECC-B4B89EE813FF}"/>
              </a:ext>
            </a:extLst>
          </p:cNvPr>
          <p:cNvSpPr txBox="1"/>
          <p:nvPr/>
        </p:nvSpPr>
        <p:spPr>
          <a:xfrm>
            <a:off x="5334000" y="4966"/>
            <a:ext cx="6223000" cy="918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הבעיה: שינוי קטן עלול להסתיר חוסר גדול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AD7BDC-31F7-E928-F9A3-1B0C61EE986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2F6750-C7DC-5903-31BC-58058A674F90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561BA61-BB7D-0241-8948-FD97B335616E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02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0C897-5EE5-0909-E878-1C1B69977FDE}"/>
              </a:ext>
            </a:extLst>
          </p:cNvPr>
          <p:cNvSpPr txBox="1"/>
          <p:nvPr/>
        </p:nvSpPr>
        <p:spPr>
          <a:xfrm>
            <a:off x="609600" y="1333500"/>
            <a:ext cx="6413500" cy="369332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A0A500-FB20-B471-39A2-DCEE4115B785}"/>
              </a:ext>
            </a:extLst>
          </p:cNvPr>
          <p:cNvSpPr txBox="1"/>
          <p:nvPr/>
        </p:nvSpPr>
        <p:spPr>
          <a:xfrm>
            <a:off x="914400" y="1676400"/>
            <a:ext cx="5778500" cy="20313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@@ always_ff @(posedge clk_i) @@
- if (!rst_ni) state_q &lt;= IDLE;
+ if (!rst_ni) state_q &lt;= IDLE;
+ else if (req_i) begin
+   state_q &lt;= BUSY;
+   valid_o &lt;= 1'b1;
+ end</a:t>
            </a:r>
            <a:endParaRPr lang="en-IL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CFE9C3-8359-D0EA-675E-B468C50845FF}"/>
              </a:ext>
            </a:extLst>
          </p:cNvPr>
          <p:cNvSpPr txBox="1"/>
          <p:nvPr/>
        </p:nvSpPr>
        <p:spPr>
          <a:xfrm>
            <a:off x="914400" y="4749800"/>
            <a:ext cx="5778500" cy="369332"/>
          </a:xfrm>
          <a:prstGeom prst="rect">
            <a:avLst/>
          </a:prstGeom>
          <a:solidFill>
            <a:srgbClr val="23364A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D8B5CF-96BB-19CF-B6CC-873EE2FA264B}"/>
              </a:ext>
            </a:extLst>
          </p:cNvPr>
          <p:cNvSpPr txBox="1"/>
          <p:nvPr/>
        </p:nvSpPr>
        <p:spPr>
          <a:xfrm>
            <a:off x="1079500" y="4869725"/>
            <a:ext cx="5461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What if the final assignment is missing?</a:t>
            </a:r>
            <a:endParaRPr lang="en-IL" sz="15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5842DD-430D-E006-550A-7CA3D0AB5B49}"/>
              </a:ext>
            </a:extLst>
          </p:cNvPr>
          <p:cNvSpPr txBox="1"/>
          <p:nvPr/>
        </p:nvSpPr>
        <p:spPr>
          <a:xfrm>
            <a:off x="7429500" y="1428110"/>
            <a:ext cx="4064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4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השינוי עדיין יכול להיות תקין תחבירית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9DC919-84A9-B759-2712-DB9BCDC4E658}"/>
              </a:ext>
            </a:extLst>
          </p:cNvPr>
          <p:cNvSpPr txBox="1"/>
          <p:nvPr/>
        </p:nvSpPr>
        <p:spPr>
          <a:xfrm>
            <a:off x="7429500" y="2141999"/>
            <a:ext cx="4064000" cy="73353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3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אבל ההתנהגות הרצויה אינה שלמה</a:t>
            </a:r>
            <a:endParaRPr lang="en-IL" sz="2300" b="1">
              <a:solidFill>
                <a:srgbClr val="DC4C64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99BB43-EE5B-46A9-8739-B0679BB8D41A}"/>
              </a:ext>
            </a:extLst>
          </p:cNvPr>
          <p:cNvCxnSpPr/>
          <p:nvPr/>
        </p:nvCxnSpPr>
        <p:spPr>
          <a:xfrm>
            <a:off x="7366000" y="3175000"/>
            <a:ext cx="41275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583C394-88D7-9DCA-6153-678BA1CBDCD5}"/>
              </a:ext>
            </a:extLst>
          </p:cNvPr>
          <p:cNvSpPr txBox="1"/>
          <p:nvPr/>
        </p:nvSpPr>
        <p:spPr>
          <a:xfrm>
            <a:off x="7429500" y="3454275"/>
            <a:ext cx="4064000" cy="9489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מפתח אנושי קורא הקשר, מבנה והבדלים בין שורות. המודל חייב לקבל את אותם רמזים.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40D188-4015-50C5-0A6B-6B4109021E54}"/>
              </a:ext>
            </a:extLst>
          </p:cNvPr>
          <p:cNvSpPr txBox="1"/>
          <p:nvPr/>
        </p:nvSpPr>
        <p:spPr>
          <a:xfrm>
            <a:off x="7429500" y="5266570"/>
            <a:ext cx="2286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Code Review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111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6C9333-B5A9-CED6-542B-9252550E921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0F0FD8-1DCD-8188-37CA-1D3A62448232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0DEAEF-CEF9-3B8C-EE9E-6F2F3AF0A624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שתי שאלות מחקר, אובייקט למידה אחד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B4372D-EED0-159E-C953-1D5978184FF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AE87622-D7F3-6A5D-590F-90CB845B4E5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B698F99-B87F-5431-E122-4DF8565BE8B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BD2ECD-023D-4D16-2E70-D2047AEB6A06}"/>
              </a:ext>
            </a:extLst>
          </p:cNvPr>
          <p:cNvSpPr txBox="1"/>
          <p:nvPr/>
        </p:nvSpPr>
        <p:spPr>
          <a:xfrm>
            <a:off x="6350000" y="1498600"/>
            <a:ext cx="51435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0B78CD-886B-A148-DCB9-81FA14F154B8}"/>
              </a:ext>
            </a:extLst>
          </p:cNvPr>
          <p:cNvSpPr txBox="1"/>
          <p:nvPr/>
        </p:nvSpPr>
        <p:spPr>
          <a:xfrm>
            <a:off x="67945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</a:t>
            </a:r>
            <a:endParaRPr lang="en-IL" sz="30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19AD4A-F9F9-4D1B-3C14-C8A671CD85A8}"/>
              </a:ext>
            </a:extLst>
          </p:cNvPr>
          <p:cNvSpPr txBox="1"/>
          <p:nvPr/>
        </p:nvSpPr>
        <p:spPr>
          <a:xfrm>
            <a:off x="67945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איזו מטרה עומדת מאחורי השינוי?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59D9E9-22C6-436C-CE6C-E3C924207C66}"/>
              </a:ext>
            </a:extLst>
          </p:cNvPr>
          <p:cNvSpPr txBox="1"/>
          <p:nvPr/>
        </p:nvSpPr>
        <p:spPr>
          <a:xfrm>
            <a:off x="67945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4 classes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17D1B0-77B0-87B0-59F1-6D36293D134B}"/>
              </a:ext>
            </a:extLst>
          </p:cNvPr>
          <p:cNvSpPr txBox="1"/>
          <p:nvPr/>
        </p:nvSpPr>
        <p:spPr>
          <a:xfrm>
            <a:off x="698500" y="1498600"/>
            <a:ext cx="51435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C15BC9-65CE-F63A-B5A9-A846B6D983D3}"/>
              </a:ext>
            </a:extLst>
          </p:cNvPr>
          <p:cNvSpPr txBox="1"/>
          <p:nvPr/>
        </p:nvSpPr>
        <p:spPr>
          <a:xfrm>
            <a:off x="1143000" y="1680909"/>
            <a:ext cx="4254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30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Completeness</a:t>
            </a:r>
            <a:endParaRPr lang="en-IL" sz="30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8E7271-8F5B-26F7-E93B-F72DB1D5B2E9}"/>
              </a:ext>
            </a:extLst>
          </p:cNvPr>
          <p:cNvSpPr txBox="1"/>
          <p:nvPr/>
        </p:nvSpPr>
        <p:spPr>
          <a:xfrm>
            <a:off x="1143000" y="2529865"/>
            <a:ext cx="42545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האם השינוי נראה שלם?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F97409-901F-91BB-FE98-614C1E883A7C}"/>
              </a:ext>
            </a:extLst>
          </p:cNvPr>
          <p:cNvSpPr txBox="1"/>
          <p:nvPr/>
        </p:nvSpPr>
        <p:spPr>
          <a:xfrm>
            <a:off x="1143000" y="3447325"/>
            <a:ext cx="2032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binary task</a:t>
            </a:r>
            <a:endParaRPr lang="en-IL" sz="15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0077DB-0A7A-CF55-7576-05C9B188A0C5}"/>
              </a:ext>
            </a:extLst>
          </p:cNvPr>
          <p:cNvCxnSpPr/>
          <p:nvPr/>
        </p:nvCxnSpPr>
        <p:spPr>
          <a:xfrm>
            <a:off x="6096000" y="1676400"/>
            <a:ext cx="0" cy="2260600"/>
          </a:xfrm>
          <a:prstGeom prst="line">
            <a:avLst/>
          </a:prstGeom>
          <a:ln w="254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A6693CB-3168-67A4-1BED-8C5CD89CC929}"/>
              </a:ext>
            </a:extLst>
          </p:cNvPr>
          <p:cNvSpPr txBox="1"/>
          <p:nvPr/>
        </p:nvSpPr>
        <p:spPr>
          <a:xfrm>
            <a:off x="9842500" y="4542670"/>
            <a:ext cx="16510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7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ההשערה</a:t>
            </a:r>
            <a:endParaRPr lang="en-IL" sz="17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BEFD52-11DC-7523-DF0E-D0AEC1C281D3}"/>
              </a:ext>
            </a:extLst>
          </p:cNvPr>
          <p:cNvSpPr txBox="1"/>
          <p:nvPr/>
        </p:nvSpPr>
        <p:spPr>
          <a:xfrm>
            <a:off x="3276600" y="4763576"/>
            <a:ext cx="8216900" cy="67197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1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ייצוג היררכי שמבחין בין שורות שנוספו, נמחקו ונשמרו ישפר את זיהוי החוסר.</a:t>
            </a:r>
            <a:endParaRPr lang="en-IL" sz="21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923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7161A4-A8EC-518B-70ED-9C66628D6CB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F6AD47-6C10-6CF8-669C-F8DEF8F9810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F39FC0-70E5-6897-7DC0-DDC245D52E3E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מהיסטוריית קוד לניסוי מבוקר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8977DC-ED9A-937F-5C86-5776566416DA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715A11-D222-0723-F614-E50BB688D1B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166563C-0351-BB4F-FABE-79CB3C67558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04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765FFA-2024-27BF-AAA5-11B6FB00FCE0}"/>
              </a:ext>
            </a:extLst>
          </p:cNvPr>
          <p:cNvSpPr txBox="1"/>
          <p:nvPr/>
        </p:nvSpPr>
        <p:spPr>
          <a:xfrm>
            <a:off x="9398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7811E7-3489-749F-204D-C2F94E3A54C4}"/>
              </a:ext>
            </a:extLst>
          </p:cNvPr>
          <p:cNvSpPr txBox="1"/>
          <p:nvPr/>
        </p:nvSpPr>
        <p:spPr>
          <a:xfrm>
            <a:off x="952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OpenTitan Git History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B40DB21-B0B4-627C-A217-A49B366F8274}"/>
              </a:ext>
            </a:extLst>
          </p:cNvPr>
          <p:cNvCxnSpPr/>
          <p:nvPr/>
        </p:nvCxnSpPr>
        <p:spPr>
          <a:xfrm flipH="1">
            <a:off x="9169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C454B3F-84A4-EFD6-A472-F0E730B04A50}"/>
              </a:ext>
            </a:extLst>
          </p:cNvPr>
          <p:cNvSpPr txBox="1"/>
          <p:nvPr/>
        </p:nvSpPr>
        <p:spPr>
          <a:xfrm>
            <a:off x="71755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020F3F-DA5C-9DA8-9B67-09ACCCA383B4}"/>
              </a:ext>
            </a:extLst>
          </p:cNvPr>
          <p:cNvSpPr txBox="1"/>
          <p:nvPr/>
        </p:nvSpPr>
        <p:spPr>
          <a:xfrm>
            <a:off x="7302500" y="2301636"/>
            <a:ext cx="1587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 Mining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B2D81A1-C3F2-E588-51C9-8F79D0BE83A8}"/>
              </a:ext>
            </a:extLst>
          </p:cNvPr>
          <p:cNvCxnSpPr/>
          <p:nvPr/>
        </p:nvCxnSpPr>
        <p:spPr>
          <a:xfrm flipH="1">
            <a:off x="6946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471343B-FB15-2E8E-64A4-BA2E821CDD1C}"/>
              </a:ext>
            </a:extLst>
          </p:cNvPr>
          <p:cNvSpPr txBox="1"/>
          <p:nvPr/>
        </p:nvSpPr>
        <p:spPr>
          <a:xfrm>
            <a:off x="4953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BD3044-0C8D-F5B4-BAD9-29964E562210}"/>
              </a:ext>
            </a:extLst>
          </p:cNvPr>
          <p:cNvSpPr txBox="1"/>
          <p:nvPr/>
        </p:nvSpPr>
        <p:spPr>
          <a:xfrm>
            <a:off x="5080000" y="2317025"/>
            <a:ext cx="15875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Weak Labels + Synthetic Holes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F34C7D0-F22C-C0BD-245B-59C366970B65}"/>
              </a:ext>
            </a:extLst>
          </p:cNvPr>
          <p:cNvCxnSpPr/>
          <p:nvPr/>
        </p:nvCxnSpPr>
        <p:spPr>
          <a:xfrm flipH="1">
            <a:off x="47244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129F527-5434-B1AC-DEC1-007145069659}"/>
              </a:ext>
            </a:extLst>
          </p:cNvPr>
          <p:cNvSpPr txBox="1"/>
          <p:nvPr/>
        </p:nvSpPr>
        <p:spPr>
          <a:xfrm>
            <a:off x="27305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3DD679-7DCF-5B0C-35CE-284D4A1C301A}"/>
              </a:ext>
            </a:extLst>
          </p:cNvPr>
          <p:cNvSpPr txBox="1"/>
          <p:nvPr/>
        </p:nvSpPr>
        <p:spPr>
          <a:xfrm>
            <a:off x="28575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Chronological Split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A4A1296-1393-286B-9498-4ED5798D32ED}"/>
              </a:ext>
            </a:extLst>
          </p:cNvPr>
          <p:cNvCxnSpPr/>
          <p:nvPr/>
        </p:nvCxnSpPr>
        <p:spPr>
          <a:xfrm flipH="1">
            <a:off x="2501900" y="2806700"/>
            <a:ext cx="1524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D02CD36-FB64-DE37-B47D-CB8F8FAB6155}"/>
              </a:ext>
            </a:extLst>
          </p:cNvPr>
          <p:cNvSpPr txBox="1"/>
          <p:nvPr/>
        </p:nvSpPr>
        <p:spPr>
          <a:xfrm>
            <a:off x="508000" y="1955800"/>
            <a:ext cx="1841500" cy="369332"/>
          </a:xfrm>
          <a:prstGeom prst="rect">
            <a:avLst/>
          </a:prstGeom>
          <a:solidFill>
            <a:srgbClr val="FFFFFF"/>
          </a:solidFill>
          <a:ln w="1524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DC60D6-E166-00D1-CC0B-73D3829BD004}"/>
              </a:ext>
            </a:extLst>
          </p:cNvPr>
          <p:cNvSpPr txBox="1"/>
          <p:nvPr/>
        </p:nvSpPr>
        <p:spPr>
          <a:xfrm>
            <a:off x="635000" y="2309331"/>
            <a:ext cx="15875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Training &amp; Evaluation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E646B2-2F27-2F45-43DB-5F3540463E1E}"/>
              </a:ext>
            </a:extLst>
          </p:cNvPr>
          <p:cNvSpPr txBox="1"/>
          <p:nvPr/>
        </p:nvSpPr>
        <p:spPr>
          <a:xfrm>
            <a:off x="9626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5,903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02D54E-1212-990A-A31B-58E43BE73F7B}"/>
              </a:ext>
            </a:extLst>
          </p:cNvPr>
          <p:cNvSpPr txBox="1"/>
          <p:nvPr/>
        </p:nvSpPr>
        <p:spPr>
          <a:xfrm>
            <a:off x="51816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2,843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ED2E980-28E8-A471-ADDE-69F40AAFE082}"/>
              </a:ext>
            </a:extLst>
          </p:cNvPr>
          <p:cNvSpPr txBox="1"/>
          <p:nvPr/>
        </p:nvSpPr>
        <p:spPr>
          <a:xfrm>
            <a:off x="2933700" y="3967281"/>
            <a:ext cx="13970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5,500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130B2B-C158-6D90-3886-D0D52A21E62A}"/>
              </a:ext>
            </a:extLst>
          </p:cNvPr>
          <p:cNvSpPr txBox="1"/>
          <p:nvPr/>
        </p:nvSpPr>
        <p:spPr>
          <a:xfrm>
            <a:off x="9423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raw candidates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6C5F690-21E6-DA84-0C62-46021DF7F895}"/>
              </a:ext>
            </a:extLst>
          </p:cNvPr>
          <p:cNvSpPr txBox="1"/>
          <p:nvPr/>
        </p:nvSpPr>
        <p:spPr>
          <a:xfrm>
            <a:off x="49784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36A37B-8F83-09C9-B3F0-D53A73B91A23}"/>
              </a:ext>
            </a:extLst>
          </p:cNvPr>
          <p:cNvSpPr txBox="1"/>
          <p:nvPr/>
        </p:nvSpPr>
        <p:spPr>
          <a:xfrm>
            <a:off x="2730500" y="4511808"/>
            <a:ext cx="18034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total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8C5F64-91DA-459E-98D3-7008446C317A}"/>
              </a:ext>
            </a:extLst>
          </p:cNvPr>
          <p:cNvSpPr txBox="1"/>
          <p:nvPr/>
        </p:nvSpPr>
        <p:spPr>
          <a:xfrm>
            <a:off x="698500" y="5181600"/>
            <a:ext cx="1079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0914500-C4D6-BB1B-4BCD-0B372D80C24D}"/>
              </a:ext>
            </a:extLst>
          </p:cNvPr>
          <p:cNvSpPr txBox="1"/>
          <p:nvPr/>
        </p:nvSpPr>
        <p:spPr>
          <a:xfrm>
            <a:off x="1054100" y="5359648"/>
            <a:ext cx="100838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היחידה נשמרת כ-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 </a:t>
            </a:r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ברמת קובץ, והזוג המקורי והסינתטי נשאר באותו </a:t>
            </a:r>
            <a:r>
              <a:rPr lang="en-US" sz="1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split.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506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166E706-D49D-1AFD-7C39-545C9FB40C7B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112F6-55B0-61C1-5775-6F7F762B8A28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379532-CB39-43BA-41B3-CF17E5A0F203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מערך הנתונים: כרונולוגי, מאוזן בזוגות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C4D5CC-572D-D6F4-562F-759336FCF21D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D51D1A-037A-22B9-8B5A-2193ABC9327D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A1E9611-695C-BD40-A668-96176AE3BBC4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05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7275D6E-DE2A-7605-18C9-F71C04312BA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71600"/>
            <a:ext cx="4953000" cy="44323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19BBFA0-A35E-D881-32C9-D96481859875}"/>
              </a:ext>
            </a:extLst>
          </p:cNvPr>
          <p:cNvSpPr txBox="1"/>
          <p:nvPr/>
        </p:nvSpPr>
        <p:spPr>
          <a:xfrm>
            <a:off x="6261100" y="1447800"/>
            <a:ext cx="52324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39AA7A-A923-4839-19D8-903D36B829A7}"/>
              </a:ext>
            </a:extLst>
          </p:cNvPr>
          <p:cNvSpPr txBox="1"/>
          <p:nvPr/>
        </p:nvSpPr>
        <p:spPr>
          <a:xfrm>
            <a:off x="11404600" y="14478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066C5D-365B-C339-19E1-B36A1C9DDA46}"/>
              </a:ext>
            </a:extLst>
          </p:cNvPr>
          <p:cNvSpPr txBox="1"/>
          <p:nvPr/>
        </p:nvSpPr>
        <p:spPr>
          <a:xfrm>
            <a:off x="6464300" y="15285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5,903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3938B3-8441-3F94-7FAE-3213627BB238}"/>
              </a:ext>
            </a:extLst>
          </p:cNvPr>
          <p:cNvSpPr txBox="1"/>
          <p:nvPr/>
        </p:nvSpPr>
        <p:spPr>
          <a:xfrm>
            <a:off x="6464300" y="21800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raw candidates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6C0C8B7-CE59-0D3C-DA61-3A7CC68E1014}"/>
              </a:ext>
            </a:extLst>
          </p:cNvPr>
          <p:cNvSpPr txBox="1"/>
          <p:nvPr/>
        </p:nvSpPr>
        <p:spPr>
          <a:xfrm>
            <a:off x="6261100" y="2705100"/>
            <a:ext cx="52324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404080-5BD8-FAF5-D2A8-80AEA168EAB3}"/>
              </a:ext>
            </a:extLst>
          </p:cNvPr>
          <p:cNvSpPr txBox="1"/>
          <p:nvPr/>
        </p:nvSpPr>
        <p:spPr>
          <a:xfrm>
            <a:off x="11404600" y="27051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D81D5B-DDF7-4C9E-F4BF-64FD29DB2500}"/>
              </a:ext>
            </a:extLst>
          </p:cNvPr>
          <p:cNvSpPr txBox="1"/>
          <p:nvPr/>
        </p:nvSpPr>
        <p:spPr>
          <a:xfrm>
            <a:off x="6464300" y="27858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2,843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E9ABE1-279B-1010-ADF7-8C8E8E1AE468}"/>
              </a:ext>
            </a:extLst>
          </p:cNvPr>
          <p:cNvSpPr txBox="1"/>
          <p:nvPr/>
        </p:nvSpPr>
        <p:spPr>
          <a:xfrm>
            <a:off x="6464300" y="34373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weak-labeled real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7E4404-93EA-94CD-8A95-4D17579129C4}"/>
              </a:ext>
            </a:extLst>
          </p:cNvPr>
          <p:cNvSpPr txBox="1"/>
          <p:nvPr/>
        </p:nvSpPr>
        <p:spPr>
          <a:xfrm>
            <a:off x="6261100" y="3962400"/>
            <a:ext cx="52324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11A433-56B8-A0F7-7ECA-BC1417655603}"/>
              </a:ext>
            </a:extLst>
          </p:cNvPr>
          <p:cNvSpPr txBox="1"/>
          <p:nvPr/>
        </p:nvSpPr>
        <p:spPr>
          <a:xfrm>
            <a:off x="11404600" y="39624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B478B3-029E-6170-6DA8-B054E4D23F57}"/>
              </a:ext>
            </a:extLst>
          </p:cNvPr>
          <p:cNvSpPr txBox="1"/>
          <p:nvPr/>
        </p:nvSpPr>
        <p:spPr>
          <a:xfrm>
            <a:off x="6464300" y="4043109"/>
            <a:ext cx="47879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5,500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D820E1-241E-F55E-E55E-654F18F725ED}"/>
              </a:ext>
            </a:extLst>
          </p:cNvPr>
          <p:cNvSpPr txBox="1"/>
          <p:nvPr/>
        </p:nvSpPr>
        <p:spPr>
          <a:xfrm>
            <a:off x="6464300" y="4694614"/>
            <a:ext cx="47879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after synthetic holes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1F19802-3636-7CF5-AE74-CAA171E7CF51}"/>
              </a:ext>
            </a:extLst>
          </p:cNvPr>
          <p:cNvSpPr txBox="1"/>
          <p:nvPr/>
        </p:nvSpPr>
        <p:spPr>
          <a:xfrm>
            <a:off x="6261100" y="5408131"/>
            <a:ext cx="52324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train 3,873    validation 830    test 797</a:t>
            </a:r>
            <a:endParaRPr lang="en-IL" sz="16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734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FFD9CA-7B0D-BD18-4B64-10046706D43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563613-2F6C-0D10-3420-10983CF5295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106C0-F43A-83E1-5233-B8F1D5E2B2A8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יצירת חוסרים סינתטיים בתוך אזור השינוי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CAA4F4-45EE-DF05-D20B-A657E71A4A7E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5C89319-FAF7-F456-A893-F3B325C44F2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8D72358-C7BB-A303-0811-30E115AB6D86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06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0E5FC-661C-2297-4B3B-C47DBC55A4F1}"/>
              </a:ext>
            </a:extLst>
          </p:cNvPr>
          <p:cNvSpPr txBox="1"/>
          <p:nvPr/>
        </p:nvSpPr>
        <p:spPr>
          <a:xfrm>
            <a:off x="6413500" y="1498600"/>
            <a:ext cx="5080000" cy="369332"/>
          </a:xfrm>
          <a:prstGeom prst="rect">
            <a:avLst/>
          </a:prstGeom>
          <a:solidFill>
            <a:srgbClr val="0B1F33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4EA4F-A0B7-58CC-B122-8BE4E4B5832F}"/>
              </a:ext>
            </a:extLst>
          </p:cNvPr>
          <p:cNvSpPr txBox="1"/>
          <p:nvPr/>
        </p:nvSpPr>
        <p:spPr>
          <a:xfrm>
            <a:off x="6794500" y="1740519"/>
            <a:ext cx="1778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COMPLETE</a:t>
            </a:r>
            <a:endParaRPr lang="en-IL" sz="1400" b="1">
              <a:solidFill>
                <a:srgbClr val="2E9D7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71BA4E-FB9B-CB5F-89A0-88F483EA1BBE}"/>
              </a:ext>
            </a:extLst>
          </p:cNvPr>
          <p:cNvSpPr txBox="1"/>
          <p:nvPr/>
        </p:nvSpPr>
        <p:spPr>
          <a:xfrm>
            <a:off x="6794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  valid_d = 1'b1;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41F2CF-DC92-CC60-95F2-2673DB50F243}"/>
              </a:ext>
            </a:extLst>
          </p:cNvPr>
          <p:cNvSpPr txBox="1"/>
          <p:nvPr/>
        </p:nvSpPr>
        <p:spPr>
          <a:xfrm>
            <a:off x="698500" y="1498600"/>
            <a:ext cx="5080000" cy="369332"/>
          </a:xfrm>
          <a:prstGeom prst="rect">
            <a:avLst/>
          </a:prstGeom>
          <a:solidFill>
            <a:srgbClr val="262F3E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91F4B1-9DC4-6408-7C4E-DFFAE286809D}"/>
              </a:ext>
            </a:extLst>
          </p:cNvPr>
          <p:cNvSpPr txBox="1"/>
          <p:nvPr/>
        </p:nvSpPr>
        <p:spPr>
          <a:xfrm>
            <a:off x="1079500" y="1740519"/>
            <a:ext cx="2667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SYNTHETIC HOLE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BEC0D1-2C70-9EF0-CC00-CE9254A5C36E}"/>
              </a:ext>
            </a:extLst>
          </p:cNvPr>
          <p:cNvSpPr txBox="1"/>
          <p:nvPr/>
        </p:nvSpPr>
        <p:spPr>
          <a:xfrm>
            <a:off x="1079500" y="2174265"/>
            <a:ext cx="4254500" cy="119519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900">
                <a:solidFill>
                  <a:srgbClr val="DDE7F3"/>
                </a:solidFill>
                <a:latin typeface="Menlo" panose="020B0609030804020204" pitchFamily="49" charset="0"/>
                <a:sym typeface="Menlo" panose="020B0609030804020204" pitchFamily="49" charset="0"/>
              </a:rPr>
              <a:t>+ if (req_i) begin
+   state_d = BUSY;
+ end</a:t>
            </a:r>
            <a:endParaRPr lang="en-IL" sz="1900">
              <a:solidFill>
                <a:srgbClr val="DDE7F3"/>
              </a:solidFill>
              <a:latin typeface="Menlo" panose="020B0609030804020204" pitchFamily="49" charset="0"/>
              <a:sym typeface="Menlo" panose="020B0609030804020204" pitchFamily="49" charset="0"/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24214AF-88AE-6987-A3FC-8B4E00A9E54E}"/>
              </a:ext>
            </a:extLst>
          </p:cNvPr>
          <p:cNvCxnSpPr/>
          <p:nvPr/>
        </p:nvCxnSpPr>
        <p:spPr>
          <a:xfrm flipH="1">
            <a:off x="6286500" y="3111500"/>
            <a:ext cx="381000" cy="0"/>
          </a:xfrm>
          <a:prstGeom prst="line">
            <a:avLst/>
          </a:prstGeom>
          <a:ln w="38100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73D94D3-F277-3430-D9E5-6233A5FE5A4D}"/>
              </a:ext>
            </a:extLst>
          </p:cNvPr>
          <p:cNvSpPr txBox="1"/>
          <p:nvPr/>
        </p:nvSpPr>
        <p:spPr>
          <a:xfrm>
            <a:off x="4279900" y="4979476"/>
            <a:ext cx="36195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drop_added_line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AE360B-379A-8450-F4EC-397A91D745AB}"/>
              </a:ext>
            </a:extLst>
          </p:cNvPr>
          <p:cNvSpPr txBox="1"/>
          <p:nvPr/>
        </p:nvSpPr>
        <p:spPr>
          <a:xfrm>
            <a:off x="4470400" y="5330815"/>
            <a:ext cx="3238500" cy="5027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1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82.2%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DB02E4-7B3D-D70E-7951-F62691A5C606}"/>
              </a:ext>
            </a:extLst>
          </p:cNvPr>
          <p:cNvSpPr txBox="1"/>
          <p:nvPr/>
        </p:nvSpPr>
        <p:spPr>
          <a:xfrm>
            <a:off x="4330700" y="6048508"/>
            <a:ext cx="35306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of test synthetic examples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6413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4768F3-69E4-9A4C-253C-5010F1AEA6B8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303207-C397-0E97-C318-31C38E69A93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647EE6-490D-9BDB-F530-1E983593D36E}"/>
              </a:ext>
            </a:extLst>
          </p:cNvPr>
          <p:cNvSpPr txBox="1"/>
          <p:nvPr/>
        </p:nvSpPr>
        <p:spPr>
          <a:xfrm>
            <a:off x="5334000" y="4966"/>
            <a:ext cx="6223000" cy="918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ארבע משפחות מודלים ברמות מורכבות שונות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BB2CC5-DFA8-9F98-DFC2-AB481A24D0A5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BB59446-022D-3B86-6EE8-D7D26ADEB3AF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B5D587-9F0F-ED75-3750-9814B8F19A5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07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25FC32-8B9D-5862-39EF-DB127B15DC33}"/>
              </a:ext>
            </a:extLst>
          </p:cNvPr>
          <p:cNvSpPr txBox="1"/>
          <p:nvPr/>
        </p:nvSpPr>
        <p:spPr>
          <a:xfrm>
            <a:off x="698500" y="1524000"/>
            <a:ext cx="2413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1F6F87-EB0C-4270-F942-0C45E3A0EC03}"/>
              </a:ext>
            </a:extLst>
          </p:cNvPr>
          <p:cNvSpPr txBox="1"/>
          <p:nvPr/>
        </p:nvSpPr>
        <p:spPr>
          <a:xfrm>
            <a:off x="927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25666-BF08-7B71-C416-178E685901C1}"/>
              </a:ext>
            </a:extLst>
          </p:cNvPr>
          <p:cNvSpPr txBox="1"/>
          <p:nvPr/>
        </p:nvSpPr>
        <p:spPr>
          <a:xfrm>
            <a:off x="927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TF-IDF + Logistic Regression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F91487-80D3-5CF9-6744-403AD08D3A98}"/>
              </a:ext>
            </a:extLst>
          </p:cNvPr>
          <p:cNvSpPr txBox="1"/>
          <p:nvPr/>
        </p:nvSpPr>
        <p:spPr>
          <a:xfrm>
            <a:off x="927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sparse lexical features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908EEE-2685-ADAA-09CA-6C57ADBD9ACB}"/>
              </a:ext>
            </a:extLst>
          </p:cNvPr>
          <p:cNvSpPr txBox="1"/>
          <p:nvPr/>
        </p:nvSpPr>
        <p:spPr>
          <a:xfrm>
            <a:off x="3492500" y="1524000"/>
            <a:ext cx="2413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5D69E3-2EEE-023E-7818-187A526F2B5E}"/>
              </a:ext>
            </a:extLst>
          </p:cNvPr>
          <p:cNvSpPr txBox="1"/>
          <p:nvPr/>
        </p:nvSpPr>
        <p:spPr>
          <a:xfrm>
            <a:off x="3721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0BCE91-5251-83A7-7209-D567BC90036B}"/>
              </a:ext>
            </a:extLst>
          </p:cNvPr>
          <p:cNvSpPr txBox="1"/>
          <p:nvPr/>
        </p:nvSpPr>
        <p:spPr>
          <a:xfrm>
            <a:off x="3721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MLP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0BFA18-2BAB-F5AA-DAF8-C09099A4AA0A}"/>
              </a:ext>
            </a:extLst>
          </p:cNvPr>
          <p:cNvSpPr txBox="1"/>
          <p:nvPr/>
        </p:nvSpPr>
        <p:spPr>
          <a:xfrm>
            <a:off x="3721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pooled token embeddings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41A3ED-344A-BE44-0B65-2B8A26319805}"/>
              </a:ext>
            </a:extLst>
          </p:cNvPr>
          <p:cNvSpPr txBox="1"/>
          <p:nvPr/>
        </p:nvSpPr>
        <p:spPr>
          <a:xfrm>
            <a:off x="6286500" y="1524000"/>
            <a:ext cx="2413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1DC9E0-89F6-3C9D-8C87-D0009F719C44}"/>
              </a:ext>
            </a:extLst>
          </p:cNvPr>
          <p:cNvSpPr txBox="1"/>
          <p:nvPr/>
        </p:nvSpPr>
        <p:spPr>
          <a:xfrm>
            <a:off x="6515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927761-D02A-F9CF-918F-E7388CF46F55}"/>
              </a:ext>
            </a:extLst>
          </p:cNvPr>
          <p:cNvSpPr txBox="1"/>
          <p:nvPr/>
        </p:nvSpPr>
        <p:spPr>
          <a:xfrm>
            <a:off x="6515100" y="2370142"/>
            <a:ext cx="19558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BiGRU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953F2-2477-6423-1D51-EFAC6C36564F}"/>
              </a:ext>
            </a:extLst>
          </p:cNvPr>
          <p:cNvSpPr txBox="1"/>
          <p:nvPr/>
        </p:nvSpPr>
        <p:spPr>
          <a:xfrm>
            <a:off x="6515100" y="3550413"/>
            <a:ext cx="19558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flat sequence encoder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61C5B7-3BFF-4283-93FF-5F2C91514840}"/>
              </a:ext>
            </a:extLst>
          </p:cNvPr>
          <p:cNvSpPr txBox="1"/>
          <p:nvPr/>
        </p:nvSpPr>
        <p:spPr>
          <a:xfrm>
            <a:off x="9080500" y="1524000"/>
            <a:ext cx="241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FE5E83-BA19-1B49-B79B-2C1F65552106}"/>
              </a:ext>
            </a:extLst>
          </p:cNvPr>
          <p:cNvSpPr txBox="1"/>
          <p:nvPr/>
        </p:nvSpPr>
        <p:spPr>
          <a:xfrm>
            <a:off x="9309100" y="1719381"/>
            <a:ext cx="482600" cy="4103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25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FF0B8C-1267-4B12-A39D-1503E8B9A57F}"/>
              </a:ext>
            </a:extLst>
          </p:cNvPr>
          <p:cNvSpPr txBox="1"/>
          <p:nvPr/>
        </p:nvSpPr>
        <p:spPr>
          <a:xfrm>
            <a:off x="9309100" y="2370142"/>
            <a:ext cx="19558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Hierarchical Transformer</a:t>
            </a:r>
            <a:endParaRPr lang="en-IL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DA8010-BEFC-07CD-0552-C5DB2129DDF2}"/>
              </a:ext>
            </a:extLst>
          </p:cNvPr>
          <p:cNvSpPr txBox="1"/>
          <p:nvPr/>
        </p:nvSpPr>
        <p:spPr>
          <a:xfrm>
            <a:off x="9309100" y="3450386"/>
            <a:ext cx="19558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line encoder + diff structure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86DE91-0A1C-A278-0435-A1B4CBCE3686}"/>
              </a:ext>
            </a:extLst>
          </p:cNvPr>
          <p:cNvSpPr txBox="1"/>
          <p:nvPr/>
        </p:nvSpPr>
        <p:spPr>
          <a:xfrm>
            <a:off x="698500" y="4927600"/>
            <a:ext cx="10795000" cy="3693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6E9FCB-E86B-894C-3F6D-B6423785A88E}"/>
              </a:ext>
            </a:extLst>
          </p:cNvPr>
          <p:cNvSpPr txBox="1"/>
          <p:nvPr/>
        </p:nvSpPr>
        <p:spPr>
          <a:xfrm>
            <a:off x="990600" y="5138742"/>
            <a:ext cx="2286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Multi-task head</a:t>
            </a:r>
            <a:endParaRPr lang="en-IL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10266C-A07C-0E2B-97F6-D3852500B121}"/>
              </a:ext>
            </a:extLst>
          </p:cNvPr>
          <p:cNvSpPr txBox="1"/>
          <p:nvPr/>
        </p:nvSpPr>
        <p:spPr>
          <a:xfrm>
            <a:off x="3556000" y="5105648"/>
            <a:ext cx="7556500" cy="31803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1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אותו ייצוג משמש לשתי משימות, עם פלט נפרד לכל משימה.</a:t>
            </a:r>
            <a:endParaRPr lang="en-IL" sz="1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664AB7-18D0-8C05-1713-8940BBB9704F}"/>
              </a:ext>
            </a:extLst>
          </p:cNvPr>
          <p:cNvSpPr txBox="1"/>
          <p:nvPr/>
        </p:nvSpPr>
        <p:spPr>
          <a:xfrm>
            <a:off x="990600" y="5647114"/>
            <a:ext cx="30480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    Completeness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4269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96E790-67E1-580D-C282-00416B1ED23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4C8EA-BD2B-6F90-CFAA-62EE88EDD94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67CCEF-B5D1-48D8-E1BF-56AEBE660BEB}"/>
              </a:ext>
            </a:extLst>
          </p:cNvPr>
          <p:cNvSpPr txBox="1"/>
          <p:nvPr/>
        </p:nvSpPr>
        <p:spPr>
          <a:xfrm>
            <a:off x="5334000" y="4966"/>
            <a:ext cx="6223000" cy="918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הארכיטקטורה ההיררכית שומרת את מבנה ה-</a:t>
            </a:r>
            <a:r>
              <a:rPr lang="en-US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908C69-9077-AABA-A481-A919CA58FBE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7AD80B-CC3C-CCAF-5A28-D22B434FDA1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BFB6782-D370-6F1E-214C-274C58A6659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08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F937C2-43DD-97D1-66FB-BF5FA58FF6A6}"/>
              </a:ext>
            </a:extLst>
          </p:cNvPr>
          <p:cNvSpPr txBox="1"/>
          <p:nvPr/>
        </p:nvSpPr>
        <p:spPr>
          <a:xfrm>
            <a:off x="698500" y="1955800"/>
            <a:ext cx="190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76FEAC-9895-7C9A-072E-B0F1A0A8C125}"/>
              </a:ext>
            </a:extLst>
          </p:cNvPr>
          <p:cNvSpPr txBox="1"/>
          <p:nvPr/>
        </p:nvSpPr>
        <p:spPr>
          <a:xfrm>
            <a:off x="850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Typed Diff Lines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1182F4E-389D-8257-ABE4-DF778A2350AD}"/>
              </a:ext>
            </a:extLst>
          </p:cNvPr>
          <p:cNvCxnSpPr/>
          <p:nvPr/>
        </p:nvCxnSpPr>
        <p:spPr>
          <a:xfrm>
            <a:off x="2641600" y="2794000"/>
            <a:ext cx="1651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F0EC55A-394E-B4D7-F05C-2F7739EA3258}"/>
              </a:ext>
            </a:extLst>
          </p:cNvPr>
          <p:cNvSpPr txBox="1"/>
          <p:nvPr/>
        </p:nvSpPr>
        <p:spPr>
          <a:xfrm>
            <a:off x="2857500" y="1955800"/>
            <a:ext cx="1905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A9DD77-CE18-7787-D6DC-F206EEF4CEE2}"/>
              </a:ext>
            </a:extLst>
          </p:cNvPr>
          <p:cNvSpPr txBox="1"/>
          <p:nvPr/>
        </p:nvSpPr>
        <p:spPr>
          <a:xfrm>
            <a:off x="3009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Token Embedding + BiGRU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640566-CB49-2E7E-5D04-79BA73BA01E3}"/>
              </a:ext>
            </a:extLst>
          </p:cNvPr>
          <p:cNvCxnSpPr/>
          <p:nvPr/>
        </p:nvCxnSpPr>
        <p:spPr>
          <a:xfrm>
            <a:off x="4800600" y="2794000"/>
            <a:ext cx="1651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80DF627-DF5D-6980-FDF1-32430B5E4463}"/>
              </a:ext>
            </a:extLst>
          </p:cNvPr>
          <p:cNvSpPr txBox="1"/>
          <p:nvPr/>
        </p:nvSpPr>
        <p:spPr>
          <a:xfrm>
            <a:off x="5016500" y="1955800"/>
            <a:ext cx="1905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FC0FE0-CBE8-3473-0437-C32591FB495F}"/>
              </a:ext>
            </a:extLst>
          </p:cNvPr>
          <p:cNvSpPr txBox="1"/>
          <p:nvPr/>
        </p:nvSpPr>
        <p:spPr>
          <a:xfrm>
            <a:off x="5168900" y="2304325"/>
            <a:ext cx="1600200" cy="81047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Line Representation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31F4C33-800D-FCAE-4237-C91347F33FD0}"/>
              </a:ext>
            </a:extLst>
          </p:cNvPr>
          <p:cNvCxnSpPr/>
          <p:nvPr/>
        </p:nvCxnSpPr>
        <p:spPr>
          <a:xfrm>
            <a:off x="6959600" y="2794000"/>
            <a:ext cx="1651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FA913FF-6869-2A24-39EE-00894D776DB8}"/>
              </a:ext>
            </a:extLst>
          </p:cNvPr>
          <p:cNvSpPr txBox="1"/>
          <p:nvPr/>
        </p:nvSpPr>
        <p:spPr>
          <a:xfrm>
            <a:off x="7175500" y="1955800"/>
            <a:ext cx="190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987503-9EF5-476B-8911-235D5CA35307}"/>
              </a:ext>
            </a:extLst>
          </p:cNvPr>
          <p:cNvSpPr txBox="1"/>
          <p:nvPr/>
        </p:nvSpPr>
        <p:spPr>
          <a:xfrm>
            <a:off x="7327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Transformer Encoder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4B92F2B-1490-B1B3-1E6D-3B40BA37C63D}"/>
              </a:ext>
            </a:extLst>
          </p:cNvPr>
          <p:cNvCxnSpPr/>
          <p:nvPr/>
        </p:nvCxnSpPr>
        <p:spPr>
          <a:xfrm>
            <a:off x="9118600" y="2794000"/>
            <a:ext cx="165100" cy="0"/>
          </a:xfrm>
          <a:prstGeom prst="line">
            <a:avLst/>
          </a:prstGeom>
          <a:ln w="3175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2A886F8-E1D8-23E0-7A90-F84740604BF7}"/>
              </a:ext>
            </a:extLst>
          </p:cNvPr>
          <p:cNvSpPr txBox="1"/>
          <p:nvPr/>
        </p:nvSpPr>
        <p:spPr>
          <a:xfrm>
            <a:off x="9334500" y="1955800"/>
            <a:ext cx="1905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53F98F-6BC9-4AF4-A057-AFE22BD532C0}"/>
              </a:ext>
            </a:extLst>
          </p:cNvPr>
          <p:cNvSpPr txBox="1"/>
          <p:nvPr/>
        </p:nvSpPr>
        <p:spPr>
          <a:xfrm>
            <a:off x="9486900" y="2296631"/>
            <a:ext cx="1600200" cy="54886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 Head
Hole Head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06897F3-DBE9-A66D-6A5D-730C460C1349}"/>
              </a:ext>
            </a:extLst>
          </p:cNvPr>
          <p:cNvSpPr txBox="1"/>
          <p:nvPr/>
        </p:nvSpPr>
        <p:spPr>
          <a:xfrm>
            <a:off x="774700" y="3996486"/>
            <a:ext cx="1752600" cy="4257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3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ADD   DEL   CONTEXT</a:t>
            </a:r>
            <a:endParaRPr lang="en-IL" sz="13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FB97B38-CFB2-EF43-206A-77A21E71056A}"/>
              </a:ext>
            </a:extLst>
          </p:cNvPr>
          <p:cNvSpPr txBox="1"/>
          <p:nvPr/>
        </p:nvSpPr>
        <p:spPr>
          <a:xfrm>
            <a:off x="698500" y="4673600"/>
            <a:ext cx="10795000" cy="3693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11C2955-BA7E-4F58-0671-9026687A980E}"/>
              </a:ext>
            </a:extLst>
          </p:cNvPr>
          <p:cNvSpPr txBox="1"/>
          <p:nvPr/>
        </p:nvSpPr>
        <p:spPr>
          <a:xfrm>
            <a:off x="990600" y="4922326"/>
            <a:ext cx="2794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line-type embedding</a:t>
            </a:r>
            <a:endParaRPr lang="en-IL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ABAA5A-A640-5C7C-68FA-E061CC1D06E8}"/>
              </a:ext>
            </a:extLst>
          </p:cNvPr>
          <p:cNvSpPr txBox="1"/>
          <p:nvPr/>
        </p:nvSpPr>
        <p:spPr>
          <a:xfrm>
            <a:off x="4000500" y="4856653"/>
            <a:ext cx="7112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מוסיף למודל מידע מפורש על תפקיד כל שורה בתוך השינוי.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74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2F3B38-8335-914D-FB76-283A1F7537D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E9765A-8244-3639-D8ED-ABCC238838DC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D5E396-8B59-8EB1-0EFA-0778EA63B2DE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ב-</a:t>
            </a:r>
            <a:r>
              <a:rPr lang="en-US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 </a:t>
            </a:r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המודל הפשוט היה החזק ביותר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9C766E-F82E-1602-E52C-1154358DF52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2F7C01-9AD4-BBF7-C9D5-81AE4E9AED46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8033AF6-592B-8DCA-4855-3F8A39CE19B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09 / 14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DE0CF4-EF29-8144-4F25-8EE0338E31F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25600"/>
            <a:ext cx="7239000" cy="42418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BF540A-911F-A820-04E3-C0BB67E4573D}"/>
              </a:ext>
            </a:extLst>
          </p:cNvPr>
          <p:cNvSpPr txBox="1"/>
          <p:nvPr/>
        </p:nvSpPr>
        <p:spPr>
          <a:xfrm>
            <a:off x="8343900" y="1739900"/>
            <a:ext cx="31496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3D79F6-ECCD-4530-63AB-55BF8707B74F}"/>
              </a:ext>
            </a:extLst>
          </p:cNvPr>
          <p:cNvSpPr txBox="1"/>
          <p:nvPr/>
        </p:nvSpPr>
        <p:spPr>
          <a:xfrm>
            <a:off x="11404600" y="17399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2428CE-755F-F667-36DB-34C275339134}"/>
              </a:ext>
            </a:extLst>
          </p:cNvPr>
          <p:cNvSpPr txBox="1"/>
          <p:nvPr/>
        </p:nvSpPr>
        <p:spPr>
          <a:xfrm>
            <a:off x="8547100" y="1820609"/>
            <a:ext cx="27051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0.4197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2FC1F7-5C61-A4DC-9049-2DBCCC52EB49}"/>
              </a:ext>
            </a:extLst>
          </p:cNvPr>
          <p:cNvSpPr txBox="1"/>
          <p:nvPr/>
        </p:nvSpPr>
        <p:spPr>
          <a:xfrm>
            <a:off x="8547100" y="2472114"/>
            <a:ext cx="27051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test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113D61-A91B-9CCF-4D22-000DA303F003}"/>
              </a:ext>
            </a:extLst>
          </p:cNvPr>
          <p:cNvSpPr txBox="1"/>
          <p:nvPr/>
        </p:nvSpPr>
        <p:spPr>
          <a:xfrm>
            <a:off x="8623300" y="2933576"/>
            <a:ext cx="2590800" cy="3949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24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TF-IDF</a:t>
            </a:r>
            <a:endParaRPr lang="en-IL" sz="24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D9D72F-D26D-8689-4F80-E78104E8EB1A}"/>
              </a:ext>
            </a:extLst>
          </p:cNvPr>
          <p:cNvSpPr txBox="1"/>
          <p:nvPr/>
        </p:nvSpPr>
        <p:spPr>
          <a:xfrm>
            <a:off x="8343900" y="3634765"/>
            <a:ext cx="31496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האות הלקסיקלי הספיק כדי לעקוף את המודלים העמוקים.</a:t>
            </a:r>
            <a:endParaRPr lang="en-IL" sz="20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82293A-55FF-21ED-DCCC-24403C9DBD36}"/>
              </a:ext>
            </a:extLst>
          </p:cNvPr>
          <p:cNvSpPr txBox="1"/>
          <p:nvPr/>
        </p:nvSpPr>
        <p:spPr>
          <a:xfrm>
            <a:off x="8343900" y="5270500"/>
            <a:ext cx="31496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868902B-4EFB-67B5-DCF4-891A0BAAC0DE}"/>
              </a:ext>
            </a:extLst>
          </p:cNvPr>
          <p:cNvSpPr txBox="1"/>
          <p:nvPr/>
        </p:nvSpPr>
        <p:spPr>
          <a:xfrm>
            <a:off x="8559800" y="5461619"/>
            <a:ext cx="27305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refactor_cleanup</a:t>
            </a:r>
            <a:endParaRPr lang="en-IL" sz="14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970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91C3CC-F2D5-3D18-9C92-B447BC09D361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ABEC4-6B22-C219-B71F-76AEC180CBAA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390EF1-6C70-57FA-7C81-9EBF7D4C0A0E}"/>
              </a:ext>
            </a:extLst>
          </p:cNvPr>
          <p:cNvSpPr txBox="1"/>
          <p:nvPr/>
        </p:nvSpPr>
        <p:spPr>
          <a:xfrm>
            <a:off x="5334000" y="4966"/>
            <a:ext cx="6223000" cy="91820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en-US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Control experiment </a:t>
            </a:r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חושף דליפה מהותית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11EE3B-9A79-41E8-9B37-1C525994F22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58B124-A6C4-DF16-7F42-09226E3F681F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0AB791F-E2EA-5FC5-7EAE-4A622B343E1F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10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8B5AAA-B797-D693-A15B-389E0FF0868C}"/>
              </a:ext>
            </a:extLst>
          </p:cNvPr>
          <p:cNvSpPr txBox="1"/>
          <p:nvPr/>
        </p:nvSpPr>
        <p:spPr>
          <a:xfrm>
            <a:off x="889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0C5861-F258-2019-8EE3-CE7414E8A217}"/>
              </a:ext>
            </a:extLst>
          </p:cNvPr>
          <p:cNvSpPr txBox="1"/>
          <p:nvPr/>
        </p:nvSpPr>
        <p:spPr>
          <a:xfrm>
            <a:off x="1117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commit message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598D4FF-99C7-5591-77F6-52E1C490C088}"/>
              </a:ext>
            </a:extLst>
          </p:cNvPr>
          <p:cNvCxnSpPr/>
          <p:nvPr/>
        </p:nvCxnSpPr>
        <p:spPr>
          <a:xfrm>
            <a:off x="3873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22C31AD-766E-4749-C6E6-2389B54F9DA0}"/>
              </a:ext>
            </a:extLst>
          </p:cNvPr>
          <p:cNvSpPr txBox="1"/>
          <p:nvPr/>
        </p:nvSpPr>
        <p:spPr>
          <a:xfrm>
            <a:off x="4318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E70E0-56FF-B7A3-CC3B-78ED6E2E74B5}"/>
              </a:ext>
            </a:extLst>
          </p:cNvPr>
          <p:cNvSpPr txBox="1"/>
          <p:nvPr/>
        </p:nvSpPr>
        <p:spPr>
          <a:xfrm>
            <a:off x="4546600" y="2316653"/>
            <a:ext cx="24638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weak label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6C1BFC4-09B6-A3F2-8D35-6BC9261BCB14}"/>
              </a:ext>
            </a:extLst>
          </p:cNvPr>
          <p:cNvCxnSpPr/>
          <p:nvPr/>
        </p:nvCxnSpPr>
        <p:spPr>
          <a:xfrm>
            <a:off x="7302500" y="2565400"/>
            <a:ext cx="317500" cy="0"/>
          </a:xfrm>
          <a:prstGeom prst="line">
            <a:avLst/>
          </a:prstGeom>
          <a:ln w="38100">
            <a:solidFill>
              <a:srgbClr val="DC4C6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8C0AB89-118C-4DBA-BD4C-BC745147A9F9}"/>
              </a:ext>
            </a:extLst>
          </p:cNvPr>
          <p:cNvSpPr txBox="1"/>
          <p:nvPr/>
        </p:nvSpPr>
        <p:spPr>
          <a:xfrm>
            <a:off x="7747000" y="1968500"/>
            <a:ext cx="2921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5B1C36-204C-90EE-FE16-BF59AFBC07F0}"/>
              </a:ext>
            </a:extLst>
          </p:cNvPr>
          <p:cNvSpPr txBox="1"/>
          <p:nvPr/>
        </p:nvSpPr>
        <p:spPr>
          <a:xfrm>
            <a:off x="7975600" y="2162765"/>
            <a:ext cx="2463800" cy="641201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20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message-only model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3EF542-E222-7BA8-4F07-D8F1913AE9C9}"/>
              </a:ext>
            </a:extLst>
          </p:cNvPr>
          <p:cNvSpPr txBox="1"/>
          <p:nvPr/>
        </p:nvSpPr>
        <p:spPr>
          <a:xfrm>
            <a:off x="4279900" y="3485510"/>
            <a:ext cx="3683000" cy="76431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48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0.9855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2B59A9-2EF5-612C-1D47-0699668BF46F}"/>
              </a:ext>
            </a:extLst>
          </p:cNvPr>
          <p:cNvSpPr txBox="1"/>
          <p:nvPr/>
        </p:nvSpPr>
        <p:spPr>
          <a:xfrm>
            <a:off x="5054600" y="4587636"/>
            <a:ext cx="21336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700" b="1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Macro-F1</a:t>
            </a:r>
            <a:endParaRPr lang="en-IL" sz="1700" b="1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63A3FD-B3FF-4AAB-E39E-2D7C4AEEAF5A}"/>
              </a:ext>
            </a:extLst>
          </p:cNvPr>
          <p:cNvSpPr txBox="1"/>
          <p:nvPr/>
        </p:nvSpPr>
        <p:spPr>
          <a:xfrm>
            <a:off x="889000" y="5295900"/>
            <a:ext cx="9779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A7F20E-4179-7872-9740-B2DE4E771A0A}"/>
              </a:ext>
            </a:extLst>
          </p:cNvPr>
          <p:cNvSpPr txBox="1"/>
          <p:nvPr/>
        </p:nvSpPr>
        <p:spPr>
          <a:xfrm>
            <a:off x="1206500" y="5440853"/>
            <a:ext cx="9144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0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המדד כמעט משחזר את מנגנון התיוג, ולכן אינו הוכחה להבנת קוד טהורה.</a:t>
            </a:r>
            <a:endParaRPr lang="en-IL" sz="20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481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F2FEEA-67C5-5C29-125A-EB685D3FE72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D109D-432C-4B25-92D8-267BCC81CFAE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7448C-5117-0EFD-1F7A-596A5302BA4A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ב-</a:t>
            </a:r>
            <a:r>
              <a:rPr lang="en-US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Completeness </a:t>
            </a:r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המבנה ההיררכי ניצח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5A83EA-3987-6BBD-3001-D9EFB529268F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5890E61-4758-0233-C949-04F5F2D129C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06DD1B3-76A7-D037-E758-13E0BE50020D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11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A36FB1-18AB-8AA1-BA5A-FD3271BAB130}"/>
              </a:ext>
            </a:extLst>
          </p:cNvPr>
          <p:cNvSpPr txBox="1"/>
          <p:nvPr/>
        </p:nvSpPr>
        <p:spPr>
          <a:xfrm>
            <a:off x="698500" y="1320800"/>
            <a:ext cx="3302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F367D4-55D9-FE65-5091-7E2AB9B2EF65}"/>
              </a:ext>
            </a:extLst>
          </p:cNvPr>
          <p:cNvSpPr txBox="1"/>
          <p:nvPr/>
        </p:nvSpPr>
        <p:spPr>
          <a:xfrm>
            <a:off x="3911600" y="13208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7B20DA-B3F9-FAF0-3E60-07AAC63A3FF2}"/>
              </a:ext>
            </a:extLst>
          </p:cNvPr>
          <p:cNvSpPr txBox="1"/>
          <p:nvPr/>
        </p:nvSpPr>
        <p:spPr>
          <a:xfrm>
            <a:off x="901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0.6029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2081D1-983F-FBD5-BBBF-79B978E329C0}"/>
              </a:ext>
            </a:extLst>
          </p:cNvPr>
          <p:cNvSpPr txBox="1"/>
          <p:nvPr/>
        </p:nvSpPr>
        <p:spPr>
          <a:xfrm>
            <a:off x="901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B8005-DCB4-6E22-3912-7A0C9D6C7A03}"/>
              </a:ext>
            </a:extLst>
          </p:cNvPr>
          <p:cNvSpPr txBox="1"/>
          <p:nvPr/>
        </p:nvSpPr>
        <p:spPr>
          <a:xfrm>
            <a:off x="4445000" y="1320800"/>
            <a:ext cx="3302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8F2B57-DD83-32DC-8481-58E095233742}"/>
              </a:ext>
            </a:extLst>
          </p:cNvPr>
          <p:cNvSpPr txBox="1"/>
          <p:nvPr/>
        </p:nvSpPr>
        <p:spPr>
          <a:xfrm>
            <a:off x="7658100" y="13208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E146F0-E3ED-C824-E60C-D3564F026000}"/>
              </a:ext>
            </a:extLst>
          </p:cNvPr>
          <p:cNvSpPr txBox="1"/>
          <p:nvPr/>
        </p:nvSpPr>
        <p:spPr>
          <a:xfrm>
            <a:off x="46482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0.7352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AE73A4-38B4-21E0-AD77-53FF907C3231}"/>
              </a:ext>
            </a:extLst>
          </p:cNvPr>
          <p:cNvSpPr txBox="1"/>
          <p:nvPr/>
        </p:nvSpPr>
        <p:spPr>
          <a:xfrm>
            <a:off x="46482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E8F2D4-B1A8-8E9A-0800-F9A17088F7C4}"/>
              </a:ext>
            </a:extLst>
          </p:cNvPr>
          <p:cNvSpPr txBox="1"/>
          <p:nvPr/>
        </p:nvSpPr>
        <p:spPr>
          <a:xfrm>
            <a:off x="8191500" y="1320800"/>
            <a:ext cx="3302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BB45B9-684C-EF62-EC1E-BB8BFB2080EA}"/>
              </a:ext>
            </a:extLst>
          </p:cNvPr>
          <p:cNvSpPr txBox="1"/>
          <p:nvPr/>
        </p:nvSpPr>
        <p:spPr>
          <a:xfrm>
            <a:off x="11404600" y="13208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C7F5F04-F291-F773-D4D7-0A06B03DDC8E}"/>
              </a:ext>
            </a:extLst>
          </p:cNvPr>
          <p:cNvSpPr txBox="1"/>
          <p:nvPr/>
        </p:nvSpPr>
        <p:spPr>
          <a:xfrm>
            <a:off x="8394700" y="1401509"/>
            <a:ext cx="2857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172 → 81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042DE6-F3BE-AB9C-E98D-FD2B851184CF}"/>
              </a:ext>
            </a:extLst>
          </p:cNvPr>
          <p:cNvSpPr txBox="1"/>
          <p:nvPr/>
        </p:nvSpPr>
        <p:spPr>
          <a:xfrm>
            <a:off x="8394700" y="2053014"/>
            <a:ext cx="2857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false positives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AC73B69-6748-EAED-A8AF-51872E09A4A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93800" y="2717800"/>
            <a:ext cx="9804400" cy="367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392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D6BDB95-C523-5286-9B08-47DC1FAFD02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EA954F-C721-0D3F-20B9-7D118EB9E620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2A5DD8-2C6F-9751-8629-026B321542B9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en-US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Ablation: line-type </a:t>
            </a:r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הוא רכיב מהותי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C26CF3-271D-4AF3-B3E3-1CF8280C7D97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D6BEBA-7D0C-E26C-65D0-2FA8222999F2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E7A6336-5ECB-3484-2A45-DFBC7117D76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12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3FF272-AB28-048F-28C4-7B69115DFD71}"/>
              </a:ext>
            </a:extLst>
          </p:cNvPr>
          <p:cNvSpPr txBox="1"/>
          <p:nvPr/>
        </p:nvSpPr>
        <p:spPr>
          <a:xfrm>
            <a:off x="1778000" y="1308100"/>
            <a:ext cx="368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ED7F38-01A1-D266-F07D-65987116ACED}"/>
              </a:ext>
            </a:extLst>
          </p:cNvPr>
          <p:cNvSpPr txBox="1"/>
          <p:nvPr/>
        </p:nvSpPr>
        <p:spPr>
          <a:xfrm>
            <a:off x="5372100" y="1308100"/>
            <a:ext cx="889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87F4DB-1F5E-AC37-C8AB-4EA14DA65C9B}"/>
              </a:ext>
            </a:extLst>
          </p:cNvPr>
          <p:cNvSpPr txBox="1"/>
          <p:nvPr/>
        </p:nvSpPr>
        <p:spPr>
          <a:xfrm>
            <a:off x="1981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−0.1305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C3D716-BDB3-7C93-325E-ADF5AAD5E666}"/>
              </a:ext>
            </a:extLst>
          </p:cNvPr>
          <p:cNvSpPr txBox="1"/>
          <p:nvPr/>
        </p:nvSpPr>
        <p:spPr>
          <a:xfrm>
            <a:off x="1981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A8CE99-5B11-13F0-E416-4C82178402DE}"/>
              </a:ext>
            </a:extLst>
          </p:cNvPr>
          <p:cNvSpPr txBox="1"/>
          <p:nvPr/>
        </p:nvSpPr>
        <p:spPr>
          <a:xfrm>
            <a:off x="6731000" y="1308100"/>
            <a:ext cx="36830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5A0D11-EE86-7704-CD4D-A7430138BDBF}"/>
              </a:ext>
            </a:extLst>
          </p:cNvPr>
          <p:cNvSpPr txBox="1"/>
          <p:nvPr/>
        </p:nvSpPr>
        <p:spPr>
          <a:xfrm>
            <a:off x="10325100" y="1308100"/>
            <a:ext cx="889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5F4E3D-B43B-5617-4F7F-4E29806829FB}"/>
              </a:ext>
            </a:extLst>
          </p:cNvPr>
          <p:cNvSpPr txBox="1"/>
          <p:nvPr/>
        </p:nvSpPr>
        <p:spPr>
          <a:xfrm>
            <a:off x="6934200" y="1388809"/>
            <a:ext cx="3238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−0.1058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18B0040-1738-5BF0-1BAD-A0A0F70A138A}"/>
              </a:ext>
            </a:extLst>
          </p:cNvPr>
          <p:cNvSpPr txBox="1"/>
          <p:nvPr/>
        </p:nvSpPr>
        <p:spPr>
          <a:xfrm>
            <a:off x="6934200" y="2040314"/>
            <a:ext cx="3238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l-GR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Δ </a:t>
            </a:r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7775F2-C513-3D74-2B7F-BF2BB48BD64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" y="2603500"/>
            <a:ext cx="109474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8842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B00CF1-0283-F682-C6DA-E0392BD01D52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60D4A-9698-2BBC-AB14-768A4E3B9EF3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99714-D6BD-5984-2E33-7551A58B5965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מה המודל עדיין לא הוכיח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A9B76C-2E17-92F6-84C5-87F83B813E18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C749D0-D3BC-0FBA-30F2-7EFF84505358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4E67899-96B5-157E-91A2-D9EDF701FB49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13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06431C-546E-A9E9-CB83-E4C7D7AA5A2B}"/>
              </a:ext>
            </a:extLst>
          </p:cNvPr>
          <p:cNvSpPr txBox="1"/>
          <p:nvPr/>
        </p:nvSpPr>
        <p:spPr>
          <a:xfrm>
            <a:off x="698500" y="1204888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44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82.2%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073973-A2E2-7BBD-65BC-049CCCE35CE8}"/>
              </a:ext>
            </a:extLst>
          </p:cNvPr>
          <p:cNvSpPr txBox="1"/>
          <p:nvPr/>
        </p:nvSpPr>
        <p:spPr>
          <a:xfrm>
            <a:off x="698500" y="2288936"/>
            <a:ext cx="3111500" cy="287258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7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drop_added_line</a:t>
            </a:r>
            <a:endParaRPr lang="en-IL" sz="17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99EA7E-A84D-1B86-B466-08D4A6F4DEB3}"/>
              </a:ext>
            </a:extLst>
          </p:cNvPr>
          <p:cNvSpPr txBox="1"/>
          <p:nvPr/>
        </p:nvSpPr>
        <p:spPr>
          <a:xfrm>
            <a:off x="698500" y="2806700"/>
            <a:ext cx="3111500" cy="369332"/>
          </a:xfrm>
          <a:prstGeom prst="rect">
            <a:avLst/>
          </a:prstGeom>
          <a:solidFill>
            <a:srgbClr val="FDEBEF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DB64DE-F333-BF51-21AC-5F15863BD3BF}"/>
              </a:ext>
            </a:extLst>
          </p:cNvPr>
          <p:cNvSpPr txBox="1"/>
          <p:nvPr/>
        </p:nvSpPr>
        <p:spPr>
          <a:xfrm>
            <a:off x="698500" y="2806700"/>
            <a:ext cx="2552700" cy="369332"/>
          </a:xfrm>
          <a:prstGeom prst="rect">
            <a:avLst/>
          </a:prstGeom>
          <a:solidFill>
            <a:srgbClr val="DC4C64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189D65-BD97-5D7B-0EB2-7DC3393F8A4B}"/>
              </a:ext>
            </a:extLst>
          </p:cNvPr>
          <p:cNvSpPr txBox="1"/>
          <p:nvPr/>
        </p:nvSpPr>
        <p:spPr>
          <a:xfrm>
            <a:off x="698500" y="3292608"/>
            <a:ext cx="3111500" cy="21031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2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mutation distribution</a:t>
            </a:r>
            <a:endParaRPr lang="en-IL" sz="12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DCA3A8-36B7-DD6F-9DFF-EFB881F772C5}"/>
              </a:ext>
            </a:extLst>
          </p:cNvPr>
          <p:cNvSpPr txBox="1"/>
          <p:nvPr/>
        </p:nvSpPr>
        <p:spPr>
          <a:xfrm>
            <a:off x="4381500" y="1346200"/>
            <a:ext cx="7112000" cy="3693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F795D2-5CBE-B1F7-378C-66FA90B4ABB6}"/>
              </a:ext>
            </a:extLst>
          </p:cNvPr>
          <p:cNvSpPr txBox="1"/>
          <p:nvPr/>
        </p:nvSpPr>
        <p:spPr>
          <a:xfrm>
            <a:off x="4699000" y="1547331"/>
            <a:ext cx="2730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Synthetic Coverage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84DCA7-15E8-389B-B56F-6D20B1F9E744}"/>
              </a:ext>
            </a:extLst>
          </p:cNvPr>
          <p:cNvSpPr txBox="1"/>
          <p:nvPr/>
        </p:nvSpPr>
        <p:spPr>
          <a:xfrm>
            <a:off x="7620000" y="1519242"/>
            <a:ext cx="35306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רוב הדוגמאות נוצרו מהסרת שורה שנוספה.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900986-1267-10AF-2D59-631037E87111}"/>
              </a:ext>
            </a:extLst>
          </p:cNvPr>
          <p:cNvSpPr txBox="1"/>
          <p:nvPr/>
        </p:nvSpPr>
        <p:spPr>
          <a:xfrm>
            <a:off x="4381500" y="2921000"/>
            <a:ext cx="7112000" cy="3693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D973B8-2D7E-3834-9634-C090C677377D}"/>
              </a:ext>
            </a:extLst>
          </p:cNvPr>
          <p:cNvSpPr txBox="1"/>
          <p:nvPr/>
        </p:nvSpPr>
        <p:spPr>
          <a:xfrm>
            <a:off x="4699000" y="3122131"/>
            <a:ext cx="2730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Rare Mutations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AE2D9FD-E326-2D64-BC08-4171CEDBB649}"/>
              </a:ext>
            </a:extLst>
          </p:cNvPr>
          <p:cNvSpPr txBox="1"/>
          <p:nvPr/>
        </p:nvSpPr>
        <p:spPr>
          <a:xfrm>
            <a:off x="7620000" y="3094042"/>
            <a:ext cx="35306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יש מעט דוגמאות לשינויים סמנטיים עדינים.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FAE977-ED58-D73E-EFB5-41CC02EEAF47}"/>
              </a:ext>
            </a:extLst>
          </p:cNvPr>
          <p:cNvSpPr txBox="1"/>
          <p:nvPr/>
        </p:nvSpPr>
        <p:spPr>
          <a:xfrm>
            <a:off x="4381500" y="4495800"/>
            <a:ext cx="7112000" cy="3693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7E4B14-A781-2841-5F13-C468702ADFE9}"/>
              </a:ext>
            </a:extLst>
          </p:cNvPr>
          <p:cNvSpPr txBox="1"/>
          <p:nvPr/>
        </p:nvSpPr>
        <p:spPr>
          <a:xfrm>
            <a:off x="4699000" y="4696931"/>
            <a:ext cx="27305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External Validity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088432-FB53-D955-43D1-6B0CB3EF836D}"/>
              </a:ext>
            </a:extLst>
          </p:cNvPr>
          <p:cNvSpPr txBox="1"/>
          <p:nvPr/>
        </p:nvSpPr>
        <p:spPr>
          <a:xfrm>
            <a:off x="7620000" y="4668842"/>
            <a:ext cx="35306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לא בוצעה הערכה סופית על פרויקט חיצוני.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F5BA95-1A15-3807-D100-DD3D31612709}"/>
              </a:ext>
            </a:extLst>
          </p:cNvPr>
          <p:cNvSpPr txBox="1"/>
          <p:nvPr/>
        </p:nvSpPr>
        <p:spPr>
          <a:xfrm>
            <a:off x="698500" y="4162787"/>
            <a:ext cx="31115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נדרש סט בדיקה ידני של חוסרים אמיתיים.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5706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6E35C7-3EAF-D561-EEC7-C042F887B17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8B8E9E-615B-26E7-F2D5-54C3F019F684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692C92-A7EC-38DD-8035-811C1D83252A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מסקנות ושאלות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B864E-652E-106A-34EB-661220B960C6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1FB174-7FEF-4F45-CA0F-E7E57EC68FEC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8238AA3-3115-8A16-B1B8-6F2C7D4EE6B0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14 / 14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27BF7F-3657-F4BD-A8F1-A46195662597}"/>
              </a:ext>
            </a:extLst>
          </p:cNvPr>
          <p:cNvSpPr txBox="1"/>
          <p:nvPr/>
        </p:nvSpPr>
        <p:spPr>
          <a:xfrm>
            <a:off x="698500" y="1422400"/>
            <a:ext cx="3175000" cy="369332"/>
          </a:xfrm>
          <a:prstGeom prst="rect">
            <a:avLst/>
          </a:prstGeom>
          <a:solidFill>
            <a:srgbClr val="E8F1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4A16F9-9A24-0C91-4C68-05EAA9D05553}"/>
              </a:ext>
            </a:extLst>
          </p:cNvPr>
          <p:cNvSpPr txBox="1"/>
          <p:nvPr/>
        </p:nvSpPr>
        <p:spPr>
          <a:xfrm>
            <a:off x="3784600" y="1422400"/>
            <a:ext cx="889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A7BA60-7B24-DB9A-904F-573A6C0C79A5}"/>
              </a:ext>
            </a:extLst>
          </p:cNvPr>
          <p:cNvSpPr txBox="1"/>
          <p:nvPr/>
        </p:nvSpPr>
        <p:spPr>
          <a:xfrm>
            <a:off x="901700" y="15031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0.4197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B5B7BE-CE31-E80D-7030-F21B73507EA5}"/>
              </a:ext>
            </a:extLst>
          </p:cNvPr>
          <p:cNvSpPr txBox="1"/>
          <p:nvPr/>
        </p:nvSpPr>
        <p:spPr>
          <a:xfrm>
            <a:off x="901700" y="21546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 Macro-F1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89579E-2FC6-F617-43DF-08D105A643A1}"/>
              </a:ext>
            </a:extLst>
          </p:cNvPr>
          <p:cNvSpPr txBox="1"/>
          <p:nvPr/>
        </p:nvSpPr>
        <p:spPr>
          <a:xfrm>
            <a:off x="698500" y="2717800"/>
            <a:ext cx="3175000" cy="369332"/>
          </a:xfrm>
          <a:prstGeom prst="rect">
            <a:avLst/>
          </a:prstGeom>
          <a:solidFill>
            <a:srgbClr val="E7F7F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12515C-32FD-64BF-65A6-9DC2052989A7}"/>
              </a:ext>
            </a:extLst>
          </p:cNvPr>
          <p:cNvSpPr txBox="1"/>
          <p:nvPr/>
        </p:nvSpPr>
        <p:spPr>
          <a:xfrm>
            <a:off x="3784600" y="2717800"/>
            <a:ext cx="88900" cy="369332"/>
          </a:xfrm>
          <a:prstGeom prst="rect">
            <a:avLst/>
          </a:prstGeom>
          <a:solidFill>
            <a:srgbClr val="2E9D78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E287BE-3CB6-98AD-E57C-F2E04876DD8B}"/>
              </a:ext>
            </a:extLst>
          </p:cNvPr>
          <p:cNvSpPr txBox="1"/>
          <p:nvPr/>
        </p:nvSpPr>
        <p:spPr>
          <a:xfrm>
            <a:off x="901700" y="27985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0.6029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96A057-6ED0-A2D5-DA1B-E07721531876}"/>
              </a:ext>
            </a:extLst>
          </p:cNvPr>
          <p:cNvSpPr txBox="1"/>
          <p:nvPr/>
        </p:nvSpPr>
        <p:spPr>
          <a:xfrm>
            <a:off x="901700" y="34500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hole F1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A60ABD-24EB-2325-7AD3-58FF7AA4814B}"/>
              </a:ext>
            </a:extLst>
          </p:cNvPr>
          <p:cNvSpPr txBox="1"/>
          <p:nvPr/>
        </p:nvSpPr>
        <p:spPr>
          <a:xfrm>
            <a:off x="698500" y="4013200"/>
            <a:ext cx="3175000" cy="369332"/>
          </a:xfrm>
          <a:prstGeom prst="rect">
            <a:avLst/>
          </a:prstGeom>
          <a:solidFill>
            <a:srgbClr val="FFF4E0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691FAE-1D25-E0B9-C850-08B10EB4EC1A}"/>
              </a:ext>
            </a:extLst>
          </p:cNvPr>
          <p:cNvSpPr txBox="1"/>
          <p:nvPr/>
        </p:nvSpPr>
        <p:spPr>
          <a:xfrm>
            <a:off x="3784600" y="4013200"/>
            <a:ext cx="88900" cy="369332"/>
          </a:xfrm>
          <a:prstGeom prst="rect">
            <a:avLst/>
          </a:prstGeom>
          <a:solidFill>
            <a:srgbClr val="F59E0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9C28C9E-D002-3EA7-BE1C-A5B28DD05EA1}"/>
              </a:ext>
            </a:extLst>
          </p:cNvPr>
          <p:cNvSpPr txBox="1"/>
          <p:nvPr/>
        </p:nvSpPr>
        <p:spPr>
          <a:xfrm>
            <a:off x="901700" y="4093909"/>
            <a:ext cx="27305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0.7352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4E839F-A4E6-EC09-61C4-525DF7AEB2DC}"/>
              </a:ext>
            </a:extLst>
          </p:cNvPr>
          <p:cNvSpPr txBox="1"/>
          <p:nvPr/>
        </p:nvSpPr>
        <p:spPr>
          <a:xfrm>
            <a:off x="901700" y="4745414"/>
            <a:ext cx="2730500" cy="22570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3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hole AUROC</a:t>
            </a:r>
            <a:endParaRPr lang="en-IL" sz="13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04EB71-562B-C9D0-6EC4-8F3BC895D580}"/>
              </a:ext>
            </a:extLst>
          </p:cNvPr>
          <p:cNvSpPr txBox="1"/>
          <p:nvPr/>
        </p:nvSpPr>
        <p:spPr>
          <a:xfrm>
            <a:off x="10617200" y="13761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C0D301-1F85-A6AD-2FB1-674DCBDAC745}"/>
              </a:ext>
            </a:extLst>
          </p:cNvPr>
          <p:cNvSpPr txBox="1"/>
          <p:nvPr/>
        </p:nvSpPr>
        <p:spPr>
          <a:xfrm>
            <a:off x="4699000" y="1424965"/>
            <a:ext cx="5664200" cy="36420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ייצוג מבנה השינוי חשוב יותר מנפח המודל.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DDDF94-2290-2692-1967-04015C6C802F}"/>
              </a:ext>
            </a:extLst>
          </p:cNvPr>
          <p:cNvSpPr txBox="1"/>
          <p:nvPr/>
        </p:nvSpPr>
        <p:spPr>
          <a:xfrm>
            <a:off x="10617200" y="26207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B2CB3A-BE03-0380-7243-3BEA5315B7DF}"/>
              </a:ext>
            </a:extLst>
          </p:cNvPr>
          <p:cNvSpPr txBox="1"/>
          <p:nvPr/>
        </p:nvSpPr>
        <p:spPr>
          <a:xfrm>
            <a:off x="4699000" y="2500288"/>
            <a:ext cx="5664200" cy="70275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en-US" sz="22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line-type </a:t>
            </a:r>
            <a:r>
              <a:rPr lang="he-IL" sz="22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מצמצם התראות שווא ומשפר זיהוי חוסר.</a:t>
            </a:r>
            <a:endParaRPr lang="en-IL" sz="22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363289-E022-A1B5-9562-8734A569FC7B}"/>
              </a:ext>
            </a:extLst>
          </p:cNvPr>
          <p:cNvSpPr txBox="1"/>
          <p:nvPr/>
        </p:nvSpPr>
        <p:spPr>
          <a:xfrm>
            <a:off x="10617200" y="3865309"/>
            <a:ext cx="635000" cy="487313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IL" sz="30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665863-6B13-6035-8FAF-A0CB1862BDED}"/>
              </a:ext>
            </a:extLst>
          </p:cNvPr>
          <p:cNvSpPr txBox="1"/>
          <p:nvPr/>
        </p:nvSpPr>
        <p:spPr>
          <a:xfrm>
            <a:off x="6032500" y="3954953"/>
            <a:ext cx="4318000" cy="3334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r"/>
            <a:r>
              <a:rPr lang="en-US" sz="2000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 labels ≠ commit message</a:t>
            </a:r>
            <a:endParaRPr lang="en-IL" sz="2000" b="1">
              <a:solidFill>
                <a:srgbClr val="DC4C64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0392D1-120A-4C32-3C7A-723386152226}"/>
              </a:ext>
            </a:extLst>
          </p:cNvPr>
          <p:cNvSpPr txBox="1"/>
          <p:nvPr/>
        </p:nvSpPr>
        <p:spPr>
          <a:xfrm>
            <a:off x="6032500" y="4414842"/>
            <a:ext cx="4318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נדרש מקור תוויות עצמאי.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35B214A-B211-09D5-D7CF-F87C179977EC}"/>
              </a:ext>
            </a:extLst>
          </p:cNvPr>
          <p:cNvCxnSpPr/>
          <p:nvPr/>
        </p:nvCxnSpPr>
        <p:spPr>
          <a:xfrm>
            <a:off x="698500" y="5651500"/>
            <a:ext cx="107950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5D12F81-B1A9-39C0-26AE-39697B6FDE41}"/>
              </a:ext>
            </a:extLst>
          </p:cNvPr>
          <p:cNvSpPr txBox="1"/>
          <p:nvPr/>
        </p:nvSpPr>
        <p:spPr>
          <a:xfrm>
            <a:off x="698500" y="5944219"/>
            <a:ext cx="5842000" cy="241092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400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github.com/korrenhannes/diffintent-rtl</a:t>
            </a:r>
            <a:endParaRPr lang="en-IL" sz="1400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5458158-9BDD-1CFC-7DF8-625472417C8B}"/>
              </a:ext>
            </a:extLst>
          </p:cNvPr>
          <p:cNvSpPr txBox="1"/>
          <p:nvPr/>
        </p:nvSpPr>
        <p:spPr>
          <a:xfrm>
            <a:off x="8851900" y="5714504"/>
            <a:ext cx="26416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שאלות?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62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26FEC-EA63-CBB6-EC7D-B83340DD1477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3D160-2B04-2E8D-DA79-BA2B4C6BF1A6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F407A0-BD3B-9D22-6132-26CD22389DA2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גיבוי: </a:t>
            </a:r>
            <a:r>
              <a:rPr lang="en-US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Confusion Matrices </a:t>
            </a:r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של </a:t>
            </a:r>
            <a:r>
              <a:rPr lang="en-US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Intent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7D3E38-DE0D-1E85-99A0-9012E1446D0C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BCE1BC-9494-4C8E-BB50-1F8C2C59BF4A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A43AC02-4BE5-BD5D-D281-0F9E402C9787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A1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06A0A-E135-B845-C580-66686D4C33F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71600"/>
            <a:ext cx="942340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75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3C474F-55A6-453B-890E-8473E74DC87D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C321A-5061-A249-622B-84C63766CCAF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663FA9-3BC7-081A-6797-D0D0308D6FF1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גיבוי: </a:t>
            </a:r>
            <a:r>
              <a:rPr lang="en-US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Recall </a:t>
            </a:r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לפי </a:t>
            </a:r>
            <a:r>
              <a:rPr lang="en-US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mutation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3A46D-54D7-CE15-CA5F-C64190C9E520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60AE907-2E25-8B8C-EB35-AE1A7CEB8C5B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61843EA-2BBB-4F72-F453-41A0A1487A01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A2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563DC9-279D-3F28-18CE-7FFDD50DED92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384300" y="1333500"/>
            <a:ext cx="9423400" cy="534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16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FC0D61-034E-B5B6-ADB2-AD32D87B710E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F6F7F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C51C6A-16E3-1E45-49F5-734E81CAAFE0}"/>
              </a:ext>
            </a:extLst>
          </p:cNvPr>
          <p:cNvSpPr txBox="1"/>
          <p:nvPr/>
        </p:nvSpPr>
        <p:spPr>
          <a:xfrm>
            <a:off x="0" y="0"/>
            <a:ext cx="12192000" cy="369332"/>
          </a:xfrm>
          <a:prstGeom prst="rect">
            <a:avLst/>
          </a:prstGeom>
          <a:solidFill>
            <a:srgbClr val="1F6FEB"/>
          </a:solidFill>
          <a:ln w="0" cap="flat" cmpd="sng" algn="ctr">
            <a:solidFill>
              <a:schemeClr val="tx1">
                <a:alpha val="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854BD3-3949-B6DF-9ABF-5DCB4E545A9B}"/>
              </a:ext>
            </a:extLst>
          </p:cNvPr>
          <p:cNvSpPr txBox="1"/>
          <p:nvPr/>
        </p:nvSpPr>
        <p:spPr>
          <a:xfrm>
            <a:off x="5334000" y="228104"/>
            <a:ext cx="6223000" cy="471924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 sz="2900" b="1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גיבוי: מחקרי הרחבה</a:t>
            </a:r>
            <a:endParaRPr lang="en-IL" sz="2900" b="1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B6ECE6-076F-C94F-4529-6F4CC0D16569}"/>
              </a:ext>
            </a:extLst>
          </p:cNvPr>
          <p:cNvSpPr txBox="1"/>
          <p:nvPr/>
        </p:nvSpPr>
        <p:spPr>
          <a:xfrm>
            <a:off x="609600" y="379759"/>
            <a:ext cx="3175000" cy="256480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5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DiffIntent-RTL</a:t>
            </a:r>
            <a:endParaRPr lang="en-IL" sz="15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0EACD7-DE89-8125-25B0-915ED0CBB871}"/>
              </a:ext>
            </a:extLst>
          </p:cNvPr>
          <p:cNvCxnSpPr/>
          <p:nvPr/>
        </p:nvCxnSpPr>
        <p:spPr>
          <a:xfrm>
            <a:off x="609600" y="939800"/>
            <a:ext cx="10972800" cy="0"/>
          </a:xfrm>
          <a:prstGeom prst="line">
            <a:avLst/>
          </a:prstGeom>
          <a:ln w="12700">
            <a:solidFill>
              <a:srgbClr val="CFD6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CD1BE94-CC13-827B-9245-4DF3CBCD1A4C}"/>
              </a:ext>
            </a:extLst>
          </p:cNvPr>
          <p:cNvSpPr txBox="1"/>
          <p:nvPr/>
        </p:nvSpPr>
        <p:spPr>
          <a:xfrm>
            <a:off x="596900" y="6437203"/>
            <a:ext cx="889000" cy="194925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sz="1100">
                <a:solidFill>
                  <a:srgbClr val="475467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A3</a:t>
            </a:r>
            <a:endParaRPr lang="en-IL" sz="1100">
              <a:solidFill>
                <a:srgbClr val="475467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290F95-FFAD-64B3-1F57-9A67D380D5DB}"/>
              </a:ext>
            </a:extLst>
          </p:cNvPr>
          <p:cNvSpPr txBox="1"/>
          <p:nvPr/>
        </p:nvSpPr>
        <p:spPr>
          <a:xfrm>
            <a:off x="60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1F6FE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Improved Weak Labeling</a:t>
            </a:r>
            <a:endParaRPr lang="en-IL" sz="1600" b="1">
              <a:solidFill>
                <a:srgbClr val="1F6FE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587D58-0017-14B9-2646-755D158AE7A3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9900"/>
            <a:ext cx="3352800" cy="2159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376640D-DE16-FEC8-069C-0B7C88D4AB3E}"/>
              </a:ext>
            </a:extLst>
          </p:cNvPr>
          <p:cNvSpPr txBox="1"/>
          <p:nvPr/>
        </p:nvSpPr>
        <p:spPr>
          <a:xfrm>
            <a:off x="441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2E9D78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Hardware-aware Features</a:t>
            </a:r>
            <a:endParaRPr lang="en-IL" sz="1600" b="1">
              <a:solidFill>
                <a:srgbClr val="2E9D78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3B5CD8-EE75-3EBA-A19E-855C97FA2334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739900"/>
            <a:ext cx="3048000" cy="21844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1418025-166E-8D41-C58C-2332690A6037}"/>
              </a:ext>
            </a:extLst>
          </p:cNvPr>
          <p:cNvSpPr txBox="1"/>
          <p:nvPr/>
        </p:nvSpPr>
        <p:spPr>
          <a:xfrm>
            <a:off x="8229600" y="1330915"/>
            <a:ext cx="3352800" cy="271869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ctr"/>
            <a:r>
              <a:rPr lang="en-US" sz="1600" b="1">
                <a:solidFill>
                  <a:srgbClr val="F59E0B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Cross-project Study</a:t>
            </a:r>
            <a:endParaRPr lang="en-IL" sz="1600" b="1">
              <a:solidFill>
                <a:srgbClr val="F59E0B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1B2ADA1-414B-3F40-BECF-B82AE11A44FA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739900"/>
            <a:ext cx="3352800" cy="13081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DFBBF0A-1B55-6361-9653-8C6F7F7BBB60}"/>
              </a:ext>
            </a:extLst>
          </p:cNvPr>
          <p:cNvSpPr txBox="1"/>
          <p:nvPr/>
        </p:nvSpPr>
        <p:spPr>
          <a:xfrm>
            <a:off x="609600" y="4406900"/>
            <a:ext cx="10972800" cy="369332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/>
            </a:solidFill>
          </a:ln>
        </p:spPr>
        <p:txBody>
          <a:bodyPr vert="horz" rtlCol="0">
            <a:spAutoFit/>
          </a:bodyPr>
          <a:lstStyle/>
          <a:p>
            <a:endParaRPr lang="en-IL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427F40-3168-31ED-9BA5-433DD0F5BB9B}"/>
              </a:ext>
            </a:extLst>
          </p:cNvPr>
          <p:cNvSpPr txBox="1"/>
          <p:nvPr/>
        </p:nvSpPr>
        <p:spPr>
          <a:xfrm>
            <a:off x="901700" y="4681542"/>
            <a:ext cx="2921000" cy="302647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r>
              <a:rPr lang="en-US" b="1">
                <a:solidFill>
                  <a:srgbClr val="DC4C64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Medium-scale studies</a:t>
            </a:r>
            <a:endParaRPr lang="en-IL" b="1">
              <a:solidFill>
                <a:srgbClr val="DC4C64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5A6357A-0B20-3788-7F70-67FAA8718967}"/>
              </a:ext>
            </a:extLst>
          </p:cNvPr>
          <p:cNvSpPr txBox="1"/>
          <p:nvPr/>
        </p:nvSpPr>
        <p:spPr>
          <a:xfrm>
            <a:off x="4064000" y="4592642"/>
            <a:ext cx="7175500" cy="579646"/>
          </a:xfrm>
          <a:prstGeom prst="rect">
            <a:avLst/>
          </a:prstGeom>
          <a:noFill/>
        </p:spPr>
        <p:txBody>
          <a:bodyPr vert="horz" wrap="square" lIns="38100" tIns="12700" rIns="38100" bIns="12700" rtlCol="0" anchor="ctr">
            <a:spAutoFit/>
          </a:bodyPr>
          <a:lstStyle/>
          <a:p>
            <a:pPr algn="l" rtl="1"/>
            <a:r>
              <a:rPr lang="he-IL">
                <a:solidFill>
                  <a:srgbClr val="0B1F33"/>
                </a:solidFill>
                <a:latin typeface="Arial" panose="020B0604020202020204" pitchFamily="34" charset="0"/>
                <a:sym typeface="Arial" panose="020B0604020202020204" pitchFamily="34" charset="0"/>
              </a:rPr>
              <a:t>המספרים אינם בני השוואה ישירה לניסוי המלא. הם מצביעים על שיפור כיסוי התיוג, ערך של מאפייני חומרה ופער בין פרויקטים.</a:t>
            </a:r>
            <a:endParaRPr lang="en-IL">
              <a:solidFill>
                <a:srgbClr val="0B1F33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91942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1903</Words>
  <Application>Microsoft Macintosh PowerPoint</Application>
  <PresentationFormat>Widescreen</PresentationFormat>
  <Paragraphs>203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Korren Hannes</dc:creator>
  <cp:lastModifiedBy>Korren Hannes</cp:lastModifiedBy>
  <cp:revision>1</cp:revision>
  <dcterms:created xsi:type="dcterms:W3CDTF">2026-10-07T16:30:52Z</dcterms:created>
  <dcterms:modified xsi:type="dcterms:W3CDTF">2026-10-07T16:31:06Z</dcterms:modified>
</cp:coreProperties>
</file>