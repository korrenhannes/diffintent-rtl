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>
      <p:cViewPr varScale="1">
        <p:scale>
          <a:sx n="116" d="100"/>
          <a:sy n="116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9E99E-9F59-984F-B588-31D64FDA76E1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4BE88-F609-9647-9B1A-3D43D76AD2C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29289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00:20
פתיחה קצרה: הפרויקט בוחן האם ניתן להבין שינויי קוד ברמת 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ולא רק את הקובץ לאחר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DiffIntent-RTL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שתי משימות: זיהוי מטרת השינוי וזיהוי חוסר פונקציונלי.
מעבר: נתחיל מהבעיה המעשית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DiffIntent -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הצעת פרויקט.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pdf; report/final_report.md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4BE88-F609-9647-9B1A-3D43D76AD2CB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69051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המסר המרכזי: תקינות תחבירית אינה מבטיחה שלמות פונקציונלית.
בדוגמה,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קטן משנה נתיב בקרה; שורה חסרה יכולה לשנות את ההתנהגות בלי לשבור קומפילציה.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מפתח משתמש בסוג השורה, בקוד הסמוך ובמבנה השינוי.
מעבר: מכאן נגזרות שתי שאלות המחקר.
מקור: סעיפים 1 ו-3.3 בדוח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4BE88-F609-9647-9B1A-3D43D76AD2CB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77015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00:45
יש שתי משימות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diff.
Intent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ארבע מחלקות של מטרת 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הפרדה בין שינוי שלם לבין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implementation hole.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ההשערה נבנתה על מחקר קודם של ייצוגי שינוי, מודלים היררכיים וחיזוי מתיקוני קוד.
מעבר: כעת נראה כיצד הופכים 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Git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לנתוני אימון.
מקורות: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CC2Vec; PatchNet; DeepJIT; CodeReviewer;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סעיף 2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4BE88-F609-9647-9B1A-3D43D76AD2CB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46409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הצינור מתחיל בהיסטוריית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OpenTitan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ומסנן רק קבצי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SystemVerilog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רלוונטיים.
כל דוגמה היא שינוי בקובץ אחד.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נוצרות מהודעות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commit.
Synthetic Holes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נוצרים בתוך אזור השינוי.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Chronological Split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הזוג המקורי והגרסה המוטנטית לעולם אינם מתפצלים בין קבוצות.
מעבר: נבחן את הרכב מערך הנתונים.
מקור: סעיפים 3.1 עד 3.4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4BE88-F609-9647-9B1A-3D43D76AD2CB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60532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המספרים המרכזיים: 5,903 מועמדים גולמיים, 2,843 דוגמאות אמיתיות לאחר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ו-5,500 דוגמאות לאחר יצירת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synthetic holes.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החלוקה כרונולוגית: 3,873 לאימון, 830 לאימות ו-797 לבדיקה.
הגרף מציג גם את חוסר האיזון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Intent: 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המחלקה הקטנה ביותר.
מעבר: איך בדיוק נוצרת דוגמה חסרה?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outputs/full_run/dataset_summary.json; figure_dataset_overview.png.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4BE88-F609-9647-9B1A-3D43D76AD2CB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44387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הדוגמה המקורית נשארת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עותק שלה עובר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מבוקר בתוך השורות שהשתנו.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הפעולה השכיחה ביותר, והיא מהווה 82.2 אחוז מדוגמאות החוסר בבדיקה.
יש גם הסרת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guard, assertion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reset assignment,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וכן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flips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אופרטורים, אך חלקם נדירים.
היתרון הוא שליטה בזוגות; החיסרון הוא פער מחוסרים אמיתיים.
מעבר: נציג את קו הבסיס ואת המודלים העמוקים.
מקור: סעיף 3.3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4BE88-F609-9647-9B1A-3D43D76AD2CB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25733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ההשוואה נבנתה כסולם מורכבות.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 + Logistic Regression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חזק.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MLP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מאגר ממוצע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embeddings.
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רצף שטוח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tokens.
Hierarchical Transformer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מקודד כל שורה ואז את רצף השורות, כולל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למודלים העמוקים יש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Multi-task head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לשתי המשימות.
מעבר: נפתח את הארכיטקטורה ההיררכית.
מקור: סעיף 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4BE88-F609-9647-9B1A-3D43D76AD2CB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6909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זו הארכיטקטורה המרכזית.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Typed Diff Lines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כל שורה מסומנת לפי תפקידה.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Token Embedding + BiGRU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יוצר ייצוג פנימי לכל שורה.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Transformer Encoder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לומד קשרים בין שורות רחוקות.
שני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heads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מפיקים תחזית נפרדת לכל משימה.
הניסוי החשוב בהמשך מסיר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embedding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ובודק מה אובד.
מעבר: קודם נבחן את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סעיפים 4.3 ו-4.4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4BE88-F609-9647-9B1A-3D43D76AD2CB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731547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01:00
התוצאה המרכזית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היא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0.4197 עבור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הגרף מראה שהיתרון אינו אחיד בין המחלקות;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refactor_cleanup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נשארת קשה בגלל מיעוט דוגמאות וחפיפה סמנטית.
המשמעות אינה שמודלים עמוקים חסרי ערך, אלא שהמשימה והתיוג מספקים אות לקסיקלי חזק מאוד.
מעבר: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חושף עד כמה האות הזה קשור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figure_intent_per_class_f1.png.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4BE88-F609-9647-9B1A-3D43D76AD2CB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87163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זהו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קריטי.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נוצר ממילות מפתח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כאשר מאמנים מודל רק על אותו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message,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מתקבל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0.9855.
לכן תוצאת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משקפת במידה רבה את מנגנון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weak labeling.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כדי לטעון להבנת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נדרש סט תוויות ידני או מקור תוויות עצמאי.
מעבר: משימת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אינה נשענת על אותו ערוץ, ושם המבנה ההיררכי בולט.
מקור: סעיף 7.5 וסעיף 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4BE88-F609-9647-9B1A-3D43D76AD2CB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75883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01:15
כאן מתקבלת התוצאה החזקה ביותר של הפרויקט.
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Hierarchical Transformer
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0.6029 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 0.7352.
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seed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המוצג הוא שומר כמעט על אותו מספר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true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כמו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TF-IDF,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אך מוריד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מ-172 ל-81.
זה חשוב 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Review: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פחות התראות שווא משפרות שימושיות.
מעבר: האם השיפור באמת מגיע ממידע על סוג השורה?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figure_hole_confusion_panels.png.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4BE88-F609-9647-9B1A-3D43D76AD2CB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72628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01:05
ה-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ablation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מסיר רק את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line-type information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ושומר את שאר הארכיטקטורה.
התוצאה: ירידה של 0.1305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hole F1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ושל 0.1058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AUROC.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זהו הממצא הסיבתי החזק ביותר במצגת: לא רק נפח המודל, אלא הייצוג המפורש של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ADD, DEL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CONTEXT,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תורם לזיהוי חוסר.
מעבר: עדיין צריך לפרש את התוצאה בתוך מגבלות מערך הנתונים.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outputs/full_run/full_results.json; figure_ablation_results.png.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4BE88-F609-9647-9B1A-3D43D76AD2CB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0410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00:55
שלוש מגבלות מגדירות את גבול הטענה.
ראשית, 82.2 אחוז מהחוסרים הסינתטיים הם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drop_added_line.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שנית, מספר משפחות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נדירות מדי להערכה.
שלישית, מחקר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Caliptra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הוא מקדים ובקנה מידה קטן, ולא הערכת סיום שקולה.
לכן התוצאה מצביעה על פוטנציאל, אך אינה תחליף לסט בדיקה ידני של חוסרים אמיתיים.
מעבר: נסכם את שלוש המסקנות שניתן להגן עליהן.
מקור: סעיפים 7.7 ו-8 בדוח.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4BE88-F609-9647-9B1A-3D43D76AD2CB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848166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00:35
שלוש מסקנות.
אחת: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קו בסיס לקסיקלי נשאר תחרותי.
שתיים: ב-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Completeness,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מבנה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diff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מפורש משפר ביצועים ומפחית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false positives.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שלוש: תוויות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חייבות להגיע ממקור שאינו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commit message.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סיום: הפרויקט מספק תשתית מלאה למחקר המשך על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Code Review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ל-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RTL.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מסקנות הדוח הסופי.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4BE88-F609-9647-9B1A-3D43D76AD2CB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859783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השתמשו בה אם נשאלת שאלה על דפוסי הבלבול בין מחלקות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Intent.
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figure_intent_confusion_panels.png.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4BE88-F609-9647-9B1A-3D43D76AD2CB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249348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התרשים מפריד ביצועים לפי משפחת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וממחיש מדוע המספר הכולל מושפע מהתפלגות הדוגמאות.
מקור: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figure_hole_mutation_recall.png.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4BE88-F609-9647-9B1A-3D43D76AD2CB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376555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David" panose="020E0502060401010101" pitchFamily="34" charset="-79"/>
              </a:rPr>
              <a:t>שקופית גיבוי.
מחקרי ההרחבה בוצעו על מערך קטן יותר ובפרוטוקולים אחרים. אין להשוות את הערכים המוחלטים לתוצאות הניסוי המלא.
מקור: סעיף 7.7 בדוח; </a:t>
            </a:r>
            <a:r>
              <a:rPr lang="en-US" sz="1500">
                <a:latin typeface="Arial" panose="020B0604020202020204" pitchFamily="34" charset="0"/>
                <a:sym typeface="David" panose="020E0502060401010101" pitchFamily="34" charset="-79"/>
              </a:rPr>
              <a:t>labeler_improvement.png; rtl_features_cv.png; generalization_compare.png.</a:t>
            </a:r>
            <a:endParaRPr lang="en-IL" sz="1500"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24BE88-F609-9647-9B1A-3D43D76AD2CB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99837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49591-3E8B-E1E6-C40B-ACDE3F187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0AE485-7CE0-5466-4595-672E93786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1FED6-AC5D-02F0-7762-FB566C547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85A5D-BE4B-424C-8D89-014B6CC68BC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2AEF3-398B-5B1B-43F2-51EA205A7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47888-BEE2-6BFC-8FE9-A32054F3D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360C-4AC1-AF4D-BCD1-C68199A1C9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0004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2D260-B46A-E3AB-2A4F-8F5F806F8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3C7BD-22C3-28A0-1799-B5B295F7A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177D3-DC01-765A-A9CB-E61FDAEFF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85A5D-BE4B-424C-8D89-014B6CC68BC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8224D-20FB-6C0B-D104-7D82B0D86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AA06F-D99E-2CA2-3869-D8A0DE0D6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360C-4AC1-AF4D-BCD1-C68199A1C9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774606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711CE-A780-2860-1A58-2283A379F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0B9E1-451B-50C0-9C99-C18748478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1C821-FBED-9351-FE9E-41B31B68E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85A5D-BE4B-424C-8D89-014B6CC68BC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488C4-DCA2-6B56-C8C2-DCAF79422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ACA9F-F311-7B08-3B95-1F8AE4D8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360C-4AC1-AF4D-BCD1-C68199A1C9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83572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C1BF9-2977-7F39-7CFE-C398B006E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95114-E16C-7014-0C4A-5546A9826E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478A9-B5D8-6EE5-FBA1-50209994D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692F98-AFFC-BDC6-0224-2078D86F9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85A5D-BE4B-424C-8D89-014B6CC68BC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03DCA-5E32-6599-DBA5-9F554D761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98360-7FAC-BE88-C850-74678FA33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360C-4AC1-AF4D-BCD1-C68199A1C9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92981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08220-D516-52E4-14BE-37F6359B6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64180-ED7B-9DD7-C8BB-FCFC17D86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7164F1-5C0C-6686-4EBC-D5BA3B2F1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642D3C-F6BC-2275-C771-3648C66616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8B3D4E-DF13-CACC-E547-E9BCBC4170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37FBDA-FCE5-CDEC-DA88-5F3FE8CD8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85A5D-BE4B-424C-8D89-014B6CC68BC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7F5BC4-EF46-C95E-0A22-CBA6AEF57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AD5F22-AF9F-30A7-F601-E5DA19DA3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360C-4AC1-AF4D-BCD1-C68199A1C9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18356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506C7-4CF2-CC45-AFD2-5ED16DDF7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43C7B5-6AF9-1D13-7EB7-12AF77577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85A5D-BE4B-424C-8D89-014B6CC68BC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4E62A-7C09-2D51-AE65-827D10A0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D7959-B95E-D7B4-0AE2-3F3EB52AE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360C-4AC1-AF4D-BCD1-C68199A1C9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24555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6326C9-575E-77B3-8735-D81208355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85A5D-BE4B-424C-8D89-014B6CC68BC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361564-F9A6-8A83-7478-D23C47282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FD3A6-9E0C-4B2E-30D8-81620EF7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360C-4AC1-AF4D-BCD1-C68199A1C9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87951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472D7-DF2B-B5D7-57B6-DD10DEC37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E3C51-C65C-D934-C475-59FF60A52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96AAA-8366-2E12-5452-E7158208E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E30FA9-093B-9640-3139-3E6FDDE80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85A5D-BE4B-424C-8D89-014B6CC68BC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837C3-CD0B-67DB-F9FD-C4BB37E2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93C125-CEC6-2B2A-C650-2EB9555AB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360C-4AC1-AF4D-BCD1-C68199A1C9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26364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6A688-0658-B258-5AD0-CC4ADD9A1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A705F-1F7A-FBC3-2FD8-6E9C9BF0EBE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14859-8DEF-02B2-B5B9-B271D824B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CFC1A-0B37-EA50-9120-8D099BF7A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85A5D-BE4B-424C-8D89-014B6CC68BC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BD867-492F-6B2A-775D-6DFE3BAA6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ADE81-BB3C-3F03-B469-BFE23E83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360C-4AC1-AF4D-BCD1-C68199A1C9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5644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E3EED-4B2B-C706-4108-6BEE1900D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28EA48-DC84-77A3-9B86-31BF0BC70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8BB2D-133D-7A65-EE26-CBB02EF77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85A5D-BE4B-424C-8D89-014B6CC68BC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B1C80-B2BA-F72E-D04F-CF1E44A96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B05DB-CB05-2008-47FE-38C9B9A8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360C-4AC1-AF4D-BCD1-C68199A1C9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83276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4AF87A-342E-B4FE-8528-C8032A592C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8D6AB2-D51E-0119-2A46-51B22093B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B166EC-F944-5139-D2C0-986140F27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85A5D-BE4B-424C-8D89-014B6CC68BC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75D3E7-DE93-CE4B-5826-C7628407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0BA29-E9B7-E2C9-59F1-EB81E52A4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360C-4AC1-AF4D-BCD1-C68199A1C9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10077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AD49B1-CAFB-ECCB-565B-3654F833C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74723-CA91-9792-A6A5-5CD6EB521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1B653-14D3-024C-2501-F7285CC60C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B85A5D-BE4B-424C-8D89-014B6CC68BCC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0916F-FB83-86E8-3BC5-B85CCA2740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5C331-4DA8-43D1-D7D4-912164186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23360C-4AC1-AF4D-BCD1-C68199A1C9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21944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001">
            <a:extLst>
              <a:ext uri="{FF2B5EF4-FFF2-40B4-BE49-F238E27FC236}">
                <a16:creationId xmlns:a16="http://schemas.microsoft.com/office/drawing/2014/main" id="{C27CC4DE-D0E1-43E9-E414-88E614C4FA2D}"/>
              </a:ext>
            </a:extLst>
          </p:cNvPr>
          <p:cNvSpPr/>
          <p:nvPr/>
        </p:nvSpPr>
        <p:spPr>
          <a:xfrm>
            <a:off x="12065000" y="0"/>
            <a:ext cx="127000" cy="68580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D6823F-E267-6B48-1B66-A196FDF05B92}"/>
              </a:ext>
            </a:extLst>
          </p:cNvPr>
          <p:cNvSpPr txBox="1"/>
          <p:nvPr/>
        </p:nvSpPr>
        <p:spPr>
          <a:xfrm>
            <a:off x="5207000" y="869310"/>
            <a:ext cx="60325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4800" b="1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4800" b="1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32A201-F814-D3B6-5097-7CB1F31BB459}"/>
              </a:ext>
            </a:extLst>
          </p:cNvPr>
          <p:cNvSpPr txBox="1"/>
          <p:nvPr/>
        </p:nvSpPr>
        <p:spPr>
          <a:xfrm>
            <a:off x="5207000" y="1894577"/>
            <a:ext cx="60325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3000" b="1">
                <a:solidFill>
                  <a:srgbClr val="DDE7F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מטרת שינוי וחוסרים פונקציונליים בקוד</a:t>
            </a:r>
            <a:endParaRPr lang="en-IL" sz="3000" b="1">
              <a:solidFill>
                <a:srgbClr val="DDE7F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4BB779-3967-E487-D04B-68EE863A1E9F}"/>
              </a:ext>
            </a:extLst>
          </p:cNvPr>
          <p:cNvSpPr txBox="1"/>
          <p:nvPr/>
        </p:nvSpPr>
        <p:spPr>
          <a:xfrm>
            <a:off x="9144000" y="3098304"/>
            <a:ext cx="20955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9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RTL</a:t>
            </a:r>
            <a:endParaRPr lang="en-IL" sz="29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36276A-A1AC-8F00-6103-35CB6E2491AA}"/>
              </a:ext>
            </a:extLst>
          </p:cNvPr>
          <p:cNvCxnSpPr/>
          <p:nvPr/>
        </p:nvCxnSpPr>
        <p:spPr>
          <a:xfrm>
            <a:off x="825500" y="3987800"/>
            <a:ext cx="10414000" cy="0"/>
          </a:xfrm>
          <a:prstGeom prst="line">
            <a:avLst/>
          </a:prstGeom>
          <a:ln w="19050">
            <a:solidFill>
              <a:srgbClr val="405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91B0E04-7555-E68D-3924-3CADC0EE49A0}"/>
              </a:ext>
            </a:extLst>
          </p:cNvPr>
          <p:cNvSpPr txBox="1"/>
          <p:nvPr/>
        </p:nvSpPr>
        <p:spPr>
          <a:xfrm>
            <a:off x="5207000" y="4348653"/>
            <a:ext cx="60325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000">
                <a:solidFill>
                  <a:srgbClr val="FFFFFF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קורן הנס ונועה סבג</a:t>
            </a:r>
            <a:endParaRPr lang="en-IL" sz="2000">
              <a:solidFill>
                <a:srgbClr val="FFFFFF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51E2A5-B888-629A-CBAD-F5F3C826A741}"/>
              </a:ext>
            </a:extLst>
          </p:cNvPr>
          <p:cNvSpPr txBox="1"/>
          <p:nvPr/>
        </p:nvSpPr>
        <p:spPr>
          <a:xfrm>
            <a:off x="825500" y="4384436"/>
            <a:ext cx="4445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Deep Learning Project</a:t>
            </a:r>
            <a:endParaRPr lang="en-IL" sz="17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EF6D46-997D-4A07-A5A5-719E75042A71}"/>
              </a:ext>
            </a:extLst>
          </p:cNvPr>
          <p:cNvSpPr txBox="1"/>
          <p:nvPr/>
        </p:nvSpPr>
        <p:spPr>
          <a:xfrm>
            <a:off x="825500" y="5741019"/>
            <a:ext cx="1651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15 min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211D3E-16F7-C973-0E12-B1AABA9C7F78}"/>
              </a:ext>
            </a:extLst>
          </p:cNvPr>
          <p:cNvSpPr txBox="1"/>
          <p:nvPr/>
        </p:nvSpPr>
        <p:spPr>
          <a:xfrm>
            <a:off x="825500" y="6150108"/>
            <a:ext cx="3302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AAC1D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Final Presentation</a:t>
            </a:r>
            <a:endParaRPr lang="en-IL" sz="1200">
              <a:solidFill>
                <a:srgbClr val="AAC1D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92585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002">
            <a:extLst>
              <a:ext uri="{FF2B5EF4-FFF2-40B4-BE49-F238E27FC236}">
                <a16:creationId xmlns:a16="http://schemas.microsoft.com/office/drawing/2014/main" id="{43A66A36-148D-5A9E-AA5A-20266010AA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003">
            <a:extLst>
              <a:ext uri="{FF2B5EF4-FFF2-40B4-BE49-F238E27FC236}">
                <a16:creationId xmlns:a16="http://schemas.microsoft.com/office/drawing/2014/main" id="{23D64143-0D2C-97CF-4CC1-10FFE0E7BEA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164A2D-577A-9098-FE5C-169F921F301F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חוסר גדול מסתתר בשינוי קטן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38CFE1-4236-7C6E-5591-328C075FD2F7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E7DFC3-3DEF-BCB6-CE62-77FCC05C5DF5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A620172-0239-01A9-89D4-55C59E0F1119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02 / 14</a:t>
            </a:r>
          </a:p>
        </p:txBody>
      </p:sp>
      <p:sp>
        <p:nvSpPr>
          <p:cNvPr id="10" name="Shape_1004">
            <a:extLst>
              <a:ext uri="{FF2B5EF4-FFF2-40B4-BE49-F238E27FC236}">
                <a16:creationId xmlns:a16="http://schemas.microsoft.com/office/drawing/2014/main" id="{D11AFF48-8775-5AFA-016C-997CB782431C}"/>
              </a:ext>
            </a:extLst>
          </p:cNvPr>
          <p:cNvSpPr/>
          <p:nvPr/>
        </p:nvSpPr>
        <p:spPr>
          <a:xfrm>
            <a:off x="609600" y="1333500"/>
            <a:ext cx="6413500" cy="41910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4E4463-5452-9BE2-3086-5FAC17CC77CA}"/>
              </a:ext>
            </a:extLst>
          </p:cNvPr>
          <p:cNvSpPr txBox="1"/>
          <p:nvPr/>
        </p:nvSpPr>
        <p:spPr>
          <a:xfrm>
            <a:off x="914400" y="1676400"/>
            <a:ext cx="5778500" cy="20313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@@ always_ff @(posedge clk_i) @@
- if (!rst_ni) state_q &lt;= IDLE;
+ if (!rst_ni) state_q &lt;= IDLE;
+ else if (req_i) begin
+   state_q &lt;= BUSY;
+   valid_o &lt;= 1'b1;
+ end</a:t>
            </a:r>
            <a:endParaRPr lang="en-IL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2" name="Shape_1005">
            <a:extLst>
              <a:ext uri="{FF2B5EF4-FFF2-40B4-BE49-F238E27FC236}">
                <a16:creationId xmlns:a16="http://schemas.microsoft.com/office/drawing/2014/main" id="{FAB588CA-380B-DFA2-56A8-ABC994C1E728}"/>
              </a:ext>
            </a:extLst>
          </p:cNvPr>
          <p:cNvSpPr/>
          <p:nvPr/>
        </p:nvSpPr>
        <p:spPr>
          <a:xfrm>
            <a:off x="914400" y="4749800"/>
            <a:ext cx="5778500" cy="457200"/>
          </a:xfrm>
          <a:prstGeom prst="rect">
            <a:avLst/>
          </a:prstGeom>
          <a:solidFill>
            <a:srgbClr val="23364A"/>
          </a:solidFill>
          <a:ln w="0" cap="flat" cmpd="sng" algn="ctr">
            <a:solidFill>
              <a:srgbClr val="23364A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39FD09-B8FF-0CEC-8107-A0D7D6C6480D}"/>
              </a:ext>
            </a:extLst>
          </p:cNvPr>
          <p:cNvSpPr txBox="1"/>
          <p:nvPr/>
        </p:nvSpPr>
        <p:spPr>
          <a:xfrm>
            <a:off x="1079500" y="4869725"/>
            <a:ext cx="5461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What if the final assignment is missing?</a:t>
            </a:r>
            <a:endParaRPr lang="en-IL" sz="15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76EF31-005F-358E-87F2-9F251E010C06}"/>
              </a:ext>
            </a:extLst>
          </p:cNvPr>
          <p:cNvSpPr txBox="1"/>
          <p:nvPr/>
        </p:nvSpPr>
        <p:spPr>
          <a:xfrm>
            <a:off x="7429500" y="1428110"/>
            <a:ext cx="4064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4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השינוי עדיין יכול להיות תקין תחבירית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A52579-D831-C587-D9F9-2BA1904D067B}"/>
              </a:ext>
            </a:extLst>
          </p:cNvPr>
          <p:cNvSpPr txBox="1"/>
          <p:nvPr/>
        </p:nvSpPr>
        <p:spPr>
          <a:xfrm>
            <a:off x="7429500" y="2141999"/>
            <a:ext cx="40640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3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אבל ההתנהגות הרצויה אינה שלמה</a:t>
            </a:r>
            <a:endParaRPr lang="en-IL" sz="23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133739-D9B2-027F-6E70-24022AD37A1B}"/>
              </a:ext>
            </a:extLst>
          </p:cNvPr>
          <p:cNvCxnSpPr/>
          <p:nvPr/>
        </p:nvCxnSpPr>
        <p:spPr>
          <a:xfrm>
            <a:off x="7366000" y="3175000"/>
            <a:ext cx="41275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2E5ABAA-7C84-4AC2-6FBC-06AEF3A8C7BE}"/>
              </a:ext>
            </a:extLst>
          </p:cNvPr>
          <p:cNvSpPr txBox="1"/>
          <p:nvPr/>
        </p:nvSpPr>
        <p:spPr>
          <a:xfrm>
            <a:off x="7429500" y="3454275"/>
            <a:ext cx="40640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קורא הקשר, מבנה והבדלים בין שורות. המודל חייב לקבל את אותם רמזים.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C1D24D-E658-DA6C-CC3D-70645601BCEC}"/>
              </a:ext>
            </a:extLst>
          </p:cNvPr>
          <p:cNvSpPr txBox="1"/>
          <p:nvPr/>
        </p:nvSpPr>
        <p:spPr>
          <a:xfrm>
            <a:off x="7429500" y="4999042"/>
            <a:ext cx="4064000" cy="85664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מפתח אנושי בתהליך </a:t>
            </a:r>
            <a:r>
              <a:rPr lang="en-US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⁦Code Review⁩ </a:t>
            </a:r>
            <a:r>
              <a:rPr lang="he-IL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קורא יחד את ההקשר, המבנה וההבדל בין השורות.</a:t>
            </a:r>
            <a:endParaRPr lang="en-IL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52955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006">
            <a:extLst>
              <a:ext uri="{FF2B5EF4-FFF2-40B4-BE49-F238E27FC236}">
                <a16:creationId xmlns:a16="http://schemas.microsoft.com/office/drawing/2014/main" id="{C83D0341-0E13-8908-B3EE-8AC9D03287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007">
            <a:extLst>
              <a:ext uri="{FF2B5EF4-FFF2-40B4-BE49-F238E27FC236}">
                <a16:creationId xmlns:a16="http://schemas.microsoft.com/office/drawing/2014/main" id="{1B5784AD-09A1-F22F-DB54-37D569D158F2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9F4923-BF21-0D4C-64C9-692D32B0732B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שתי שאלות מחקר, אובייקט למידה אחד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F4BE3F-B44B-3C2C-5AA5-90EED070A6D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3E67FDB-B0BA-F925-1516-207757436053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A8A6F73-2DEE-2738-940A-0DD6FCEAB133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03 / 14</a:t>
            </a:r>
          </a:p>
        </p:txBody>
      </p:sp>
      <p:sp>
        <p:nvSpPr>
          <p:cNvPr id="10" name="Shape_1008">
            <a:extLst>
              <a:ext uri="{FF2B5EF4-FFF2-40B4-BE49-F238E27FC236}">
                <a16:creationId xmlns:a16="http://schemas.microsoft.com/office/drawing/2014/main" id="{8C220A96-0F31-91B0-BECC-9FDC056174DD}"/>
              </a:ext>
            </a:extLst>
          </p:cNvPr>
          <p:cNvSpPr/>
          <p:nvPr/>
        </p:nvSpPr>
        <p:spPr>
          <a:xfrm>
            <a:off x="6350000" y="1498600"/>
            <a:ext cx="5143500" cy="2616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847AEB-2117-A837-4F1B-BFDB0D4E21BE}"/>
              </a:ext>
            </a:extLst>
          </p:cNvPr>
          <p:cNvSpPr txBox="1"/>
          <p:nvPr/>
        </p:nvSpPr>
        <p:spPr>
          <a:xfrm>
            <a:off x="67945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</a:t>
            </a:r>
            <a:endParaRPr lang="en-IL" sz="30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699994-0EBA-E402-7385-994CA94F7545}"/>
              </a:ext>
            </a:extLst>
          </p:cNvPr>
          <p:cNvSpPr txBox="1"/>
          <p:nvPr/>
        </p:nvSpPr>
        <p:spPr>
          <a:xfrm>
            <a:off x="67945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איזו מטרה עומדת מאחורי השינוי?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E13D88-0AD6-C3E3-851F-848AEE5272CF}"/>
              </a:ext>
            </a:extLst>
          </p:cNvPr>
          <p:cNvSpPr txBox="1"/>
          <p:nvPr/>
        </p:nvSpPr>
        <p:spPr>
          <a:xfrm>
            <a:off x="90170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 classes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1009">
            <a:extLst>
              <a:ext uri="{FF2B5EF4-FFF2-40B4-BE49-F238E27FC236}">
                <a16:creationId xmlns:a16="http://schemas.microsoft.com/office/drawing/2014/main" id="{AAF9C5B1-57FA-6DE2-F30C-C6EAB2EC70C1}"/>
              </a:ext>
            </a:extLst>
          </p:cNvPr>
          <p:cNvSpPr/>
          <p:nvPr/>
        </p:nvSpPr>
        <p:spPr>
          <a:xfrm>
            <a:off x="698500" y="1498600"/>
            <a:ext cx="5143500" cy="2616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02C114-71EF-C3CC-16B7-F5AB95CC1C04}"/>
              </a:ext>
            </a:extLst>
          </p:cNvPr>
          <p:cNvSpPr txBox="1"/>
          <p:nvPr/>
        </p:nvSpPr>
        <p:spPr>
          <a:xfrm>
            <a:off x="11430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Completeness</a:t>
            </a:r>
            <a:endParaRPr lang="en-IL" sz="30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1E208F-17E5-240A-B586-91855EFA65FB}"/>
              </a:ext>
            </a:extLst>
          </p:cNvPr>
          <p:cNvSpPr txBox="1"/>
          <p:nvPr/>
        </p:nvSpPr>
        <p:spPr>
          <a:xfrm>
            <a:off x="11430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האם השינוי נראה שלם?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849E78-6F34-82D9-659B-A58AFAEFFF58}"/>
              </a:ext>
            </a:extLst>
          </p:cNvPr>
          <p:cNvSpPr txBox="1"/>
          <p:nvPr/>
        </p:nvSpPr>
        <p:spPr>
          <a:xfrm>
            <a:off x="33655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binary task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D4C3AB2-D0B9-A155-18F1-D6847083167C}"/>
              </a:ext>
            </a:extLst>
          </p:cNvPr>
          <p:cNvCxnSpPr/>
          <p:nvPr/>
        </p:nvCxnSpPr>
        <p:spPr>
          <a:xfrm>
            <a:off x="6096000" y="1676400"/>
            <a:ext cx="0" cy="2260600"/>
          </a:xfrm>
          <a:prstGeom prst="line">
            <a:avLst/>
          </a:prstGeom>
          <a:ln w="254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F283922-A500-6AFB-ED95-3BDA3793EF8F}"/>
              </a:ext>
            </a:extLst>
          </p:cNvPr>
          <p:cNvSpPr txBox="1"/>
          <p:nvPr/>
        </p:nvSpPr>
        <p:spPr>
          <a:xfrm>
            <a:off x="9842500" y="4542670"/>
            <a:ext cx="1651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17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ההשערה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93EF1F-A795-258F-55FA-5EF5265C8208}"/>
              </a:ext>
            </a:extLst>
          </p:cNvPr>
          <p:cNvSpPr txBox="1"/>
          <p:nvPr/>
        </p:nvSpPr>
        <p:spPr>
          <a:xfrm>
            <a:off x="3276600" y="4763576"/>
            <a:ext cx="82169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היררכי שמבחין בין שורות שנוספו, נמחקו ונשמרו ישפר את זיהוי החוסר.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136CC1-78F4-4734-F823-39AF5206F5D7}"/>
              </a:ext>
            </a:extLst>
          </p:cNvPr>
          <p:cNvSpPr txBox="1"/>
          <p:nvPr/>
        </p:nvSpPr>
        <p:spPr>
          <a:xfrm>
            <a:off x="698500" y="5886553"/>
            <a:ext cx="10795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4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CC2Vec   PatchNet   DeepJIT   CodeReviewer</a:t>
            </a:r>
            <a:endParaRPr lang="en-IL" sz="14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68360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010">
            <a:extLst>
              <a:ext uri="{FF2B5EF4-FFF2-40B4-BE49-F238E27FC236}">
                <a16:creationId xmlns:a16="http://schemas.microsoft.com/office/drawing/2014/main" id="{2C234726-B2F5-9B33-F660-AB8B516B706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011">
            <a:extLst>
              <a:ext uri="{FF2B5EF4-FFF2-40B4-BE49-F238E27FC236}">
                <a16:creationId xmlns:a16="http://schemas.microsoft.com/office/drawing/2014/main" id="{6BB2B779-C05B-71C3-019A-08BBFA360FC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4C5491-D202-0964-125A-750629A55E1E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מהיסטוריית קוד לניסוי מבוקר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0817DA-594F-8653-529D-26B0402E9AA1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AFDE8B-FBB6-636A-6C7B-A933AF28BBA9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95A122C-8E49-679E-B349-7090016065C2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04 / 14</a:t>
            </a:r>
          </a:p>
        </p:txBody>
      </p:sp>
      <p:sp>
        <p:nvSpPr>
          <p:cNvPr id="10" name="Shape_1012">
            <a:extLst>
              <a:ext uri="{FF2B5EF4-FFF2-40B4-BE49-F238E27FC236}">
                <a16:creationId xmlns:a16="http://schemas.microsoft.com/office/drawing/2014/main" id="{F1AE7967-5448-B638-3AC3-B5B70B9489FC}"/>
              </a:ext>
            </a:extLst>
          </p:cNvPr>
          <p:cNvSpPr/>
          <p:nvPr/>
        </p:nvSpPr>
        <p:spPr>
          <a:xfrm>
            <a:off x="939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7FCF90-7AB7-BD83-8149-E85DC2EB0C10}"/>
              </a:ext>
            </a:extLst>
          </p:cNvPr>
          <p:cNvSpPr txBox="1"/>
          <p:nvPr/>
        </p:nvSpPr>
        <p:spPr>
          <a:xfrm>
            <a:off x="952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OpenTitan Git History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55D959-C988-5B07-4D36-2D4E5ABD388F}"/>
              </a:ext>
            </a:extLst>
          </p:cNvPr>
          <p:cNvCxnSpPr/>
          <p:nvPr/>
        </p:nvCxnSpPr>
        <p:spPr>
          <a:xfrm flipH="1">
            <a:off x="9169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1013">
            <a:extLst>
              <a:ext uri="{FF2B5EF4-FFF2-40B4-BE49-F238E27FC236}">
                <a16:creationId xmlns:a16="http://schemas.microsoft.com/office/drawing/2014/main" id="{D30095D9-8641-7DA0-9143-AD841970769E}"/>
              </a:ext>
            </a:extLst>
          </p:cNvPr>
          <p:cNvSpPr/>
          <p:nvPr/>
        </p:nvSpPr>
        <p:spPr>
          <a:xfrm>
            <a:off x="7175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F174D7-4F84-B6C6-5456-70EF4D7C6975}"/>
              </a:ext>
            </a:extLst>
          </p:cNvPr>
          <p:cNvSpPr txBox="1"/>
          <p:nvPr/>
        </p:nvSpPr>
        <p:spPr>
          <a:xfrm>
            <a:off x="7302500" y="2301636"/>
            <a:ext cx="1587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 Mining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E27E14C-E5C9-4F0E-316C-AF8F1566248E}"/>
              </a:ext>
            </a:extLst>
          </p:cNvPr>
          <p:cNvCxnSpPr/>
          <p:nvPr/>
        </p:nvCxnSpPr>
        <p:spPr>
          <a:xfrm flipH="1">
            <a:off x="6946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1014">
            <a:extLst>
              <a:ext uri="{FF2B5EF4-FFF2-40B4-BE49-F238E27FC236}">
                <a16:creationId xmlns:a16="http://schemas.microsoft.com/office/drawing/2014/main" id="{D7977E1F-3EE7-9263-8D69-467817CE0092}"/>
              </a:ext>
            </a:extLst>
          </p:cNvPr>
          <p:cNvSpPr/>
          <p:nvPr/>
        </p:nvSpPr>
        <p:spPr>
          <a:xfrm>
            <a:off x="4953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3C76F6-33A2-733A-2980-FCE111798472}"/>
              </a:ext>
            </a:extLst>
          </p:cNvPr>
          <p:cNvSpPr txBox="1"/>
          <p:nvPr/>
        </p:nvSpPr>
        <p:spPr>
          <a:xfrm>
            <a:off x="5080000" y="2317025"/>
            <a:ext cx="15875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Labels + Synthetic Holes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0A2C7CC-6022-3D63-01D1-781DD4AD29C6}"/>
              </a:ext>
            </a:extLst>
          </p:cNvPr>
          <p:cNvCxnSpPr/>
          <p:nvPr/>
        </p:nvCxnSpPr>
        <p:spPr>
          <a:xfrm flipH="1">
            <a:off x="4724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1015">
            <a:extLst>
              <a:ext uri="{FF2B5EF4-FFF2-40B4-BE49-F238E27FC236}">
                <a16:creationId xmlns:a16="http://schemas.microsoft.com/office/drawing/2014/main" id="{B94A5EDE-AF04-2A6B-270D-E47AA608C6A0}"/>
              </a:ext>
            </a:extLst>
          </p:cNvPr>
          <p:cNvSpPr/>
          <p:nvPr/>
        </p:nvSpPr>
        <p:spPr>
          <a:xfrm>
            <a:off x="27305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FE5191-D3A4-FFC9-E029-71ED72250634}"/>
              </a:ext>
            </a:extLst>
          </p:cNvPr>
          <p:cNvSpPr txBox="1"/>
          <p:nvPr/>
        </p:nvSpPr>
        <p:spPr>
          <a:xfrm>
            <a:off x="28575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Chronological Split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21EE1FC-E8F0-8789-4ED6-9BB7D2D8F7C2}"/>
              </a:ext>
            </a:extLst>
          </p:cNvPr>
          <p:cNvCxnSpPr/>
          <p:nvPr/>
        </p:nvCxnSpPr>
        <p:spPr>
          <a:xfrm flipH="1">
            <a:off x="2501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1016">
            <a:extLst>
              <a:ext uri="{FF2B5EF4-FFF2-40B4-BE49-F238E27FC236}">
                <a16:creationId xmlns:a16="http://schemas.microsoft.com/office/drawing/2014/main" id="{6F1D4033-5CAD-2277-4329-917E2E86B9B8}"/>
              </a:ext>
            </a:extLst>
          </p:cNvPr>
          <p:cNvSpPr/>
          <p:nvPr/>
        </p:nvSpPr>
        <p:spPr>
          <a:xfrm>
            <a:off x="508000" y="1955800"/>
            <a:ext cx="1841500" cy="1701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FD6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AF58CB-5B42-DA28-176F-97BFE811C868}"/>
              </a:ext>
            </a:extLst>
          </p:cNvPr>
          <p:cNvSpPr txBox="1"/>
          <p:nvPr/>
        </p:nvSpPr>
        <p:spPr>
          <a:xfrm>
            <a:off x="63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Training &amp; Evaluation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836011-9F33-B6F9-388B-7CC0D7CECDDC}"/>
              </a:ext>
            </a:extLst>
          </p:cNvPr>
          <p:cNvSpPr txBox="1"/>
          <p:nvPr/>
        </p:nvSpPr>
        <p:spPr>
          <a:xfrm>
            <a:off x="9626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800F31-8916-D964-9A31-75F26D8EF342}"/>
              </a:ext>
            </a:extLst>
          </p:cNvPr>
          <p:cNvSpPr txBox="1"/>
          <p:nvPr/>
        </p:nvSpPr>
        <p:spPr>
          <a:xfrm>
            <a:off x="5181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D10FD1-5F57-5935-5036-88A54972595E}"/>
              </a:ext>
            </a:extLst>
          </p:cNvPr>
          <p:cNvSpPr txBox="1"/>
          <p:nvPr/>
        </p:nvSpPr>
        <p:spPr>
          <a:xfrm>
            <a:off x="29337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7DF201-5C41-E21D-F33C-47E5064BD7B3}"/>
              </a:ext>
            </a:extLst>
          </p:cNvPr>
          <p:cNvSpPr txBox="1"/>
          <p:nvPr/>
        </p:nvSpPr>
        <p:spPr>
          <a:xfrm>
            <a:off x="9423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D72FD9-1924-5E40-EC42-7A1400FC1209}"/>
              </a:ext>
            </a:extLst>
          </p:cNvPr>
          <p:cNvSpPr txBox="1"/>
          <p:nvPr/>
        </p:nvSpPr>
        <p:spPr>
          <a:xfrm>
            <a:off x="4978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65A814-F082-CE34-0F9B-4169B08DF4C9}"/>
              </a:ext>
            </a:extLst>
          </p:cNvPr>
          <p:cNvSpPr txBox="1"/>
          <p:nvPr/>
        </p:nvSpPr>
        <p:spPr>
          <a:xfrm>
            <a:off x="27305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total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Shape_1017">
            <a:extLst>
              <a:ext uri="{FF2B5EF4-FFF2-40B4-BE49-F238E27FC236}">
                <a16:creationId xmlns:a16="http://schemas.microsoft.com/office/drawing/2014/main" id="{E05E969C-0218-FC4B-C19C-AF3AE26373E2}"/>
              </a:ext>
            </a:extLst>
          </p:cNvPr>
          <p:cNvSpPr/>
          <p:nvPr/>
        </p:nvSpPr>
        <p:spPr>
          <a:xfrm>
            <a:off x="698500" y="5181600"/>
            <a:ext cx="10795000" cy="774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C0A716-E95B-5500-1E02-03F388DC0494}"/>
              </a:ext>
            </a:extLst>
          </p:cNvPr>
          <p:cNvSpPr txBox="1"/>
          <p:nvPr/>
        </p:nvSpPr>
        <p:spPr>
          <a:xfrm>
            <a:off x="1054100" y="5359648"/>
            <a:ext cx="100838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כל שינוי נשמר ברמת קובץ, והזוג המקורי והסינתטי נשאר באותה חלוקה.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34618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018">
            <a:extLst>
              <a:ext uri="{FF2B5EF4-FFF2-40B4-BE49-F238E27FC236}">
                <a16:creationId xmlns:a16="http://schemas.microsoft.com/office/drawing/2014/main" id="{07E6D9E0-613A-20C3-B824-8E3E3DF241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019">
            <a:extLst>
              <a:ext uri="{FF2B5EF4-FFF2-40B4-BE49-F238E27FC236}">
                <a16:creationId xmlns:a16="http://schemas.microsoft.com/office/drawing/2014/main" id="{14DDEA5D-30B4-C6ED-6B7F-4DD0DD7BDBC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1C27A5-258D-E8A0-0AB2-12C9BE60AEAC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מערך הנתונים: כרונולוגי, מאוזן בזוגות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207627-4DC5-51A3-2A50-B2AC0DF58FD8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4AD1E4-B90E-E524-A5A8-391D14715DA8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EA3F3FA-B8F1-4A75-613F-27FE8C24026C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05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F13CF7-D111-DB2E-53B1-09772E181DE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71600"/>
            <a:ext cx="4953000" cy="4432300"/>
          </a:xfrm>
          <a:prstGeom prst="rect">
            <a:avLst/>
          </a:prstGeom>
        </p:spPr>
      </p:pic>
      <p:sp>
        <p:nvSpPr>
          <p:cNvPr id="12" name="Shape_1020">
            <a:extLst>
              <a:ext uri="{FF2B5EF4-FFF2-40B4-BE49-F238E27FC236}">
                <a16:creationId xmlns:a16="http://schemas.microsoft.com/office/drawing/2014/main" id="{35DC1B9F-E347-1DE8-40CF-51C022EB5134}"/>
              </a:ext>
            </a:extLst>
          </p:cNvPr>
          <p:cNvSpPr/>
          <p:nvPr/>
        </p:nvSpPr>
        <p:spPr>
          <a:xfrm>
            <a:off x="6261100" y="1447800"/>
            <a:ext cx="52324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1021">
            <a:extLst>
              <a:ext uri="{FF2B5EF4-FFF2-40B4-BE49-F238E27FC236}">
                <a16:creationId xmlns:a16="http://schemas.microsoft.com/office/drawing/2014/main" id="{47CCC9BA-6C6C-518B-5311-842AC22BC33C}"/>
              </a:ext>
            </a:extLst>
          </p:cNvPr>
          <p:cNvSpPr/>
          <p:nvPr/>
        </p:nvSpPr>
        <p:spPr>
          <a:xfrm>
            <a:off x="11404600" y="1447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1B18352-0E8D-614E-6C8A-237878AA077A}"/>
              </a:ext>
            </a:extLst>
          </p:cNvPr>
          <p:cNvSpPr txBox="1"/>
          <p:nvPr/>
        </p:nvSpPr>
        <p:spPr>
          <a:xfrm>
            <a:off x="6464300" y="15285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5,903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46766E-8149-A5F1-5239-4B727333D556}"/>
              </a:ext>
            </a:extLst>
          </p:cNvPr>
          <p:cNvSpPr txBox="1"/>
          <p:nvPr/>
        </p:nvSpPr>
        <p:spPr>
          <a:xfrm>
            <a:off x="6464300" y="21800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raw candidates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Shape_1022">
            <a:extLst>
              <a:ext uri="{FF2B5EF4-FFF2-40B4-BE49-F238E27FC236}">
                <a16:creationId xmlns:a16="http://schemas.microsoft.com/office/drawing/2014/main" id="{ED8C61E5-6036-35B3-A5B1-F3A5F9E52801}"/>
              </a:ext>
            </a:extLst>
          </p:cNvPr>
          <p:cNvSpPr/>
          <p:nvPr/>
        </p:nvSpPr>
        <p:spPr>
          <a:xfrm>
            <a:off x="6261100" y="2705100"/>
            <a:ext cx="52324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Shape_1023">
            <a:extLst>
              <a:ext uri="{FF2B5EF4-FFF2-40B4-BE49-F238E27FC236}">
                <a16:creationId xmlns:a16="http://schemas.microsoft.com/office/drawing/2014/main" id="{33DF2D64-58A7-C2CE-5827-D530F43E5F81}"/>
              </a:ext>
            </a:extLst>
          </p:cNvPr>
          <p:cNvSpPr/>
          <p:nvPr/>
        </p:nvSpPr>
        <p:spPr>
          <a:xfrm>
            <a:off x="11404600" y="27051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EB25FC-FFAC-6C30-030D-32DBEDBBB663}"/>
              </a:ext>
            </a:extLst>
          </p:cNvPr>
          <p:cNvSpPr txBox="1"/>
          <p:nvPr/>
        </p:nvSpPr>
        <p:spPr>
          <a:xfrm>
            <a:off x="6464300" y="27858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2,843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F4C955-0152-CA70-5A29-430FFACA3031}"/>
              </a:ext>
            </a:extLst>
          </p:cNvPr>
          <p:cNvSpPr txBox="1"/>
          <p:nvPr/>
        </p:nvSpPr>
        <p:spPr>
          <a:xfrm>
            <a:off x="6464300" y="34373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weak-labeled real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1024">
            <a:extLst>
              <a:ext uri="{FF2B5EF4-FFF2-40B4-BE49-F238E27FC236}">
                <a16:creationId xmlns:a16="http://schemas.microsoft.com/office/drawing/2014/main" id="{539B3251-B596-191F-EE15-61A106CBCF54}"/>
              </a:ext>
            </a:extLst>
          </p:cNvPr>
          <p:cNvSpPr/>
          <p:nvPr/>
        </p:nvSpPr>
        <p:spPr>
          <a:xfrm>
            <a:off x="6261100" y="3962400"/>
            <a:ext cx="52324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Shape_1025">
            <a:extLst>
              <a:ext uri="{FF2B5EF4-FFF2-40B4-BE49-F238E27FC236}">
                <a16:creationId xmlns:a16="http://schemas.microsoft.com/office/drawing/2014/main" id="{B6583C4E-9E0A-C85D-9AAE-4B317A340BE5}"/>
              </a:ext>
            </a:extLst>
          </p:cNvPr>
          <p:cNvSpPr/>
          <p:nvPr/>
        </p:nvSpPr>
        <p:spPr>
          <a:xfrm>
            <a:off x="11404600" y="39624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D71EEFF-ED91-423C-82A0-9ED8AE3EAC47}"/>
              </a:ext>
            </a:extLst>
          </p:cNvPr>
          <p:cNvSpPr txBox="1"/>
          <p:nvPr/>
        </p:nvSpPr>
        <p:spPr>
          <a:xfrm>
            <a:off x="6464300" y="40431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5,500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23B94F-C1EE-69F2-FE64-9C970B4A1BCF}"/>
              </a:ext>
            </a:extLst>
          </p:cNvPr>
          <p:cNvSpPr txBox="1"/>
          <p:nvPr/>
        </p:nvSpPr>
        <p:spPr>
          <a:xfrm>
            <a:off x="6464300" y="46946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after synthetic holes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51F8D8-5E67-4DA1-FF43-A991F2BF3F97}"/>
              </a:ext>
            </a:extLst>
          </p:cNvPr>
          <p:cNvSpPr txBox="1"/>
          <p:nvPr/>
        </p:nvSpPr>
        <p:spPr>
          <a:xfrm>
            <a:off x="6261100" y="5408131"/>
            <a:ext cx="52324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train 3,873    validation 830    test 797</a:t>
            </a:r>
            <a:endParaRPr lang="en-IL" sz="16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69256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026">
            <a:extLst>
              <a:ext uri="{FF2B5EF4-FFF2-40B4-BE49-F238E27FC236}">
                <a16:creationId xmlns:a16="http://schemas.microsoft.com/office/drawing/2014/main" id="{05A0201E-A46C-CA02-263F-BCD0DF9DE6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027">
            <a:extLst>
              <a:ext uri="{FF2B5EF4-FFF2-40B4-BE49-F238E27FC236}">
                <a16:creationId xmlns:a16="http://schemas.microsoft.com/office/drawing/2014/main" id="{8ABD7509-6669-94C7-089F-1FBC5FAEA10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A5721-45BC-5DD6-D4AA-DC8453C48A34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יצירת חוסרים סינתטיים בתוך אזור השינוי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81314-97B4-E4CA-BD31-7AD324F19891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2D7DFFA-F03D-D6BA-39A8-AF953135A264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5A6E63-7FBE-B71E-22CD-9A2E9E44DA9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06 / 14</a:t>
            </a:r>
          </a:p>
        </p:txBody>
      </p:sp>
      <p:sp>
        <p:nvSpPr>
          <p:cNvPr id="10" name="Shape_1028">
            <a:extLst>
              <a:ext uri="{FF2B5EF4-FFF2-40B4-BE49-F238E27FC236}">
                <a16:creationId xmlns:a16="http://schemas.microsoft.com/office/drawing/2014/main" id="{10E381CB-B063-5CA2-CCD8-EDF9141019F7}"/>
              </a:ext>
            </a:extLst>
          </p:cNvPr>
          <p:cNvSpPr/>
          <p:nvPr/>
        </p:nvSpPr>
        <p:spPr>
          <a:xfrm>
            <a:off x="6413500" y="1498600"/>
            <a:ext cx="5080000" cy="3238500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rgbClr val="0B1F33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7DB048-B2C9-5DFC-2DBC-A3FE400F0750}"/>
              </a:ext>
            </a:extLst>
          </p:cNvPr>
          <p:cNvSpPr txBox="1"/>
          <p:nvPr/>
        </p:nvSpPr>
        <p:spPr>
          <a:xfrm>
            <a:off x="6794500" y="1740519"/>
            <a:ext cx="1778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4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COMPLETE</a:t>
            </a:r>
            <a:endParaRPr lang="en-IL" sz="14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8F0186-CB61-FA44-067A-AD0064499682}"/>
              </a:ext>
            </a:extLst>
          </p:cNvPr>
          <p:cNvSpPr txBox="1"/>
          <p:nvPr/>
        </p:nvSpPr>
        <p:spPr>
          <a:xfrm>
            <a:off x="6794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  valid_d = 1'b1;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3" name="Shape_1029">
            <a:extLst>
              <a:ext uri="{FF2B5EF4-FFF2-40B4-BE49-F238E27FC236}">
                <a16:creationId xmlns:a16="http://schemas.microsoft.com/office/drawing/2014/main" id="{F75CF33B-C728-9B3A-A0E6-B81658C74DEB}"/>
              </a:ext>
            </a:extLst>
          </p:cNvPr>
          <p:cNvSpPr/>
          <p:nvPr/>
        </p:nvSpPr>
        <p:spPr>
          <a:xfrm>
            <a:off x="698500" y="1498600"/>
            <a:ext cx="5080000" cy="3238500"/>
          </a:xfrm>
          <a:prstGeom prst="rect">
            <a:avLst/>
          </a:prstGeom>
          <a:solidFill>
            <a:srgbClr val="262F3E"/>
          </a:solidFill>
          <a:ln w="0" cap="flat" cmpd="sng" algn="ctr">
            <a:solidFill>
              <a:srgbClr val="262F3E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A88400-370E-E0B6-094B-8AE172654733}"/>
              </a:ext>
            </a:extLst>
          </p:cNvPr>
          <p:cNvSpPr txBox="1"/>
          <p:nvPr/>
        </p:nvSpPr>
        <p:spPr>
          <a:xfrm>
            <a:off x="1079500" y="1740519"/>
            <a:ext cx="2667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HOLE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934DC-F655-F192-58E6-56C60452F605}"/>
              </a:ext>
            </a:extLst>
          </p:cNvPr>
          <p:cNvSpPr txBox="1"/>
          <p:nvPr/>
        </p:nvSpPr>
        <p:spPr>
          <a:xfrm>
            <a:off x="1079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AF13038-B243-F04F-440C-F6DC5D279BBE}"/>
              </a:ext>
            </a:extLst>
          </p:cNvPr>
          <p:cNvCxnSpPr/>
          <p:nvPr/>
        </p:nvCxnSpPr>
        <p:spPr>
          <a:xfrm flipH="1">
            <a:off x="6286500" y="3111500"/>
            <a:ext cx="381000" cy="0"/>
          </a:xfrm>
          <a:prstGeom prst="line">
            <a:avLst/>
          </a:prstGeom>
          <a:ln w="381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59FD8B-DEA1-79FD-3D1A-C5B36B70A66B}"/>
              </a:ext>
            </a:extLst>
          </p:cNvPr>
          <p:cNvSpPr txBox="1"/>
          <p:nvPr/>
        </p:nvSpPr>
        <p:spPr>
          <a:xfrm>
            <a:off x="4279900" y="4979476"/>
            <a:ext cx="36195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F7369F-8D01-9DCC-DD15-B16A758E8DEC}"/>
              </a:ext>
            </a:extLst>
          </p:cNvPr>
          <p:cNvSpPr txBox="1"/>
          <p:nvPr/>
        </p:nvSpPr>
        <p:spPr>
          <a:xfrm>
            <a:off x="4470400" y="5330815"/>
            <a:ext cx="3238500" cy="5027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1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CC8B59-D85F-6CEA-BCFB-BC6458B04DDC}"/>
              </a:ext>
            </a:extLst>
          </p:cNvPr>
          <p:cNvSpPr txBox="1"/>
          <p:nvPr/>
        </p:nvSpPr>
        <p:spPr>
          <a:xfrm>
            <a:off x="4330700" y="6048508"/>
            <a:ext cx="35306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of test synthetic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08510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030">
            <a:extLst>
              <a:ext uri="{FF2B5EF4-FFF2-40B4-BE49-F238E27FC236}">
                <a16:creationId xmlns:a16="http://schemas.microsoft.com/office/drawing/2014/main" id="{BBBD5F7F-6647-5631-FAC4-A921B907615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031">
            <a:extLst>
              <a:ext uri="{FF2B5EF4-FFF2-40B4-BE49-F238E27FC236}">
                <a16:creationId xmlns:a16="http://schemas.microsoft.com/office/drawing/2014/main" id="{5007C38F-8C86-693D-1139-34643F42217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64AB6C-FF35-7D86-1660-B6F60AB8D804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השוואת ארבע משפחות מודלים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F3CD3D-6E8C-FEEF-00F8-C6DF96858DF0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AD6C98-DF5A-8C8B-CC14-3F86C674E424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C34B765-1D51-E56B-0732-93A279658FE6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07 / 14</a:t>
            </a:r>
          </a:p>
        </p:txBody>
      </p:sp>
      <p:sp>
        <p:nvSpPr>
          <p:cNvPr id="10" name="Shape_1032">
            <a:extLst>
              <a:ext uri="{FF2B5EF4-FFF2-40B4-BE49-F238E27FC236}">
                <a16:creationId xmlns:a16="http://schemas.microsoft.com/office/drawing/2014/main" id="{F566DCF5-4565-E8F1-0342-C23EFC585E9E}"/>
              </a:ext>
            </a:extLst>
          </p:cNvPr>
          <p:cNvSpPr/>
          <p:nvPr/>
        </p:nvSpPr>
        <p:spPr>
          <a:xfrm>
            <a:off x="9080500" y="1524000"/>
            <a:ext cx="2413000" cy="30226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DCF572-E752-DA92-EAE4-B5D8337332A2}"/>
              </a:ext>
            </a:extLst>
          </p:cNvPr>
          <p:cNvSpPr txBox="1"/>
          <p:nvPr/>
        </p:nvSpPr>
        <p:spPr>
          <a:xfrm>
            <a:off x="9309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F5C531-3D32-56BF-F394-D7DC7B99DC49}"/>
              </a:ext>
            </a:extLst>
          </p:cNvPr>
          <p:cNvSpPr txBox="1"/>
          <p:nvPr/>
        </p:nvSpPr>
        <p:spPr>
          <a:xfrm>
            <a:off x="9309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TF-IDF + Logistic Regression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1BF2C0-35EB-CC0A-1358-10736F16038B}"/>
              </a:ext>
            </a:extLst>
          </p:cNvPr>
          <p:cNvSpPr txBox="1"/>
          <p:nvPr/>
        </p:nvSpPr>
        <p:spPr>
          <a:xfrm>
            <a:off x="9309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sparse lexical features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1033">
            <a:extLst>
              <a:ext uri="{FF2B5EF4-FFF2-40B4-BE49-F238E27FC236}">
                <a16:creationId xmlns:a16="http://schemas.microsoft.com/office/drawing/2014/main" id="{89C18DD4-F523-44BB-88AB-E79AB5543A06}"/>
              </a:ext>
            </a:extLst>
          </p:cNvPr>
          <p:cNvSpPr/>
          <p:nvPr/>
        </p:nvSpPr>
        <p:spPr>
          <a:xfrm>
            <a:off x="6286500" y="1524000"/>
            <a:ext cx="2413000" cy="30226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58FC7E-5AAE-6C21-EA70-E5393C332E4F}"/>
              </a:ext>
            </a:extLst>
          </p:cNvPr>
          <p:cNvSpPr txBox="1"/>
          <p:nvPr/>
        </p:nvSpPr>
        <p:spPr>
          <a:xfrm>
            <a:off x="6515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71FC8C-D5D0-4F3A-7B38-A5C56801B75A}"/>
              </a:ext>
            </a:extLst>
          </p:cNvPr>
          <p:cNvSpPr txBox="1"/>
          <p:nvPr/>
        </p:nvSpPr>
        <p:spPr>
          <a:xfrm>
            <a:off x="6515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MLP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5C3B97-FC71-F952-3E46-FB52CB9FC833}"/>
              </a:ext>
            </a:extLst>
          </p:cNvPr>
          <p:cNvSpPr txBox="1"/>
          <p:nvPr/>
        </p:nvSpPr>
        <p:spPr>
          <a:xfrm>
            <a:off x="6515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pooled token embeddings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1034">
            <a:extLst>
              <a:ext uri="{FF2B5EF4-FFF2-40B4-BE49-F238E27FC236}">
                <a16:creationId xmlns:a16="http://schemas.microsoft.com/office/drawing/2014/main" id="{832795C1-42FD-A4E0-A5A3-05C3E7527632}"/>
              </a:ext>
            </a:extLst>
          </p:cNvPr>
          <p:cNvSpPr/>
          <p:nvPr/>
        </p:nvSpPr>
        <p:spPr>
          <a:xfrm>
            <a:off x="3492500" y="1524000"/>
            <a:ext cx="2413000" cy="30226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DEDE28-42AC-8D40-51EB-EBF8CBCFD236}"/>
              </a:ext>
            </a:extLst>
          </p:cNvPr>
          <p:cNvSpPr txBox="1"/>
          <p:nvPr/>
        </p:nvSpPr>
        <p:spPr>
          <a:xfrm>
            <a:off x="3721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BEDDFB-D8EB-E22C-6561-2945B320CCC6}"/>
              </a:ext>
            </a:extLst>
          </p:cNvPr>
          <p:cNvSpPr txBox="1"/>
          <p:nvPr/>
        </p:nvSpPr>
        <p:spPr>
          <a:xfrm>
            <a:off x="3721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BiGRU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1FDCE3-FD8F-F87D-C05F-A2BA90EDD91F}"/>
              </a:ext>
            </a:extLst>
          </p:cNvPr>
          <p:cNvSpPr txBox="1"/>
          <p:nvPr/>
        </p:nvSpPr>
        <p:spPr>
          <a:xfrm>
            <a:off x="3721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flat sequence encoder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Shape_1035">
            <a:extLst>
              <a:ext uri="{FF2B5EF4-FFF2-40B4-BE49-F238E27FC236}">
                <a16:creationId xmlns:a16="http://schemas.microsoft.com/office/drawing/2014/main" id="{751E9010-D05A-7C20-C608-75DC48469EDD}"/>
              </a:ext>
            </a:extLst>
          </p:cNvPr>
          <p:cNvSpPr/>
          <p:nvPr/>
        </p:nvSpPr>
        <p:spPr>
          <a:xfrm>
            <a:off x="698500" y="1524000"/>
            <a:ext cx="2413000" cy="30226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E65D87-C236-CD26-D079-8931E123ACF1}"/>
              </a:ext>
            </a:extLst>
          </p:cNvPr>
          <p:cNvSpPr txBox="1"/>
          <p:nvPr/>
        </p:nvSpPr>
        <p:spPr>
          <a:xfrm>
            <a:off x="927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4B452E-F4FE-7E82-08EC-B190F8D9C1C4}"/>
              </a:ext>
            </a:extLst>
          </p:cNvPr>
          <p:cNvSpPr txBox="1"/>
          <p:nvPr/>
        </p:nvSpPr>
        <p:spPr>
          <a:xfrm>
            <a:off x="927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Hierarchical Transformer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8C2E27-EDA0-573D-681C-EBB4919DAE40}"/>
              </a:ext>
            </a:extLst>
          </p:cNvPr>
          <p:cNvSpPr txBox="1"/>
          <p:nvPr/>
        </p:nvSpPr>
        <p:spPr>
          <a:xfrm>
            <a:off x="927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encoder + diff structure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Shape_1036">
            <a:extLst>
              <a:ext uri="{FF2B5EF4-FFF2-40B4-BE49-F238E27FC236}">
                <a16:creationId xmlns:a16="http://schemas.microsoft.com/office/drawing/2014/main" id="{38AF3FA7-3FC1-2BB1-292C-D6EF29DFA57A}"/>
              </a:ext>
            </a:extLst>
          </p:cNvPr>
          <p:cNvSpPr/>
          <p:nvPr/>
        </p:nvSpPr>
        <p:spPr>
          <a:xfrm>
            <a:off x="698500" y="4927600"/>
            <a:ext cx="10795000" cy="10287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740E5E3-5301-4871-3CF0-727629745033}"/>
              </a:ext>
            </a:extLst>
          </p:cNvPr>
          <p:cNvSpPr txBox="1"/>
          <p:nvPr/>
        </p:nvSpPr>
        <p:spPr>
          <a:xfrm>
            <a:off x="990600" y="5067548"/>
            <a:ext cx="101219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אותו ייצוג משמש לשתי המשימות באמצעות </a:t>
            </a:r>
            <a:r>
              <a:rPr lang="en-US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⁦Multi-task head⁩ </a:t>
            </a:r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וכל משימה מקבלת פלט נפרד.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52300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037">
            <a:extLst>
              <a:ext uri="{FF2B5EF4-FFF2-40B4-BE49-F238E27FC236}">
                <a16:creationId xmlns:a16="http://schemas.microsoft.com/office/drawing/2014/main" id="{F9280F6B-FC27-7F00-763F-D7AA8F31E67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038">
            <a:extLst>
              <a:ext uri="{FF2B5EF4-FFF2-40B4-BE49-F238E27FC236}">
                <a16:creationId xmlns:a16="http://schemas.microsoft.com/office/drawing/2014/main" id="{33BED050-04A2-4615-8A4C-2E84EA3098A7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CD967D-814A-4444-0FCA-92BA5051B71E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הארכיטקטורה ההיררכית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E5EF9B-7669-930A-0480-8F09DFB71ADB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D634F01-88D6-B347-12AE-18FBF2E2183D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A3CE3BF-612F-5D86-2EEC-A13677AE3440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08 / 14</a:t>
            </a:r>
          </a:p>
        </p:txBody>
      </p:sp>
      <p:sp>
        <p:nvSpPr>
          <p:cNvPr id="10" name="Shape_1039">
            <a:extLst>
              <a:ext uri="{FF2B5EF4-FFF2-40B4-BE49-F238E27FC236}">
                <a16:creationId xmlns:a16="http://schemas.microsoft.com/office/drawing/2014/main" id="{596D7676-DD32-9132-C6B9-04751AD4268D}"/>
              </a:ext>
            </a:extLst>
          </p:cNvPr>
          <p:cNvSpPr/>
          <p:nvPr/>
        </p:nvSpPr>
        <p:spPr>
          <a:xfrm>
            <a:off x="9334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87C43F-442C-D06A-691B-C10139AC6284}"/>
              </a:ext>
            </a:extLst>
          </p:cNvPr>
          <p:cNvSpPr txBox="1"/>
          <p:nvPr/>
        </p:nvSpPr>
        <p:spPr>
          <a:xfrm>
            <a:off x="9486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Typed Diff Lines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833B18-041F-761B-8DB4-E17D36D7B3D9}"/>
              </a:ext>
            </a:extLst>
          </p:cNvPr>
          <p:cNvCxnSpPr/>
          <p:nvPr/>
        </p:nvCxnSpPr>
        <p:spPr>
          <a:xfrm flipH="1">
            <a:off x="9296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1040">
            <a:extLst>
              <a:ext uri="{FF2B5EF4-FFF2-40B4-BE49-F238E27FC236}">
                <a16:creationId xmlns:a16="http://schemas.microsoft.com/office/drawing/2014/main" id="{A0D34CD5-B37C-3A74-1902-80B4C7C05FF1}"/>
              </a:ext>
            </a:extLst>
          </p:cNvPr>
          <p:cNvSpPr/>
          <p:nvPr/>
        </p:nvSpPr>
        <p:spPr>
          <a:xfrm>
            <a:off x="7175500" y="1955800"/>
            <a:ext cx="1905000" cy="16764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5DAAB1-6D7B-D554-55BE-E3F5007CD4B1}"/>
              </a:ext>
            </a:extLst>
          </p:cNvPr>
          <p:cNvSpPr txBox="1"/>
          <p:nvPr/>
        </p:nvSpPr>
        <p:spPr>
          <a:xfrm>
            <a:off x="7327900" y="2304325"/>
            <a:ext cx="16002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Token Embedding + BiGRU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93EC4EB-8A5A-FAEB-208E-5C1525260534}"/>
              </a:ext>
            </a:extLst>
          </p:cNvPr>
          <p:cNvCxnSpPr/>
          <p:nvPr/>
        </p:nvCxnSpPr>
        <p:spPr>
          <a:xfrm flipH="1">
            <a:off x="7137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1041">
            <a:extLst>
              <a:ext uri="{FF2B5EF4-FFF2-40B4-BE49-F238E27FC236}">
                <a16:creationId xmlns:a16="http://schemas.microsoft.com/office/drawing/2014/main" id="{2D975275-F0C2-2155-3142-25F534E2A1B0}"/>
              </a:ext>
            </a:extLst>
          </p:cNvPr>
          <p:cNvSpPr/>
          <p:nvPr/>
        </p:nvSpPr>
        <p:spPr>
          <a:xfrm>
            <a:off x="5016500" y="1955800"/>
            <a:ext cx="1905000" cy="16764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84A1E0-5A4D-E860-C3B9-71B9F5C63F52}"/>
              </a:ext>
            </a:extLst>
          </p:cNvPr>
          <p:cNvSpPr txBox="1"/>
          <p:nvPr/>
        </p:nvSpPr>
        <p:spPr>
          <a:xfrm>
            <a:off x="5168900" y="2288936"/>
            <a:ext cx="16002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Line Vector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039645-E691-448B-A498-1F16C4EA25D7}"/>
              </a:ext>
            </a:extLst>
          </p:cNvPr>
          <p:cNvCxnSpPr/>
          <p:nvPr/>
        </p:nvCxnSpPr>
        <p:spPr>
          <a:xfrm flipH="1">
            <a:off x="4978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hape_1042">
            <a:extLst>
              <a:ext uri="{FF2B5EF4-FFF2-40B4-BE49-F238E27FC236}">
                <a16:creationId xmlns:a16="http://schemas.microsoft.com/office/drawing/2014/main" id="{6E7A6E7A-21C6-78E9-0DEE-C5ECE8BB3BA7}"/>
              </a:ext>
            </a:extLst>
          </p:cNvPr>
          <p:cNvSpPr/>
          <p:nvPr/>
        </p:nvSpPr>
        <p:spPr>
          <a:xfrm>
            <a:off x="2857500" y="1955800"/>
            <a:ext cx="1905000" cy="1676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D094AC-C24C-759C-1257-D5FCD5F04A45}"/>
              </a:ext>
            </a:extLst>
          </p:cNvPr>
          <p:cNvSpPr txBox="1"/>
          <p:nvPr/>
        </p:nvSpPr>
        <p:spPr>
          <a:xfrm>
            <a:off x="3009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Transformer Encoder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BD2E78-0017-492F-7A08-57AA6CF1B34E}"/>
              </a:ext>
            </a:extLst>
          </p:cNvPr>
          <p:cNvCxnSpPr/>
          <p:nvPr/>
        </p:nvCxnSpPr>
        <p:spPr>
          <a:xfrm flipH="1">
            <a:off x="2819400" y="2794000"/>
            <a:ext cx="1778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hape_1043">
            <a:extLst>
              <a:ext uri="{FF2B5EF4-FFF2-40B4-BE49-F238E27FC236}">
                <a16:creationId xmlns:a16="http://schemas.microsoft.com/office/drawing/2014/main" id="{13D6EC48-A164-E644-818A-60B708B11DAA}"/>
              </a:ext>
            </a:extLst>
          </p:cNvPr>
          <p:cNvSpPr/>
          <p:nvPr/>
        </p:nvSpPr>
        <p:spPr>
          <a:xfrm>
            <a:off x="698500" y="1955800"/>
            <a:ext cx="1905000" cy="16764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A62984-B585-1D96-CA0D-D08D536BC5DF}"/>
              </a:ext>
            </a:extLst>
          </p:cNvPr>
          <p:cNvSpPr txBox="1"/>
          <p:nvPr/>
        </p:nvSpPr>
        <p:spPr>
          <a:xfrm>
            <a:off x="850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Head
Hole Head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47784B-8371-56E1-0B05-0103140F75DD}"/>
              </a:ext>
            </a:extLst>
          </p:cNvPr>
          <p:cNvSpPr txBox="1"/>
          <p:nvPr/>
        </p:nvSpPr>
        <p:spPr>
          <a:xfrm>
            <a:off x="9410700" y="3996486"/>
            <a:ext cx="17526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ADD   DEL   CONTEXT</a:t>
            </a:r>
            <a:endParaRPr lang="en-IL" sz="13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5" name="Shape_1044">
            <a:extLst>
              <a:ext uri="{FF2B5EF4-FFF2-40B4-BE49-F238E27FC236}">
                <a16:creationId xmlns:a16="http://schemas.microsoft.com/office/drawing/2014/main" id="{8788D3D4-AEC1-B8C4-AF80-F09E863ECC34}"/>
              </a:ext>
            </a:extLst>
          </p:cNvPr>
          <p:cNvSpPr/>
          <p:nvPr/>
        </p:nvSpPr>
        <p:spPr>
          <a:xfrm>
            <a:off x="698500" y="4673600"/>
            <a:ext cx="10795000" cy="11557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F77F68-DE51-FE82-BAF6-6BE20950B940}"/>
              </a:ext>
            </a:extLst>
          </p:cNvPr>
          <p:cNvSpPr txBox="1"/>
          <p:nvPr/>
        </p:nvSpPr>
        <p:spPr>
          <a:xfrm>
            <a:off x="990600" y="4882053"/>
            <a:ext cx="101219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הייצוג </a:t>
            </a:r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⁦line-type embedding⁩ </a:t>
            </a:r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מוסיף מידע מפורש על תפקיד כל שורה בתוך השינוי.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78140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045">
            <a:extLst>
              <a:ext uri="{FF2B5EF4-FFF2-40B4-BE49-F238E27FC236}">
                <a16:creationId xmlns:a16="http://schemas.microsoft.com/office/drawing/2014/main" id="{990EF7B1-6C25-B711-02BB-D64615BE13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046">
            <a:extLst>
              <a:ext uri="{FF2B5EF4-FFF2-40B4-BE49-F238E27FC236}">
                <a16:creationId xmlns:a16="http://schemas.microsoft.com/office/drawing/2014/main" id="{91B1563D-57E1-3866-CF48-522BE6C3343C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0D3A63-3D94-21B3-1F5C-157763814C2A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סיווג המטרה: המודל הפשוט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84D954-5AD2-37ED-821E-A0EAD62D4B12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650704E-3852-29B7-66DF-130722E61A9E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498CD21-1925-9C05-7AC7-8B27CA962180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09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45A0A8-ABEA-1A3C-4683-A64CE089CEF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25600"/>
            <a:ext cx="7239000" cy="4241800"/>
          </a:xfrm>
          <a:prstGeom prst="rect">
            <a:avLst/>
          </a:prstGeom>
        </p:spPr>
      </p:pic>
      <p:sp>
        <p:nvSpPr>
          <p:cNvPr id="12" name="Shape_1047">
            <a:extLst>
              <a:ext uri="{FF2B5EF4-FFF2-40B4-BE49-F238E27FC236}">
                <a16:creationId xmlns:a16="http://schemas.microsoft.com/office/drawing/2014/main" id="{F4598162-3B9A-F7B3-6DA2-36CA17924C07}"/>
              </a:ext>
            </a:extLst>
          </p:cNvPr>
          <p:cNvSpPr/>
          <p:nvPr/>
        </p:nvSpPr>
        <p:spPr>
          <a:xfrm>
            <a:off x="8343900" y="1739900"/>
            <a:ext cx="31496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1048">
            <a:extLst>
              <a:ext uri="{FF2B5EF4-FFF2-40B4-BE49-F238E27FC236}">
                <a16:creationId xmlns:a16="http://schemas.microsoft.com/office/drawing/2014/main" id="{E17F6F2E-376F-45E2-FDD8-DE68AC9D17B1}"/>
              </a:ext>
            </a:extLst>
          </p:cNvPr>
          <p:cNvSpPr/>
          <p:nvPr/>
        </p:nvSpPr>
        <p:spPr>
          <a:xfrm>
            <a:off x="11404600" y="17399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5AA68C-D42F-A96A-EB60-490C3C4B6B69}"/>
              </a:ext>
            </a:extLst>
          </p:cNvPr>
          <p:cNvSpPr txBox="1"/>
          <p:nvPr/>
        </p:nvSpPr>
        <p:spPr>
          <a:xfrm>
            <a:off x="8547100" y="1820609"/>
            <a:ext cx="27051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16F100-E95A-BF2C-A830-3421567A610A}"/>
              </a:ext>
            </a:extLst>
          </p:cNvPr>
          <p:cNvSpPr txBox="1"/>
          <p:nvPr/>
        </p:nvSpPr>
        <p:spPr>
          <a:xfrm>
            <a:off x="8547100" y="2472114"/>
            <a:ext cx="27051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test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4BDF4A-EA3D-EC2F-3762-4DD6E444B78F}"/>
              </a:ext>
            </a:extLst>
          </p:cNvPr>
          <p:cNvSpPr txBox="1"/>
          <p:nvPr/>
        </p:nvSpPr>
        <p:spPr>
          <a:xfrm>
            <a:off x="8343900" y="2892787"/>
            <a:ext cx="3149600" cy="125675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קו הבסיס </a:t>
            </a:r>
            <a:r>
              <a:rPr lang="en-US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⁦TF-IDF⁩ </a:t>
            </a:r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השיג את התוצאה הטובה ביותר. האות הלקסיקלי הספיק כדי לעקוף את המודלים העמוקים.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Shape_1049">
            <a:extLst>
              <a:ext uri="{FF2B5EF4-FFF2-40B4-BE49-F238E27FC236}">
                <a16:creationId xmlns:a16="http://schemas.microsoft.com/office/drawing/2014/main" id="{4E30C818-A714-2E1D-9EB4-AE4A0CFE6F82}"/>
              </a:ext>
            </a:extLst>
          </p:cNvPr>
          <p:cNvSpPr/>
          <p:nvPr/>
        </p:nvSpPr>
        <p:spPr>
          <a:xfrm>
            <a:off x="8343900" y="5270500"/>
            <a:ext cx="3149600" cy="5969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2DE11E-145B-0708-4531-D9C4F41303D0}"/>
              </a:ext>
            </a:extLst>
          </p:cNvPr>
          <p:cNvSpPr txBox="1"/>
          <p:nvPr/>
        </p:nvSpPr>
        <p:spPr>
          <a:xfrm>
            <a:off x="8559800" y="5461619"/>
            <a:ext cx="27305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refactor_cleanup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36377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050">
            <a:extLst>
              <a:ext uri="{FF2B5EF4-FFF2-40B4-BE49-F238E27FC236}">
                <a16:creationId xmlns:a16="http://schemas.microsoft.com/office/drawing/2014/main" id="{DE6BE2B5-8C7A-EDF1-9A5D-DE950BDD30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051">
            <a:extLst>
              <a:ext uri="{FF2B5EF4-FFF2-40B4-BE49-F238E27FC236}">
                <a16:creationId xmlns:a16="http://schemas.microsoft.com/office/drawing/2014/main" id="{8DA2A222-73C5-F3E8-C57E-9377EDD0DA8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74F1EF-CDA8-3CC1-7D17-9E285F40B7DD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בדיקת בקרה חושפת דליפה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E573A0-EA89-4A6C-A647-CAB006E5809F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42D22CB-E399-488D-0459-3484375A61F8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C992B5F-B19B-EBB7-D23A-05B150DBF413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10 / 14</a:t>
            </a:r>
          </a:p>
        </p:txBody>
      </p:sp>
      <p:sp>
        <p:nvSpPr>
          <p:cNvPr id="10" name="Shape_1052">
            <a:extLst>
              <a:ext uri="{FF2B5EF4-FFF2-40B4-BE49-F238E27FC236}">
                <a16:creationId xmlns:a16="http://schemas.microsoft.com/office/drawing/2014/main" id="{108B055B-C868-2BD4-386A-BB6B5BE25DA5}"/>
              </a:ext>
            </a:extLst>
          </p:cNvPr>
          <p:cNvSpPr/>
          <p:nvPr/>
        </p:nvSpPr>
        <p:spPr>
          <a:xfrm>
            <a:off x="7747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63A0B0-07C5-9E70-675A-AE1ABFF56FBD}"/>
              </a:ext>
            </a:extLst>
          </p:cNvPr>
          <p:cNvSpPr txBox="1"/>
          <p:nvPr/>
        </p:nvSpPr>
        <p:spPr>
          <a:xfrm>
            <a:off x="7975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commit message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8F268D7-569E-4972-7950-A61795912510}"/>
              </a:ext>
            </a:extLst>
          </p:cNvPr>
          <p:cNvCxnSpPr/>
          <p:nvPr/>
        </p:nvCxnSpPr>
        <p:spPr>
          <a:xfrm flipH="1">
            <a:off x="7620000" y="2565400"/>
            <a:ext cx="2540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hape_1053">
            <a:extLst>
              <a:ext uri="{FF2B5EF4-FFF2-40B4-BE49-F238E27FC236}">
                <a16:creationId xmlns:a16="http://schemas.microsoft.com/office/drawing/2014/main" id="{341E9480-D3A0-2E20-D18F-964A68A7B39B}"/>
              </a:ext>
            </a:extLst>
          </p:cNvPr>
          <p:cNvSpPr/>
          <p:nvPr/>
        </p:nvSpPr>
        <p:spPr>
          <a:xfrm>
            <a:off x="4318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32AB25-4EA7-02DF-FC66-DF2DEEB83848}"/>
              </a:ext>
            </a:extLst>
          </p:cNvPr>
          <p:cNvSpPr txBox="1"/>
          <p:nvPr/>
        </p:nvSpPr>
        <p:spPr>
          <a:xfrm>
            <a:off x="4546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weak label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AC6201-514C-DBAA-306F-3D211F20E9F5}"/>
              </a:ext>
            </a:extLst>
          </p:cNvPr>
          <p:cNvCxnSpPr/>
          <p:nvPr/>
        </p:nvCxnSpPr>
        <p:spPr>
          <a:xfrm flipH="1">
            <a:off x="4191000" y="2565400"/>
            <a:ext cx="2540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_1054">
            <a:extLst>
              <a:ext uri="{FF2B5EF4-FFF2-40B4-BE49-F238E27FC236}">
                <a16:creationId xmlns:a16="http://schemas.microsoft.com/office/drawing/2014/main" id="{2775E41C-46FC-900D-5E7C-183BB64C396E}"/>
              </a:ext>
            </a:extLst>
          </p:cNvPr>
          <p:cNvSpPr/>
          <p:nvPr/>
        </p:nvSpPr>
        <p:spPr>
          <a:xfrm>
            <a:off x="889000" y="1968500"/>
            <a:ext cx="2921000" cy="11938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6897A8-C884-EBF9-5A59-21EFD428E04E}"/>
              </a:ext>
            </a:extLst>
          </p:cNvPr>
          <p:cNvSpPr txBox="1"/>
          <p:nvPr/>
        </p:nvSpPr>
        <p:spPr>
          <a:xfrm>
            <a:off x="1117600" y="2162765"/>
            <a:ext cx="24638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message-only model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BC3A00-19FB-EAAB-8A14-76E0DF0044B9}"/>
              </a:ext>
            </a:extLst>
          </p:cNvPr>
          <p:cNvSpPr txBox="1"/>
          <p:nvPr/>
        </p:nvSpPr>
        <p:spPr>
          <a:xfrm>
            <a:off x="4279900" y="3485510"/>
            <a:ext cx="3683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48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0.9855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7700E6-C2E3-C085-8DAC-CB3D941CC914}"/>
              </a:ext>
            </a:extLst>
          </p:cNvPr>
          <p:cNvSpPr txBox="1"/>
          <p:nvPr/>
        </p:nvSpPr>
        <p:spPr>
          <a:xfrm>
            <a:off x="5054600" y="4587636"/>
            <a:ext cx="21336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Macro-F1</a:t>
            </a:r>
            <a:endParaRPr lang="en-IL" sz="1700" b="1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Shape_1055">
            <a:extLst>
              <a:ext uri="{FF2B5EF4-FFF2-40B4-BE49-F238E27FC236}">
                <a16:creationId xmlns:a16="http://schemas.microsoft.com/office/drawing/2014/main" id="{989B7DCC-A8F2-CC6D-9E7C-1000E366F447}"/>
              </a:ext>
            </a:extLst>
          </p:cNvPr>
          <p:cNvSpPr/>
          <p:nvPr/>
        </p:nvSpPr>
        <p:spPr>
          <a:xfrm>
            <a:off x="889000" y="5295900"/>
            <a:ext cx="9779000" cy="7493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B9CDA2-D6B3-03D4-FB34-4F60CDAA39C3}"/>
              </a:ext>
            </a:extLst>
          </p:cNvPr>
          <p:cNvSpPr txBox="1"/>
          <p:nvPr/>
        </p:nvSpPr>
        <p:spPr>
          <a:xfrm>
            <a:off x="1206500" y="5440853"/>
            <a:ext cx="9144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המדד כמעט משחזר את מנגנון התיוג, ולכן אינו הוכחה להבנת קוד טהורה.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82736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056">
            <a:extLst>
              <a:ext uri="{FF2B5EF4-FFF2-40B4-BE49-F238E27FC236}">
                <a16:creationId xmlns:a16="http://schemas.microsoft.com/office/drawing/2014/main" id="{A55C3AD6-ACA2-C1CB-CF74-A5BB5FDD49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057">
            <a:extLst>
              <a:ext uri="{FF2B5EF4-FFF2-40B4-BE49-F238E27FC236}">
                <a16:creationId xmlns:a16="http://schemas.microsoft.com/office/drawing/2014/main" id="{6DA7F447-F826-C9CD-FAD0-87B617FBB0F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FF3F00-1141-12F0-F3D9-4B47CC8F0D14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זיהוי חוסר: המבנה ההיררכי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EF4EFC-B51A-9ED6-87F5-1F0B66F1E5BE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9CCE02-2A88-864B-04F1-46AC19368894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B0FA15D-7C48-D41B-1754-7D958B6DDCC2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11 / 14</a:t>
            </a:r>
          </a:p>
        </p:txBody>
      </p:sp>
      <p:sp>
        <p:nvSpPr>
          <p:cNvPr id="10" name="Shape_1058">
            <a:extLst>
              <a:ext uri="{FF2B5EF4-FFF2-40B4-BE49-F238E27FC236}">
                <a16:creationId xmlns:a16="http://schemas.microsoft.com/office/drawing/2014/main" id="{B1E221AB-F967-E2F0-E3B0-7D8BEB286788}"/>
              </a:ext>
            </a:extLst>
          </p:cNvPr>
          <p:cNvSpPr/>
          <p:nvPr/>
        </p:nvSpPr>
        <p:spPr>
          <a:xfrm>
            <a:off x="8191500" y="1320800"/>
            <a:ext cx="3302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1059">
            <a:extLst>
              <a:ext uri="{FF2B5EF4-FFF2-40B4-BE49-F238E27FC236}">
                <a16:creationId xmlns:a16="http://schemas.microsoft.com/office/drawing/2014/main" id="{A5CCE919-FA4D-FBBC-A339-B3C464A832A3}"/>
              </a:ext>
            </a:extLst>
          </p:cNvPr>
          <p:cNvSpPr/>
          <p:nvPr/>
        </p:nvSpPr>
        <p:spPr>
          <a:xfrm>
            <a:off x="11404600" y="1320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E1AF48-CCC1-B9DA-1FAF-BA8A5273D84C}"/>
              </a:ext>
            </a:extLst>
          </p:cNvPr>
          <p:cNvSpPr txBox="1"/>
          <p:nvPr/>
        </p:nvSpPr>
        <p:spPr>
          <a:xfrm>
            <a:off x="8394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380FD7-80D3-6E4D-9473-6FCF7B03B022}"/>
              </a:ext>
            </a:extLst>
          </p:cNvPr>
          <p:cNvSpPr txBox="1"/>
          <p:nvPr/>
        </p:nvSpPr>
        <p:spPr>
          <a:xfrm>
            <a:off x="8394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1060">
            <a:extLst>
              <a:ext uri="{FF2B5EF4-FFF2-40B4-BE49-F238E27FC236}">
                <a16:creationId xmlns:a16="http://schemas.microsoft.com/office/drawing/2014/main" id="{11E3ABF4-82EC-EE0A-1DD8-7907D77F245A}"/>
              </a:ext>
            </a:extLst>
          </p:cNvPr>
          <p:cNvSpPr/>
          <p:nvPr/>
        </p:nvSpPr>
        <p:spPr>
          <a:xfrm>
            <a:off x="4445000" y="1320800"/>
            <a:ext cx="3302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1061">
            <a:extLst>
              <a:ext uri="{FF2B5EF4-FFF2-40B4-BE49-F238E27FC236}">
                <a16:creationId xmlns:a16="http://schemas.microsoft.com/office/drawing/2014/main" id="{7A5EE43A-61A0-1D93-7DF3-05B06F5F6FED}"/>
              </a:ext>
            </a:extLst>
          </p:cNvPr>
          <p:cNvSpPr/>
          <p:nvPr/>
        </p:nvSpPr>
        <p:spPr>
          <a:xfrm>
            <a:off x="7658100" y="13208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4BB655-E2DD-5584-7168-7F573185C5DF}"/>
              </a:ext>
            </a:extLst>
          </p:cNvPr>
          <p:cNvSpPr txBox="1"/>
          <p:nvPr/>
        </p:nvSpPr>
        <p:spPr>
          <a:xfrm>
            <a:off x="46482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AE1029-4B5A-2251-85FA-42BFDCB68299}"/>
              </a:ext>
            </a:extLst>
          </p:cNvPr>
          <p:cNvSpPr txBox="1"/>
          <p:nvPr/>
        </p:nvSpPr>
        <p:spPr>
          <a:xfrm>
            <a:off x="46482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1062">
            <a:extLst>
              <a:ext uri="{FF2B5EF4-FFF2-40B4-BE49-F238E27FC236}">
                <a16:creationId xmlns:a16="http://schemas.microsoft.com/office/drawing/2014/main" id="{1306A8A5-8E1D-AA01-E312-229AE96733D4}"/>
              </a:ext>
            </a:extLst>
          </p:cNvPr>
          <p:cNvSpPr/>
          <p:nvPr/>
        </p:nvSpPr>
        <p:spPr>
          <a:xfrm>
            <a:off x="698500" y="1320800"/>
            <a:ext cx="3302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1063">
            <a:extLst>
              <a:ext uri="{FF2B5EF4-FFF2-40B4-BE49-F238E27FC236}">
                <a16:creationId xmlns:a16="http://schemas.microsoft.com/office/drawing/2014/main" id="{8B7C63D2-ECBE-3040-F408-94B16E00F76C}"/>
              </a:ext>
            </a:extLst>
          </p:cNvPr>
          <p:cNvSpPr/>
          <p:nvPr/>
        </p:nvSpPr>
        <p:spPr>
          <a:xfrm>
            <a:off x="3911600" y="13208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D0CB9D-31E9-3846-BEA9-E367664A4F1D}"/>
              </a:ext>
            </a:extLst>
          </p:cNvPr>
          <p:cNvSpPr txBox="1"/>
          <p:nvPr/>
        </p:nvSpPr>
        <p:spPr>
          <a:xfrm>
            <a:off x="901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172 → 81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CC4F32-118F-212A-0A50-EA3DA68D4BB5}"/>
              </a:ext>
            </a:extLst>
          </p:cNvPr>
          <p:cNvSpPr txBox="1"/>
          <p:nvPr/>
        </p:nvSpPr>
        <p:spPr>
          <a:xfrm>
            <a:off x="901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false positives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59FE99D-8E8E-6261-114B-911FD9D35FC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717800"/>
            <a:ext cx="98044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098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064">
            <a:extLst>
              <a:ext uri="{FF2B5EF4-FFF2-40B4-BE49-F238E27FC236}">
                <a16:creationId xmlns:a16="http://schemas.microsoft.com/office/drawing/2014/main" id="{6FC36114-ECDE-59AF-5EA5-4A4BF947FB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065">
            <a:extLst>
              <a:ext uri="{FF2B5EF4-FFF2-40B4-BE49-F238E27FC236}">
                <a16:creationId xmlns:a16="http://schemas.microsoft.com/office/drawing/2014/main" id="{B71D8F09-D8BB-28D9-25F5-1060F49069C2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F4161A-E6A6-A724-0C2B-DDF9AED59BA7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על סוג השורה הוא רכיב מהותי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C522AD-96A9-8CA4-73CD-B0848BFDA66B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D8C448-8C2F-FEC0-24E4-88D05D4F2AA3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C7D24AC-D34C-3EA3-68AE-CDDC6F972F77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12 / 14</a:t>
            </a:r>
          </a:p>
        </p:txBody>
      </p:sp>
      <p:sp>
        <p:nvSpPr>
          <p:cNvPr id="10" name="Shape_1066">
            <a:extLst>
              <a:ext uri="{FF2B5EF4-FFF2-40B4-BE49-F238E27FC236}">
                <a16:creationId xmlns:a16="http://schemas.microsoft.com/office/drawing/2014/main" id="{895C7D00-5677-0937-0410-FF785440A53C}"/>
              </a:ext>
            </a:extLst>
          </p:cNvPr>
          <p:cNvSpPr/>
          <p:nvPr/>
        </p:nvSpPr>
        <p:spPr>
          <a:xfrm>
            <a:off x="1778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1067">
            <a:extLst>
              <a:ext uri="{FF2B5EF4-FFF2-40B4-BE49-F238E27FC236}">
                <a16:creationId xmlns:a16="http://schemas.microsoft.com/office/drawing/2014/main" id="{DA556BA5-0B1A-EB34-DC43-C6FB0146D049}"/>
              </a:ext>
            </a:extLst>
          </p:cNvPr>
          <p:cNvSpPr/>
          <p:nvPr/>
        </p:nvSpPr>
        <p:spPr>
          <a:xfrm>
            <a:off x="5372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8759E2-FF06-58C9-6BEC-9428A7D7D79B}"/>
              </a:ext>
            </a:extLst>
          </p:cNvPr>
          <p:cNvSpPr txBox="1"/>
          <p:nvPr/>
        </p:nvSpPr>
        <p:spPr>
          <a:xfrm>
            <a:off x="1981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−0.1305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5585D2-278A-43A4-DFF3-BC334B687082}"/>
              </a:ext>
            </a:extLst>
          </p:cNvPr>
          <p:cNvSpPr txBox="1"/>
          <p:nvPr/>
        </p:nvSpPr>
        <p:spPr>
          <a:xfrm>
            <a:off x="1981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1068">
            <a:extLst>
              <a:ext uri="{FF2B5EF4-FFF2-40B4-BE49-F238E27FC236}">
                <a16:creationId xmlns:a16="http://schemas.microsoft.com/office/drawing/2014/main" id="{045B37BB-3677-68A2-6975-BD8CFCBA8AFA}"/>
              </a:ext>
            </a:extLst>
          </p:cNvPr>
          <p:cNvSpPr/>
          <p:nvPr/>
        </p:nvSpPr>
        <p:spPr>
          <a:xfrm>
            <a:off x="6731000" y="1308100"/>
            <a:ext cx="3683000" cy="10922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1069">
            <a:extLst>
              <a:ext uri="{FF2B5EF4-FFF2-40B4-BE49-F238E27FC236}">
                <a16:creationId xmlns:a16="http://schemas.microsoft.com/office/drawing/2014/main" id="{5178E0FA-A313-3B93-5D72-E6EC17C443FB}"/>
              </a:ext>
            </a:extLst>
          </p:cNvPr>
          <p:cNvSpPr/>
          <p:nvPr/>
        </p:nvSpPr>
        <p:spPr>
          <a:xfrm>
            <a:off x="10325100" y="1308100"/>
            <a:ext cx="88900" cy="10922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6BD869-7007-004F-830A-6FADA1D65C57}"/>
              </a:ext>
            </a:extLst>
          </p:cNvPr>
          <p:cNvSpPr txBox="1"/>
          <p:nvPr/>
        </p:nvSpPr>
        <p:spPr>
          <a:xfrm>
            <a:off x="6934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−0.1058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CCCD82-3139-713D-FF4C-81EDCE9957D0}"/>
              </a:ext>
            </a:extLst>
          </p:cNvPr>
          <p:cNvSpPr txBox="1"/>
          <p:nvPr/>
        </p:nvSpPr>
        <p:spPr>
          <a:xfrm>
            <a:off x="6934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2CB35AD-7B74-2CA9-73D4-38846F970E0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2603500"/>
            <a:ext cx="109474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550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070">
            <a:extLst>
              <a:ext uri="{FF2B5EF4-FFF2-40B4-BE49-F238E27FC236}">
                <a16:creationId xmlns:a16="http://schemas.microsoft.com/office/drawing/2014/main" id="{F0186974-9EC6-8B93-91CF-9DF5464262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071">
            <a:extLst>
              <a:ext uri="{FF2B5EF4-FFF2-40B4-BE49-F238E27FC236}">
                <a16:creationId xmlns:a16="http://schemas.microsoft.com/office/drawing/2014/main" id="{69834E8A-9F80-4503-27FB-9A4920F362F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E4FDE7-016B-18AC-1977-DBC7EAD97CE8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מה המודל עדיין לא הוכיח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B256F-EFC4-4C9A-E2FA-EFD61F3524C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E9EEC62-C554-2768-E73F-403F790C71FB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407BCCB-CDE8-8296-1791-C2EED9EDD747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13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3F02FA-242C-0D9C-382A-444323EA2857}"/>
              </a:ext>
            </a:extLst>
          </p:cNvPr>
          <p:cNvSpPr txBox="1"/>
          <p:nvPr/>
        </p:nvSpPr>
        <p:spPr>
          <a:xfrm>
            <a:off x="8382000" y="1204888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44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82.2%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7C39FC-DD0A-1101-362F-C2C31CC54958}"/>
              </a:ext>
            </a:extLst>
          </p:cNvPr>
          <p:cNvSpPr txBox="1"/>
          <p:nvPr/>
        </p:nvSpPr>
        <p:spPr>
          <a:xfrm>
            <a:off x="8382000" y="2288936"/>
            <a:ext cx="3111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drop_added_line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2" name="Shape_1072">
            <a:extLst>
              <a:ext uri="{FF2B5EF4-FFF2-40B4-BE49-F238E27FC236}">
                <a16:creationId xmlns:a16="http://schemas.microsoft.com/office/drawing/2014/main" id="{8787DF13-C6C9-0E07-514A-84ED04C27D54}"/>
              </a:ext>
            </a:extLst>
          </p:cNvPr>
          <p:cNvSpPr/>
          <p:nvPr/>
        </p:nvSpPr>
        <p:spPr>
          <a:xfrm>
            <a:off x="8382000" y="2806700"/>
            <a:ext cx="3111500" cy="304800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rgbClr val="FDEBE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3" name="Shape_1073">
            <a:extLst>
              <a:ext uri="{FF2B5EF4-FFF2-40B4-BE49-F238E27FC236}">
                <a16:creationId xmlns:a16="http://schemas.microsoft.com/office/drawing/2014/main" id="{0CB0E96B-7339-321E-27E1-1A5B19E8BB35}"/>
              </a:ext>
            </a:extLst>
          </p:cNvPr>
          <p:cNvSpPr/>
          <p:nvPr/>
        </p:nvSpPr>
        <p:spPr>
          <a:xfrm>
            <a:off x="8940800" y="2806700"/>
            <a:ext cx="2552700" cy="304800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rgbClr val="DC4C64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8EDA20-3623-0D04-B11B-9D444B1E0841}"/>
              </a:ext>
            </a:extLst>
          </p:cNvPr>
          <p:cNvSpPr txBox="1"/>
          <p:nvPr/>
        </p:nvSpPr>
        <p:spPr>
          <a:xfrm>
            <a:off x="8382000" y="3292608"/>
            <a:ext cx="31115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mutation distribution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5" name="Shape_1074">
            <a:extLst>
              <a:ext uri="{FF2B5EF4-FFF2-40B4-BE49-F238E27FC236}">
                <a16:creationId xmlns:a16="http://schemas.microsoft.com/office/drawing/2014/main" id="{B7F9C12B-1100-8E46-A6F1-DA5E1ABC5D56}"/>
              </a:ext>
            </a:extLst>
          </p:cNvPr>
          <p:cNvSpPr/>
          <p:nvPr/>
        </p:nvSpPr>
        <p:spPr>
          <a:xfrm>
            <a:off x="698500" y="1346200"/>
            <a:ext cx="7112000" cy="12573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44C6CF-3061-6E10-F851-E4E6059D4C65}"/>
              </a:ext>
            </a:extLst>
          </p:cNvPr>
          <p:cNvSpPr txBox="1"/>
          <p:nvPr/>
        </p:nvSpPr>
        <p:spPr>
          <a:xfrm>
            <a:off x="3556000" y="14965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Synthetic Coverage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F4F36F-A08C-4F28-3D15-34551D384E68}"/>
              </a:ext>
            </a:extLst>
          </p:cNvPr>
          <p:cNvSpPr txBox="1"/>
          <p:nvPr/>
        </p:nvSpPr>
        <p:spPr>
          <a:xfrm>
            <a:off x="965200" y="18621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רוב הדוגמאות נוצרו מהסרת שורה שנוספה.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1075">
            <a:extLst>
              <a:ext uri="{FF2B5EF4-FFF2-40B4-BE49-F238E27FC236}">
                <a16:creationId xmlns:a16="http://schemas.microsoft.com/office/drawing/2014/main" id="{09EB4F6D-6BD6-7EA2-0A29-14F8AF08ED96}"/>
              </a:ext>
            </a:extLst>
          </p:cNvPr>
          <p:cNvSpPr/>
          <p:nvPr/>
        </p:nvSpPr>
        <p:spPr>
          <a:xfrm>
            <a:off x="698500" y="2921000"/>
            <a:ext cx="7112000" cy="12573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EF6289-629C-5EB9-64F1-A188E0E1F97B}"/>
              </a:ext>
            </a:extLst>
          </p:cNvPr>
          <p:cNvSpPr txBox="1"/>
          <p:nvPr/>
        </p:nvSpPr>
        <p:spPr>
          <a:xfrm>
            <a:off x="3556000" y="30713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Rare Mutations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BA7A26-E409-AB21-153D-30DDC970E30E}"/>
              </a:ext>
            </a:extLst>
          </p:cNvPr>
          <p:cNvSpPr txBox="1"/>
          <p:nvPr/>
        </p:nvSpPr>
        <p:spPr>
          <a:xfrm>
            <a:off x="965200" y="34369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יש מעט דוגמאות לשינויים סמנטיים עדינים.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Shape_1076">
            <a:extLst>
              <a:ext uri="{FF2B5EF4-FFF2-40B4-BE49-F238E27FC236}">
                <a16:creationId xmlns:a16="http://schemas.microsoft.com/office/drawing/2014/main" id="{FC14DD29-6132-2FB7-37A7-03E9A31456CF}"/>
              </a:ext>
            </a:extLst>
          </p:cNvPr>
          <p:cNvSpPr/>
          <p:nvPr/>
        </p:nvSpPr>
        <p:spPr>
          <a:xfrm>
            <a:off x="698500" y="4495800"/>
            <a:ext cx="7112000" cy="12573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ED5748-740B-F8C0-3B5A-689E75E9DD8A}"/>
              </a:ext>
            </a:extLst>
          </p:cNvPr>
          <p:cNvSpPr txBox="1"/>
          <p:nvPr/>
        </p:nvSpPr>
        <p:spPr>
          <a:xfrm>
            <a:off x="3556000" y="4646131"/>
            <a:ext cx="3873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External Validity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B24BB6-66EE-5B8F-3BC5-EBFAE45E8A33}"/>
              </a:ext>
            </a:extLst>
          </p:cNvPr>
          <p:cNvSpPr txBox="1"/>
          <p:nvPr/>
        </p:nvSpPr>
        <p:spPr>
          <a:xfrm>
            <a:off x="965200" y="5011742"/>
            <a:ext cx="64643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לא בוצעה הערכה סופית על פרויקט חיצוני.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44FB82-6802-043F-084E-E5AF8B07C93D}"/>
              </a:ext>
            </a:extLst>
          </p:cNvPr>
          <p:cNvSpPr txBox="1"/>
          <p:nvPr/>
        </p:nvSpPr>
        <p:spPr>
          <a:xfrm>
            <a:off x="8382000" y="4162787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נדרש סט בדיקה ידני של חוסרים אמיתיים.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22106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077">
            <a:extLst>
              <a:ext uri="{FF2B5EF4-FFF2-40B4-BE49-F238E27FC236}">
                <a16:creationId xmlns:a16="http://schemas.microsoft.com/office/drawing/2014/main" id="{127C1CB0-9EBA-E183-0C68-AD36E217F6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078">
            <a:extLst>
              <a:ext uri="{FF2B5EF4-FFF2-40B4-BE49-F238E27FC236}">
                <a16:creationId xmlns:a16="http://schemas.microsoft.com/office/drawing/2014/main" id="{6EDA911F-D325-B74F-4592-07AE5768682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C76EDF-3FDA-6406-7256-7482477F5E10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מסקנות ושאלות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57D64-A4BD-D1C5-17AC-F2E1A6F00BE3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FBBE37-16B7-2A8E-D004-E9460413E7E5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FC05BF0-4821-625E-07DB-90C008F17814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14 / 14</a:t>
            </a:r>
          </a:p>
        </p:txBody>
      </p:sp>
      <p:sp>
        <p:nvSpPr>
          <p:cNvPr id="10" name="Shape_1079">
            <a:extLst>
              <a:ext uri="{FF2B5EF4-FFF2-40B4-BE49-F238E27FC236}">
                <a16:creationId xmlns:a16="http://schemas.microsoft.com/office/drawing/2014/main" id="{18528414-1C4B-6AAC-8143-F2942461F6FA}"/>
              </a:ext>
            </a:extLst>
          </p:cNvPr>
          <p:cNvSpPr/>
          <p:nvPr/>
        </p:nvSpPr>
        <p:spPr>
          <a:xfrm>
            <a:off x="698500" y="1422400"/>
            <a:ext cx="3175000" cy="10922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1" name="Shape_1080">
            <a:extLst>
              <a:ext uri="{FF2B5EF4-FFF2-40B4-BE49-F238E27FC236}">
                <a16:creationId xmlns:a16="http://schemas.microsoft.com/office/drawing/2014/main" id="{D4D166F4-A13A-26E7-90A6-57DAB5E33E0F}"/>
              </a:ext>
            </a:extLst>
          </p:cNvPr>
          <p:cNvSpPr/>
          <p:nvPr/>
        </p:nvSpPr>
        <p:spPr>
          <a:xfrm>
            <a:off x="3784600" y="1422400"/>
            <a:ext cx="88900" cy="1092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452CD4-A622-7538-E299-06E53AC8D088}"/>
              </a:ext>
            </a:extLst>
          </p:cNvPr>
          <p:cNvSpPr txBox="1"/>
          <p:nvPr/>
        </p:nvSpPr>
        <p:spPr>
          <a:xfrm>
            <a:off x="901700" y="15031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0.4197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BB5278-C3FB-0268-DF80-958B9E6451AC}"/>
              </a:ext>
            </a:extLst>
          </p:cNvPr>
          <p:cNvSpPr txBox="1"/>
          <p:nvPr/>
        </p:nvSpPr>
        <p:spPr>
          <a:xfrm>
            <a:off x="901700" y="21546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Intent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4" name="Shape_1081">
            <a:extLst>
              <a:ext uri="{FF2B5EF4-FFF2-40B4-BE49-F238E27FC236}">
                <a16:creationId xmlns:a16="http://schemas.microsoft.com/office/drawing/2014/main" id="{A4A28FEA-BF38-9B22-3B7E-8E9166F8881E}"/>
              </a:ext>
            </a:extLst>
          </p:cNvPr>
          <p:cNvSpPr/>
          <p:nvPr/>
        </p:nvSpPr>
        <p:spPr>
          <a:xfrm>
            <a:off x="698500" y="2717800"/>
            <a:ext cx="3175000" cy="1092200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rgbClr val="E7F7F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5" name="Shape_1082">
            <a:extLst>
              <a:ext uri="{FF2B5EF4-FFF2-40B4-BE49-F238E27FC236}">
                <a16:creationId xmlns:a16="http://schemas.microsoft.com/office/drawing/2014/main" id="{1CFC5982-524A-EBCD-B617-588B86AF6C23}"/>
              </a:ext>
            </a:extLst>
          </p:cNvPr>
          <p:cNvSpPr/>
          <p:nvPr/>
        </p:nvSpPr>
        <p:spPr>
          <a:xfrm>
            <a:off x="3784600" y="2717800"/>
            <a:ext cx="88900" cy="1092200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rgbClr val="2E9D78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B4E96E-7541-C458-ADD6-4B9452CB8F82}"/>
              </a:ext>
            </a:extLst>
          </p:cNvPr>
          <p:cNvSpPr txBox="1"/>
          <p:nvPr/>
        </p:nvSpPr>
        <p:spPr>
          <a:xfrm>
            <a:off x="901700" y="27985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0.6029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02A9CB-B1AA-1A42-D19E-A99D51CE0572}"/>
              </a:ext>
            </a:extLst>
          </p:cNvPr>
          <p:cNvSpPr txBox="1"/>
          <p:nvPr/>
        </p:nvSpPr>
        <p:spPr>
          <a:xfrm>
            <a:off x="901700" y="34500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8" name="Shape_1083">
            <a:extLst>
              <a:ext uri="{FF2B5EF4-FFF2-40B4-BE49-F238E27FC236}">
                <a16:creationId xmlns:a16="http://schemas.microsoft.com/office/drawing/2014/main" id="{B4EF6FD2-58F2-BB6F-9230-EEE10A00A59A}"/>
              </a:ext>
            </a:extLst>
          </p:cNvPr>
          <p:cNvSpPr/>
          <p:nvPr/>
        </p:nvSpPr>
        <p:spPr>
          <a:xfrm>
            <a:off x="698500" y="4013200"/>
            <a:ext cx="3175000" cy="1092200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rgbClr val="FFF4E0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9" name="Shape_1084">
            <a:extLst>
              <a:ext uri="{FF2B5EF4-FFF2-40B4-BE49-F238E27FC236}">
                <a16:creationId xmlns:a16="http://schemas.microsoft.com/office/drawing/2014/main" id="{23B6C8ED-A4FC-B74A-FB8B-AADCDA4446CF}"/>
              </a:ext>
            </a:extLst>
          </p:cNvPr>
          <p:cNvSpPr/>
          <p:nvPr/>
        </p:nvSpPr>
        <p:spPr>
          <a:xfrm>
            <a:off x="3784600" y="4013200"/>
            <a:ext cx="88900" cy="1092200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rgbClr val="F59E0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23F250-8E07-EFDA-C42E-F1236A8DD8E5}"/>
              </a:ext>
            </a:extLst>
          </p:cNvPr>
          <p:cNvSpPr txBox="1"/>
          <p:nvPr/>
        </p:nvSpPr>
        <p:spPr>
          <a:xfrm>
            <a:off x="901700" y="40939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0.7352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2A41DD-8C6A-F801-A918-EFA7B672EC60}"/>
              </a:ext>
            </a:extLst>
          </p:cNvPr>
          <p:cNvSpPr txBox="1"/>
          <p:nvPr/>
        </p:nvSpPr>
        <p:spPr>
          <a:xfrm>
            <a:off x="901700" y="47454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hole 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71A5B9-41B6-BA0D-196D-0F9D6F45CD5C}"/>
              </a:ext>
            </a:extLst>
          </p:cNvPr>
          <p:cNvSpPr txBox="1"/>
          <p:nvPr/>
        </p:nvSpPr>
        <p:spPr>
          <a:xfrm>
            <a:off x="10617200" y="13761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C5CE92-AF6F-DC39-0A61-F431B79DF7A2}"/>
              </a:ext>
            </a:extLst>
          </p:cNvPr>
          <p:cNvSpPr txBox="1"/>
          <p:nvPr/>
        </p:nvSpPr>
        <p:spPr>
          <a:xfrm>
            <a:off x="4699000" y="1424965"/>
            <a:ext cx="56642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ייצוג מבנה השינוי חשוב יותר מנפח המודל.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EC3DFF-A0EE-C898-F572-237484B8BBF2}"/>
              </a:ext>
            </a:extLst>
          </p:cNvPr>
          <p:cNvSpPr txBox="1"/>
          <p:nvPr/>
        </p:nvSpPr>
        <p:spPr>
          <a:xfrm>
            <a:off x="10617200" y="26207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EAB111-B195-A6BD-2428-D7EA2F18B5F0}"/>
              </a:ext>
            </a:extLst>
          </p:cNvPr>
          <p:cNvSpPr txBox="1"/>
          <p:nvPr/>
        </p:nvSpPr>
        <p:spPr>
          <a:xfrm>
            <a:off x="4699000" y="2654176"/>
            <a:ext cx="56642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מידע מפורש על סוג השורה מצמצם התראות שווא ומשפר זיהוי 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2AB4EE-DA0F-794F-FD3B-50D66DA9ECE7}"/>
              </a:ext>
            </a:extLst>
          </p:cNvPr>
          <p:cNvSpPr txBox="1"/>
          <p:nvPr/>
        </p:nvSpPr>
        <p:spPr>
          <a:xfrm>
            <a:off x="10617200" y="38653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4BCAF8-1B26-6D0E-4054-F9B59206EA08}"/>
              </a:ext>
            </a:extLst>
          </p:cNvPr>
          <p:cNvSpPr txBox="1"/>
          <p:nvPr/>
        </p:nvSpPr>
        <p:spPr>
          <a:xfrm>
            <a:off x="4699000" y="3825265"/>
            <a:ext cx="56642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מקור התוויות חייב להיות עצמאי. אין להעריך הבנת קוד לפי </a:t>
            </a:r>
            <a:r>
              <a:rPr lang="en-US" sz="2000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⁦commit message⁩</a:t>
            </a:r>
            <a:endParaRPr lang="en-IL" sz="2000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C39DE3B-38BA-B14D-BA96-4E356D1BD50E}"/>
              </a:ext>
            </a:extLst>
          </p:cNvPr>
          <p:cNvCxnSpPr/>
          <p:nvPr/>
        </p:nvCxnSpPr>
        <p:spPr>
          <a:xfrm>
            <a:off x="698500" y="5651500"/>
            <a:ext cx="107950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E5F59CC-6309-075B-ECC4-1B78F8F646C0}"/>
              </a:ext>
            </a:extLst>
          </p:cNvPr>
          <p:cNvSpPr txBox="1"/>
          <p:nvPr/>
        </p:nvSpPr>
        <p:spPr>
          <a:xfrm>
            <a:off x="698500" y="5944219"/>
            <a:ext cx="5842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400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github.com/korrenhannes/diffintent-rtl</a:t>
            </a:r>
            <a:endParaRPr lang="en-IL" sz="1400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33CBF3-09E6-188D-BEDF-9374E295AC8C}"/>
              </a:ext>
            </a:extLst>
          </p:cNvPr>
          <p:cNvSpPr txBox="1"/>
          <p:nvPr/>
        </p:nvSpPr>
        <p:spPr>
          <a:xfrm>
            <a:off x="8851900" y="5714504"/>
            <a:ext cx="26416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שאלות?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44096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085">
            <a:extLst>
              <a:ext uri="{FF2B5EF4-FFF2-40B4-BE49-F238E27FC236}">
                <a16:creationId xmlns:a16="http://schemas.microsoft.com/office/drawing/2014/main" id="{90D2D0B6-3D3B-2F2C-D01A-8E9AAC5AE08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086">
            <a:extLst>
              <a:ext uri="{FF2B5EF4-FFF2-40B4-BE49-F238E27FC236}">
                <a16:creationId xmlns:a16="http://schemas.microsoft.com/office/drawing/2014/main" id="{438022A9-56AC-2D77-E34E-7472068BD4E9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0B621C-2573-3BD8-6A8B-04E510D0B6A5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מטריצות בלבול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0E2921-9D79-2C36-EAE4-92CA83590DDD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03DD2A-27FA-B75E-E28E-80721E2E3801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35D1A08-4F3E-3D96-88EC-36AEB01DBAEB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A1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09428C-91FA-EBA8-582C-B0EAD521F50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0" y="1600200"/>
            <a:ext cx="4445000" cy="3708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8295E1-81E5-407D-59A0-54BF349C86C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1600200"/>
            <a:ext cx="44450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3602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087">
            <a:extLst>
              <a:ext uri="{FF2B5EF4-FFF2-40B4-BE49-F238E27FC236}">
                <a16:creationId xmlns:a16="http://schemas.microsoft.com/office/drawing/2014/main" id="{89D504C9-3B08-28AF-5473-C9628BB2090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088">
            <a:extLst>
              <a:ext uri="{FF2B5EF4-FFF2-40B4-BE49-F238E27FC236}">
                <a16:creationId xmlns:a16="http://schemas.microsoft.com/office/drawing/2014/main" id="{DF82A70B-6F02-8F00-3CCA-C025C6B260D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4265F0-5175-D810-92E2-6E9AFB983842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ביצועים לפי סוג 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31EDDB-6C2E-C604-65CD-219D9C3E4AAC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947750-55C0-5366-900E-8229BDC4E4F1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F50813D-4FD0-7A96-0B7F-C2E5724D70DD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A2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E37702-F513-29AB-1C04-AD36DBBC056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1308100"/>
            <a:ext cx="8636000" cy="490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3386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_1089">
            <a:extLst>
              <a:ext uri="{FF2B5EF4-FFF2-40B4-BE49-F238E27FC236}">
                <a16:creationId xmlns:a16="http://schemas.microsoft.com/office/drawing/2014/main" id="{8490A344-3D3C-F090-2210-B36B214861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 cap="flat" cmpd="sng" algn="ctr">
            <a:solidFill>
              <a:srgbClr val="FFFFFF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5" name="Shape_1090">
            <a:extLst>
              <a:ext uri="{FF2B5EF4-FFF2-40B4-BE49-F238E27FC236}">
                <a16:creationId xmlns:a16="http://schemas.microsoft.com/office/drawing/2014/main" id="{BF7C0D8B-ABBE-2348-2574-AE76B8EA9E2B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rgbClr val="1F6FE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94DFDA-ABCC-B940-03D6-E7942D605BCF}"/>
              </a:ext>
            </a:extLst>
          </p:cNvPr>
          <p:cNvSpPr txBox="1"/>
          <p:nvPr/>
        </p:nvSpPr>
        <p:spPr>
          <a:xfrm>
            <a:off x="3873500" y="202704"/>
            <a:ext cx="77089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גיבוי: מחקרי הרחבה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C8F27-F4CA-53E0-1CE3-7BDC8ED8888C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4014525-C3CE-ACC9-C3F4-53845F8F782D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2096215-8120-D79D-A7C3-CD930E0C2DC6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A3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31FDC6-B3D3-A12D-007A-9530D010C21F}"/>
              </a:ext>
            </a:extLst>
          </p:cNvPr>
          <p:cNvSpPr txBox="1"/>
          <p:nvPr/>
        </p:nvSpPr>
        <p:spPr>
          <a:xfrm>
            <a:off x="60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Improved Weak Labeling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7AF0D7-F10F-B7DC-299D-6A7077E9512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9900"/>
            <a:ext cx="3352800" cy="2159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E007C6-34FE-6159-F21C-E8E348CC2A8B}"/>
              </a:ext>
            </a:extLst>
          </p:cNvPr>
          <p:cNvSpPr txBox="1"/>
          <p:nvPr/>
        </p:nvSpPr>
        <p:spPr>
          <a:xfrm>
            <a:off x="441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2E9D78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Hardware-aware Features</a:t>
            </a:r>
            <a:endParaRPr lang="en-IL" sz="1600" b="1">
              <a:solidFill>
                <a:srgbClr val="2E9D78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732DBD-D1ED-F69E-D8E2-67AB7A9E166B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39900"/>
            <a:ext cx="3048000" cy="218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84ED9E8-BF50-D45A-09ED-6670912ABCF4}"/>
              </a:ext>
            </a:extLst>
          </p:cNvPr>
          <p:cNvSpPr txBox="1"/>
          <p:nvPr/>
        </p:nvSpPr>
        <p:spPr>
          <a:xfrm>
            <a:off x="822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59E0B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Cross-project Study</a:t>
            </a:r>
            <a:endParaRPr lang="en-IL" sz="1600" b="1">
              <a:solidFill>
                <a:srgbClr val="F59E0B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CA19F19-D3EF-778A-790E-43F92E0E2B6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739900"/>
            <a:ext cx="3352800" cy="1308100"/>
          </a:xfrm>
          <a:prstGeom prst="rect">
            <a:avLst/>
          </a:prstGeom>
        </p:spPr>
      </p:pic>
      <p:sp>
        <p:nvSpPr>
          <p:cNvPr id="19" name="Shape_1091">
            <a:extLst>
              <a:ext uri="{FF2B5EF4-FFF2-40B4-BE49-F238E27FC236}">
                <a16:creationId xmlns:a16="http://schemas.microsoft.com/office/drawing/2014/main" id="{AA3EC133-61A7-A126-CA80-CE23F8A075E1}"/>
              </a:ext>
            </a:extLst>
          </p:cNvPr>
          <p:cNvSpPr/>
          <p:nvPr/>
        </p:nvSpPr>
        <p:spPr>
          <a:xfrm>
            <a:off x="609600" y="4406900"/>
            <a:ext cx="10972800" cy="1422400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rgbClr val="E8F1FB">
                <a:alpha val="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358F6D-0734-435B-0EA4-6EED6A8C027B}"/>
              </a:ext>
            </a:extLst>
          </p:cNvPr>
          <p:cNvSpPr txBox="1"/>
          <p:nvPr/>
        </p:nvSpPr>
        <p:spPr>
          <a:xfrm>
            <a:off x="901700" y="4681542"/>
            <a:ext cx="2921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b="1">
                <a:solidFill>
                  <a:srgbClr val="DC4C64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Medium-scale studies</a:t>
            </a:r>
            <a:endParaRPr lang="en-IL" b="1">
              <a:solidFill>
                <a:srgbClr val="DC4C64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DA3A88-A6A8-AC32-9EA5-8C1CCDD35433}"/>
              </a:ext>
            </a:extLst>
          </p:cNvPr>
          <p:cNvSpPr txBox="1"/>
          <p:nvPr/>
        </p:nvSpPr>
        <p:spPr>
          <a:xfrm>
            <a:off x="4064000" y="4592642"/>
            <a:ext cx="71755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David" panose="020E0502060401010101" pitchFamily="34" charset="-79"/>
              </a:rPr>
              <a:t>המספרים אינם בני השוואה ישירה לניסוי המלא. הם מצביעים על שיפור כיסוי התיוג, ערך של מאפייני חומרה ופער בין פרויקטים.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42967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1930</Words>
  <Application>Microsoft Macintosh PowerPoint</Application>
  <PresentationFormat>Widescreen</PresentationFormat>
  <Paragraphs>199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Korren Hannes</dc:creator>
  <cp:lastModifiedBy>Korren Hannes</cp:lastModifiedBy>
  <cp:revision>1</cp:revision>
  <dcterms:created xsi:type="dcterms:W3CDTF">2026-10-07T17:46:00Z</dcterms:created>
  <dcterms:modified xsi:type="dcterms:W3CDTF">2026-10-07T17:46:21Z</dcterms:modified>
</cp:coreProperties>
</file>