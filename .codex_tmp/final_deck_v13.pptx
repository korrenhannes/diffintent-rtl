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6"/>
  </p:normalViewPr>
  <p:slideViewPr>
    <p:cSldViewPr snapToGrid="0">
      <p:cViewPr varScale="1">
        <p:scale>
          <a:sx n="116" d="100"/>
          <a:sy n="116" d="100"/>
        </p:scale>
        <p:origin x="60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49BFDA-9B92-7A43-A404-EC3E5EA7D5E4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AF3C43-BA60-E64B-92D3-9A80E1494C3D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0570592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00:20
פתיחה קצרה: הפרויקט בוחן האם ניתן להבין שינויי קוד ברמת ה-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diff,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ולא רק את הקובץ לאחר השינוי.
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DiffIntent-RTL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שתי משימות: זיהוי מטרת השינוי וזיהוי חוסר פונקציונלי.
מעבר: נתחיל מהבעיה המעשית ב-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Code Review.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מקור: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DiffIntent -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הצעת פרויקט.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pdf; report/final_report.md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AF3C43-BA60-E64B-92D3-9A80E1494C3D}" type="slidenum">
              <a:rPr lang="en-IL" smtClean="0"/>
              <a:t>1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416437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00:55
המסר המרכזי: תקינות תחבירית אינה מבטיחה שלמות פונקציונלית.
בדוגמה,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diff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קטן משנה נתיב בקרה; שורה חסרה יכולה לשנות את ההתנהגות בלי לשבור קומפילציה.
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Code Review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מפתח משתמש בסוג השורה, בקוד הסמוך ובמבנה השינוי.
מעבר: מכאן נגזרות שתי שאלות המחקר.
מקור: סעיפים 1 ו-3.3 בדוח הסופי.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AF3C43-BA60-E64B-92D3-9A80E1494C3D}" type="slidenum">
              <a:rPr lang="en-IL" smtClean="0"/>
              <a:t>2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67248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00:45
יש שתי משימות על אותו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diff.
Intent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ארבע מחלקות של מטרת שינוי.
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Completeness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הפרדה בין שינוי שלם לבין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implementation hole.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ההשערה נבנתה על מחקר קודם של ייצוגי שינוי, מודלים היררכיים וחיזוי מתיקוני קוד.
מעבר: כעת נראה כיצד הופכים היסטוריית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Git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לנתוני אימון.
מקורות: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CC2Vec; PatchNet; DeepJIT; CodeReviewer;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סעיף 2 בדוח.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AF3C43-BA60-E64B-92D3-9A80E1494C3D}" type="slidenum">
              <a:rPr lang="en-IL" smtClean="0"/>
              <a:t>3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8801647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01:05
הצינור מתחיל בהיסטוריית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OpenTitan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ומסנן רק קבצי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SystemVerilog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רלוונטיים.
כל דוגמה היא שינוי בקובץ אחד.
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Weak Labels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נוצרות מהודעות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commit.
Synthetic Holes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נוצרים בתוך אזור השינוי.
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Chronological Split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הזוג המקורי והגרסה המוטנטית לעולם אינם מתפצלים בין קבוצות.
מעבר: נבחן את הרכב מערך הנתונים.
מקור: סעיפים 3.1 עד 3.4 בדוח.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AF3C43-BA60-E64B-92D3-9A80E1494C3D}" type="slidenum">
              <a:rPr lang="en-IL" smtClean="0"/>
              <a:t>4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5781892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00:55
המספרים המרכזיים: 5,903 מועמדים גולמיים, 2,843 דוגמאות אמיתיות לאחר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weak labeling,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ו-5,500 דוגמאות לאחר יצירת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synthetic holes.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החלוקה כרונולוגית: 3,873 לאימון, 830 לאימות ו-797 לבדיקה.
הגרף מציג גם את חוסר האיזון ב-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Intent: refactor_cleanup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היא המחלקה הקטנה ביותר.
מעבר: איך בדיוק נוצרת דוגמה חסרה?
מקור: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outputs/full_run/dataset_summary.json; figure_dataset_overview.png.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AF3C43-BA60-E64B-92D3-9A80E1494C3D}" type="slidenum">
              <a:rPr lang="en-IL" smtClean="0"/>
              <a:t>5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5311357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01:00
הדוגמה המקורית נשארת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complete.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עותק שלה עובר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mutation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מבוקר בתוך השורות שהשתנו.
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drop_added_line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היא הפעולה השכיחה ביותר, והיא מהווה 82.2 אחוז מדוגמאות החוסר בבדיקה.
יש גם הסרת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guard, assertion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או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reset assignment,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וכן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flips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של אופרטורים, אך חלקם נדירים.
היתרון הוא שליטה בזוגות; החיסרון הוא פער מחוסרים אמיתיים.
מעבר: נציג את קו הבסיס ואת המודלים העמוקים.
מקור: סעיף 3.3 וסעיף 8 בדוח.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AF3C43-BA60-E64B-92D3-9A80E1494C3D}" type="slidenum">
              <a:rPr lang="en-IL" smtClean="0"/>
              <a:t>6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9316257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01:00
ההשוואה נבנתה כסולם מורכבות.
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TF-IDF + Logistic Regression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קו בסיס לקסיקלי חזק.
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MLP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מאגר ממוצע של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embeddings.
BiGRU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רצף שטוח של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tokens.
Hierarchical Transformer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מקודד כל שורה ואז את רצף השורות, כולל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line-type.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למודלים העמוקים יש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Multi-task head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לשתי המשימות.
מעבר: נפתח את הארכיטקטורה ההיררכית.
מקור: סעיף 4 בדוח.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AF3C43-BA60-E64B-92D3-9A80E1494C3D}" type="slidenum">
              <a:rPr lang="en-IL" smtClean="0"/>
              <a:t>7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1655952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01:15
זו הארכיטקטורה המרכזית.
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Typed Diff Lines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כל שורה מסומנת לפי תפקידה.
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Token Embedding + BiGRU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יוצר ייצוג פנימי לכל שורה.
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Transformer Encoder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לומד קשרים בין שורות רחוקות.
שני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heads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מפיקים תחזית נפרדת לכל משימה.
הניסוי החשוב בהמשך מסיר את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line-type embedding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ובודק מה אובד.
מעבר: קודם נבחן את תוצאת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Intent.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מקור: סעיפים 4.3 ו-4.4 בדוח.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AF3C43-BA60-E64B-92D3-9A80E1494C3D}" type="slidenum">
              <a:rPr lang="en-IL" smtClean="0"/>
              <a:t>8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7804177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01:00
התוצאה המרכזית ב-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Intent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היא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Macro-F1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של 0.4197 עבור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TF-IDF.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הגרף מראה שהיתרון אינו אחיד בין המחלקות;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refactor_cleanup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נשארת קשה בגלל מיעוט דוגמאות וחפיפה סמנטית.
המשמעות אינה שמודלים עמוקים חסרי ערך, אלא שהמשימה והתיוג מספקים אות לקסיקלי חזק מאוד.
מעבר: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control experiment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חושף עד כמה האות הזה קשור ל-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weak labels.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מקור: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outputs/full_run/full_results.json; figure_intent_per_class_f1.png.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AF3C43-BA60-E64B-92D3-9A80E1494C3D}" type="slidenum">
              <a:rPr lang="en-IL" smtClean="0"/>
              <a:t>9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10905553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00:55
זהו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control experiment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קריטי.
ה-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label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נוצר ממילות מפתח ב-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commit message.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כאשר מאמנים מודל רק על אותו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message,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מתקבל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Macro-F1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של 0.9855.
לכן תוצאת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Intent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משקפת במידה רבה את מנגנון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weak labeling.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כדי לטעון להבנת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diff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נדרש סט תוויות ידני או מקור תוויות עצמאי.
מעבר: משימת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Completeness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אינה נשענת על אותו ערוץ, ושם המבנה ההיררכי בולט.
מקור: סעיף 7.5 וסעיף 8 בדוח.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AF3C43-BA60-E64B-92D3-9A80E1494C3D}" type="slidenum">
              <a:rPr lang="en-IL" smtClean="0"/>
              <a:t>10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56470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01:15
כאן מתקבלת התוצאה החזקה ביותר של הפרויקט.
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Hierarchical Transformer
hole F1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של 0.6029 ו-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AUROC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של 0.7352.
ב-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seed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המוצג הוא שומר כמעט על אותו מספר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true positives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כמו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TF-IDF,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אך מוריד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false positives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מ-172 ל-81.
זה חשוב ל-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Code Review: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פחות התראות שווא משפרות שימושיות.
מעבר: האם השיפור באמת מגיע ממידע על סוג השורה?
מקור: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outputs/full_run/full_results.json; figure_hole_confusion_panels.png.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AF3C43-BA60-E64B-92D3-9A80E1494C3D}" type="slidenum">
              <a:rPr lang="en-IL" smtClean="0"/>
              <a:t>11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19825309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01:05
ה-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ablation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מסיר רק את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line-type information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ושומר את שאר הארכיטקטורה.
התוצאה: ירידה של 0.1305 ב-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hole F1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ושל 0.1058 ב-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AUROC.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זהו הממצא הסיבתי החזק ביותר במצגת: לא רק נפח המודל, אלא הייצוג המפורש של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ADD, DEL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ו-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CONTEXT,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תורם לזיהוי חוסר.
מעבר: עדיין צריך לפרש את התוצאה בתוך מגבלות מערך הנתונים.
מקור: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outputs/full_run/full_results.json; figure_ablation_results.png.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AF3C43-BA60-E64B-92D3-9A80E1494C3D}" type="slidenum">
              <a:rPr lang="en-IL" smtClean="0"/>
              <a:t>12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96918663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00:55
שלוש מגבלות מגדירות את גבול הטענה.
ראשית, 82.2 אחוז מהחוסרים הסינתטיים הם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drop_added_line.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שנית, מספר משפחות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mutation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נדירות מדי להערכה.
שלישית, מחקר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Caliptra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הוא מקדים ובקנה מידה קטן, ולא הערכת סיום שקולה.
לכן התוצאה מצביעה על פוטנציאל, אך אינה תחליף לסט בדיקה ידני של חוסרים אמיתיים.
מעבר: נסכם את שלוש המסקנות שניתן להגן עליהן.
מקור: סעיפים 7.7 ו-8 בדוח.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AF3C43-BA60-E64B-92D3-9A80E1494C3D}" type="slidenum">
              <a:rPr lang="en-IL" smtClean="0"/>
              <a:t>13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18907174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00:35
שלוש מסקנות.
אחת: ב-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Intent,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קו בסיס לקסיקלי נשאר תחרותי.
שתיים: ב-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Completeness,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מבנה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diff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מפורש משפר ביצועים ומפחית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false positives.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שלוש: תוויות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Intent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חייבות להגיע ממקור שאינו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commit message.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סיום: הפרויקט מספק תשתית מלאה למחקר המשך על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Code Review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ל-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RTL.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מקור: מסקנות הדוח הסופי.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AF3C43-BA60-E64B-92D3-9A80E1494C3D}" type="slidenum">
              <a:rPr lang="en-IL" smtClean="0"/>
              <a:t>14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71427452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שקופית גיבוי.
השתמשו בה אם נשאלת שאלה על דפוסי הבלבול בין מחלקות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Intent.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מקור: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figure_intent_confusion_panels.png.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AF3C43-BA60-E64B-92D3-9A80E1494C3D}" type="slidenum">
              <a:rPr lang="en-IL" smtClean="0"/>
              <a:t>15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85280933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שקופית גיבוי.
התרשים מפריד ביצועים לפי משפחת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mutation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וממחיש מדוע המספר הכולל מושפע מהתפלגות הדוגמאות.
מקור: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figure_hole_mutation_recall.png.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AF3C43-BA60-E64B-92D3-9A80E1494C3D}" type="slidenum">
              <a:rPr lang="en-IL" smtClean="0"/>
              <a:t>16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04827011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שקופית גיבוי.
מחקרי ההרחבה בוצעו על מערך קטן יותר ובפרוטוקולים אחרים. אין להשוות את הערכים המוחלטים לתוצאות הניסוי המלא.
מקור: סעיף 7.7 בדוח;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labeler_improvement.png; rtl_features_cv.png; generalization_compare.png.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AF3C43-BA60-E64B-92D3-9A80E1494C3D}" type="slidenum">
              <a:rPr lang="en-IL" smtClean="0"/>
              <a:t>17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349705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4ED99-FF9A-04FE-6230-A2A90358F9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8F0F80-381E-8CE2-4FDD-0FBCD7239E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DF9853-9868-D616-CAA2-743876B617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7602E-8625-0C45-A0B2-B50BBB8FAF58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D251FD-F44C-CE65-3D03-F18E6AC74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192A00-1641-B49F-D20C-268F4365A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F4282-BAC5-E344-A8EC-6D6FB7B05CF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3366892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45948-553A-D532-30C2-9D4570A147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AE9089-E96D-6053-FA06-2D4A50BE99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8DE974-16F4-6C4D-DBCE-CD3577B748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7602E-8625-0C45-A0B2-B50BBB8FAF58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A5AFF4-A0C1-E6D1-6F1D-C7E25454E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7BC85-F50F-3515-3EAA-46EB642E5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F4282-BAC5-E344-A8EC-6D6FB7B05CF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5158407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7ECAD-DD44-B837-5C72-DB3B12854B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F0E2AA-5BE5-48B9-67E5-18A4834617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219091-C179-EB3E-1E22-BE5E0669A1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7602E-8625-0C45-A0B2-B50BBB8FAF58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C3EDB3-F550-C41B-3E80-4882CBBEB0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62711C-BA9A-F3AD-5861-3AF72674E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F4282-BAC5-E344-A8EC-6D6FB7B05CF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654193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62EB6-A447-376F-8F99-10EDA381B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457474-38E3-D1DD-A7D2-E2539EA1CE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660DA6-65AB-8C7D-153D-DC692359CA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C996CD-E528-885A-359E-9C99331FF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7602E-8625-0C45-A0B2-B50BBB8FAF58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720C5-871B-5DCA-868A-C0824FFDB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861F37-CE08-DBAE-4C64-1CCAB28A1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F4282-BAC5-E344-A8EC-6D6FB7B05CF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8900483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2358BD-3D85-50C6-2807-16F97C28D4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9AD140-CF06-8F35-CB80-109B5F65A3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8ED8DA-2076-5743-52A8-F04E41CAF2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E062B9-3094-6846-4AB5-75A7208920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AB07DAD-7DA6-D3C3-C395-D1788E41B3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CCFDF6A-B427-068F-7B29-20951F818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7602E-8625-0C45-A0B2-B50BBB8FAF58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445D554-1179-39AD-118F-DA9FF0AAE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91F5A6D-1D50-827C-EE2F-951C6B58A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F4282-BAC5-E344-A8EC-6D6FB7B05CF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97767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B794E-E38F-9870-CF61-230FD86C45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6346F0-8DAF-7FAE-7A10-21FE24B6EB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7602E-8625-0C45-A0B2-B50BBB8FAF58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E7A8DD-9BC5-1B2D-F977-7BBCD6590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A46698-64B8-D146-C00D-172D68325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F4282-BAC5-E344-A8EC-6D6FB7B05CF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2060813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0B1FF7-0802-3B50-ABFC-972334F64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7602E-8625-0C45-A0B2-B50BBB8FAF58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4161C7-F08E-C8F0-8D88-87A79EB22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3699D7-3E21-227C-6A69-EADC76703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F4282-BAC5-E344-A8EC-6D6FB7B05CF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6530433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8CDE3-2342-1D0F-25AC-07C69A027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DC0D0E-4791-C391-9609-9CEDFB45AA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04B028-ECDA-D5B3-A4FC-851977CC38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17B66B-2714-090B-33A5-654FC3BE2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7602E-8625-0C45-A0B2-B50BBB8FAF58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791390-898A-4822-B72B-A8AD86A83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9DF8C4-B07E-A2D3-1F7D-08F60CA52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F4282-BAC5-E344-A8EC-6D6FB7B05CF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4565850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719D8-FE83-390E-732C-F22F71430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AEA582A-FA5E-E225-D5F4-1B4BA04ED16A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33406F-E0B8-D2B9-B99C-D420BE53F0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35F3F0-94D7-68C6-73D8-A33FE960F7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7602E-8625-0C45-A0B2-B50BBB8FAF58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2127B4-50FD-92DE-FF1B-16B3F62F3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C03F26-8F28-1905-AB04-EC1E9D66F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F4282-BAC5-E344-A8EC-6D6FB7B05CF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2913220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EB8B76-7836-364F-52C9-243457C87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7DDB2C-AA3F-BD2A-35C9-4A2ACD8544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220CEE-0F21-A907-762F-DAF6AFEDF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7602E-8625-0C45-A0B2-B50BBB8FAF58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9C2E87-76D9-0A4A-6F90-3CE673EA9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7545E9-043D-7213-114C-F7872B423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F4282-BAC5-E344-A8EC-6D6FB7B05CF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8318752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E966D53-93A6-3EFF-2194-9B2D64F990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09403C-FEB7-88F9-C2F0-062E8E86FD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9FB850-E5FD-92A4-B537-795EE0AFAF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7602E-8625-0C45-A0B2-B50BBB8FAF58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27DE3A-3147-0ACC-F411-2D1A7B73DC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4AEC83-48B3-971E-A4A1-109592EE4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F4282-BAC5-E344-A8EC-6D6FB7B05CF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8916072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04712D-2E2D-FC7E-2535-C65513063C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D7ED46-B300-F714-1075-ECC612EED9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6F3253-76AD-13E7-259D-AFA7B42627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F7602E-8625-0C45-A0B2-B50BBB8FAF58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BA132E-238F-B81E-F708-D8AD784EB4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DD659E-0DB0-4730-7A9E-4F52A536DE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4F4282-BAC5-E344-A8EC-6D6FB7B05CF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1870314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_728">
            <a:extLst>
              <a:ext uri="{FF2B5EF4-FFF2-40B4-BE49-F238E27FC236}">
                <a16:creationId xmlns:a16="http://schemas.microsoft.com/office/drawing/2014/main" id="{F3B6C0D4-F465-9334-4658-D35455DE2FE9}"/>
              </a:ext>
            </a:extLst>
          </p:cNvPr>
          <p:cNvSpPr/>
          <p:nvPr/>
        </p:nvSpPr>
        <p:spPr>
          <a:xfrm>
            <a:off x="12065000" y="0"/>
            <a:ext cx="127000" cy="6858000"/>
          </a:xfrm>
          <a:prstGeom prst="rect">
            <a:avLst/>
          </a:prstGeom>
          <a:solidFill>
            <a:srgbClr val="F59E0B"/>
          </a:solidFill>
          <a:ln w="0" cap="flat" cmpd="sng" algn="ctr">
            <a:solidFill>
              <a:srgbClr val="F59E0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097F48-B4BC-8705-451C-97BCE326DE21}"/>
              </a:ext>
            </a:extLst>
          </p:cNvPr>
          <p:cNvSpPr txBox="1"/>
          <p:nvPr/>
        </p:nvSpPr>
        <p:spPr>
          <a:xfrm>
            <a:off x="5207000" y="869310"/>
            <a:ext cx="6032500" cy="76431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r"/>
            <a:r>
              <a:rPr lang="en-US" sz="4800" b="1">
                <a:solidFill>
                  <a:srgbClr val="FFFFFF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4800" b="1">
              <a:solidFill>
                <a:srgbClr val="FFFFFF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7E2640-EA19-A667-9DEA-D8D8DF42F7AD}"/>
              </a:ext>
            </a:extLst>
          </p:cNvPr>
          <p:cNvSpPr txBox="1"/>
          <p:nvPr/>
        </p:nvSpPr>
        <p:spPr>
          <a:xfrm>
            <a:off x="5207000" y="1894577"/>
            <a:ext cx="6032500" cy="94897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3000" b="1">
                <a:solidFill>
                  <a:srgbClr val="DDE7F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זיהוי מטרת שינוי וחוסרים פונקציונליים בקוד</a:t>
            </a:r>
            <a:endParaRPr lang="en-IL" sz="3000" b="1">
              <a:solidFill>
                <a:srgbClr val="DDE7F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E35FFA-7C71-305C-5F38-203D84957F57}"/>
              </a:ext>
            </a:extLst>
          </p:cNvPr>
          <p:cNvSpPr txBox="1"/>
          <p:nvPr/>
        </p:nvSpPr>
        <p:spPr>
          <a:xfrm>
            <a:off x="9144000" y="3098304"/>
            <a:ext cx="20955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r"/>
            <a:r>
              <a:rPr lang="en-US" sz="2900" b="1">
                <a:solidFill>
                  <a:srgbClr val="F59E0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RTL</a:t>
            </a:r>
            <a:endParaRPr lang="en-IL" sz="2900" b="1">
              <a:solidFill>
                <a:srgbClr val="F59E0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DE2FC07-D63E-9BE7-B85A-57D54E9FDBE7}"/>
              </a:ext>
            </a:extLst>
          </p:cNvPr>
          <p:cNvCxnSpPr/>
          <p:nvPr/>
        </p:nvCxnSpPr>
        <p:spPr>
          <a:xfrm>
            <a:off x="825500" y="3987800"/>
            <a:ext cx="10414000" cy="0"/>
          </a:xfrm>
          <a:prstGeom prst="line">
            <a:avLst/>
          </a:prstGeom>
          <a:ln w="19050">
            <a:solidFill>
              <a:srgbClr val="405B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519DDECB-0303-6836-09DE-BCBF6889335B}"/>
              </a:ext>
            </a:extLst>
          </p:cNvPr>
          <p:cNvSpPr txBox="1"/>
          <p:nvPr/>
        </p:nvSpPr>
        <p:spPr>
          <a:xfrm>
            <a:off x="5207000" y="4348653"/>
            <a:ext cx="6032500" cy="3334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000">
                <a:solidFill>
                  <a:srgbClr val="FFFFFF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קורן הנס  |  נועה סבג</a:t>
            </a:r>
            <a:endParaRPr lang="en-IL" sz="2000">
              <a:solidFill>
                <a:srgbClr val="FFFFFF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3C2A017-47AB-3E0E-21A2-0DB60C68EF9E}"/>
              </a:ext>
            </a:extLst>
          </p:cNvPr>
          <p:cNvSpPr txBox="1"/>
          <p:nvPr/>
        </p:nvSpPr>
        <p:spPr>
          <a:xfrm>
            <a:off x="825500" y="4384436"/>
            <a:ext cx="4445000" cy="28725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700">
                <a:solidFill>
                  <a:srgbClr val="AAC1D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Deep Learning Project</a:t>
            </a:r>
            <a:endParaRPr lang="en-IL" sz="1700">
              <a:solidFill>
                <a:srgbClr val="AAC1D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6170A95-2CD2-F6DC-DF12-4AB4F2A34CC5}"/>
              </a:ext>
            </a:extLst>
          </p:cNvPr>
          <p:cNvSpPr txBox="1"/>
          <p:nvPr/>
        </p:nvSpPr>
        <p:spPr>
          <a:xfrm>
            <a:off x="825500" y="5741019"/>
            <a:ext cx="1651000" cy="24109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400" b="1">
                <a:solidFill>
                  <a:srgbClr val="F59E0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15 min</a:t>
            </a:r>
            <a:endParaRPr lang="en-IL" sz="1400" b="1">
              <a:solidFill>
                <a:srgbClr val="F59E0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030A4D4-950F-4C80-F2A6-F6725E5FA845}"/>
              </a:ext>
            </a:extLst>
          </p:cNvPr>
          <p:cNvSpPr txBox="1"/>
          <p:nvPr/>
        </p:nvSpPr>
        <p:spPr>
          <a:xfrm>
            <a:off x="825500" y="6150108"/>
            <a:ext cx="33020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200">
                <a:solidFill>
                  <a:srgbClr val="AAC1D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Final Presentation</a:t>
            </a:r>
            <a:endParaRPr lang="en-IL" sz="1200">
              <a:solidFill>
                <a:srgbClr val="AAC1D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422026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_729">
            <a:extLst>
              <a:ext uri="{FF2B5EF4-FFF2-40B4-BE49-F238E27FC236}">
                <a16:creationId xmlns:a16="http://schemas.microsoft.com/office/drawing/2014/main" id="{F765166C-15CD-60C4-498E-22EED00A45F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Shape_730">
            <a:extLst>
              <a:ext uri="{FF2B5EF4-FFF2-40B4-BE49-F238E27FC236}">
                <a16:creationId xmlns:a16="http://schemas.microsoft.com/office/drawing/2014/main" id="{3C605E22-63B7-A3F8-8F12-9C0B9CEFBC1B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156542-5D62-FEF9-9258-05E7BB9FE271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חוסר גדול מסתתר בשינוי קטן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122C7E-264B-A665-D497-558B2129C21D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9ACE8CE-42A0-FDB9-F1DD-582A5A42D29A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FEED25A-38BD-673D-146F-438AD2484B9A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02 / 14</a:t>
            </a:r>
          </a:p>
        </p:txBody>
      </p:sp>
      <p:sp>
        <p:nvSpPr>
          <p:cNvPr id="10" name="Shape_731">
            <a:extLst>
              <a:ext uri="{FF2B5EF4-FFF2-40B4-BE49-F238E27FC236}">
                <a16:creationId xmlns:a16="http://schemas.microsoft.com/office/drawing/2014/main" id="{2A474584-8ECE-D8BA-557C-A254133A3CD6}"/>
              </a:ext>
            </a:extLst>
          </p:cNvPr>
          <p:cNvSpPr/>
          <p:nvPr/>
        </p:nvSpPr>
        <p:spPr>
          <a:xfrm>
            <a:off x="609600" y="1333500"/>
            <a:ext cx="6413500" cy="4191000"/>
          </a:xfrm>
          <a:prstGeom prst="rect">
            <a:avLst/>
          </a:prstGeom>
          <a:solidFill>
            <a:srgbClr val="0B1F33"/>
          </a:solidFill>
          <a:ln w="0" cap="flat" cmpd="sng" algn="ctr">
            <a:solidFill>
              <a:srgbClr val="0B1F33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6DB5B5B-56A5-CC28-F517-FACCDD6AEE61}"/>
              </a:ext>
            </a:extLst>
          </p:cNvPr>
          <p:cNvSpPr txBox="1"/>
          <p:nvPr/>
        </p:nvSpPr>
        <p:spPr>
          <a:xfrm>
            <a:off x="914400" y="1676400"/>
            <a:ext cx="5778500" cy="20313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>
                <a:solidFill>
                  <a:srgbClr val="DDE7F3"/>
                </a:solidFill>
                <a:latin typeface="Menlo" panose="020B0609030804020204" pitchFamily="49" charset="0"/>
                <a:sym typeface="Menlo" panose="020B0609030804020204" pitchFamily="49" charset="0"/>
              </a:rPr>
              <a:t>@@ always_ff @(posedge clk_i) @@
- if (!rst_ni) state_q &lt;= IDLE;
+ if (!rst_ni) state_q &lt;= IDLE;
+ else if (req_i) begin
+   state_q &lt;= BUSY;
+   valid_o &lt;= 1'b1;
+ end</a:t>
            </a:r>
            <a:endParaRPr lang="en-IL">
              <a:solidFill>
                <a:srgbClr val="DDE7F3"/>
              </a:solidFill>
              <a:latin typeface="Menlo" panose="020B0609030804020204" pitchFamily="49" charset="0"/>
              <a:sym typeface="Menlo" panose="020B0609030804020204" pitchFamily="49" charset="0"/>
            </a:endParaRPr>
          </a:p>
        </p:txBody>
      </p:sp>
      <p:sp>
        <p:nvSpPr>
          <p:cNvPr id="12" name="Shape_732">
            <a:extLst>
              <a:ext uri="{FF2B5EF4-FFF2-40B4-BE49-F238E27FC236}">
                <a16:creationId xmlns:a16="http://schemas.microsoft.com/office/drawing/2014/main" id="{C63EF781-DE17-C312-3107-0EC7F4B6501B}"/>
              </a:ext>
            </a:extLst>
          </p:cNvPr>
          <p:cNvSpPr/>
          <p:nvPr/>
        </p:nvSpPr>
        <p:spPr>
          <a:xfrm>
            <a:off x="914400" y="4749800"/>
            <a:ext cx="5778500" cy="457200"/>
          </a:xfrm>
          <a:prstGeom prst="rect">
            <a:avLst/>
          </a:prstGeom>
          <a:solidFill>
            <a:srgbClr val="23364A"/>
          </a:solidFill>
          <a:ln w="0" cap="flat" cmpd="sng" algn="ctr">
            <a:solidFill>
              <a:srgbClr val="23364A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1A45994-1F4E-6850-BC33-EF8727356873}"/>
              </a:ext>
            </a:extLst>
          </p:cNvPr>
          <p:cNvSpPr txBox="1"/>
          <p:nvPr/>
        </p:nvSpPr>
        <p:spPr>
          <a:xfrm>
            <a:off x="1079500" y="4869725"/>
            <a:ext cx="5461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F59E0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What if the final assignment is missing?</a:t>
            </a:r>
            <a:endParaRPr lang="en-IL" sz="1500" b="1">
              <a:solidFill>
                <a:srgbClr val="F59E0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4A2EA05-03EB-8972-7C0C-26414A1FA103}"/>
              </a:ext>
            </a:extLst>
          </p:cNvPr>
          <p:cNvSpPr txBox="1"/>
          <p:nvPr/>
        </p:nvSpPr>
        <p:spPr>
          <a:xfrm>
            <a:off x="7429500" y="1428110"/>
            <a:ext cx="4064000" cy="76431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4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השינוי עדיין יכול להיות תקין תחבירית</a:t>
            </a:r>
            <a:endParaRPr lang="en-IL" sz="24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5C6A76A-8C89-A838-4918-49F7D512D72F}"/>
              </a:ext>
            </a:extLst>
          </p:cNvPr>
          <p:cNvSpPr txBox="1"/>
          <p:nvPr/>
        </p:nvSpPr>
        <p:spPr>
          <a:xfrm>
            <a:off x="7429500" y="2141999"/>
            <a:ext cx="4064000" cy="73353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300" b="1">
                <a:solidFill>
                  <a:srgbClr val="DC4C64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אבל ההתנהגות הרצויה אינה שלמה</a:t>
            </a:r>
            <a:endParaRPr lang="en-IL" sz="2300" b="1">
              <a:solidFill>
                <a:srgbClr val="DC4C64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F913CBF-366E-6552-303A-D061555CA041}"/>
              </a:ext>
            </a:extLst>
          </p:cNvPr>
          <p:cNvCxnSpPr/>
          <p:nvPr/>
        </p:nvCxnSpPr>
        <p:spPr>
          <a:xfrm>
            <a:off x="7366000" y="3175000"/>
            <a:ext cx="41275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DD6AC857-9DFC-AE0A-04E0-5F58A2B6B9BF}"/>
              </a:ext>
            </a:extLst>
          </p:cNvPr>
          <p:cNvSpPr txBox="1"/>
          <p:nvPr/>
        </p:nvSpPr>
        <p:spPr>
          <a:xfrm>
            <a:off x="7429500" y="3454275"/>
            <a:ext cx="4064000" cy="94897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0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מפתח אנושי קורא הקשר, מבנה והבדלים בין שורות. המודל חייב לקבל את אותם רמזים.</a:t>
            </a:r>
            <a:endParaRPr lang="en-IL" sz="20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70D316A-786C-6D34-00A9-4F0997CA7B3E}"/>
              </a:ext>
            </a:extLst>
          </p:cNvPr>
          <p:cNvSpPr txBox="1"/>
          <p:nvPr/>
        </p:nvSpPr>
        <p:spPr>
          <a:xfrm>
            <a:off x="7429500" y="4999042"/>
            <a:ext cx="4064000" cy="85664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מפתח אנושי בתהליך </a:t>
            </a:r>
            <a:r>
              <a:rPr lang="en-US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⁦Code Review⁩ </a:t>
            </a:r>
            <a:r>
              <a:rPr lang="he-IL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קורא יחד את ההקשר, המבנה וההבדל בין השורות.</a:t>
            </a:r>
            <a:endParaRPr lang="en-IL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9098776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_733">
            <a:extLst>
              <a:ext uri="{FF2B5EF4-FFF2-40B4-BE49-F238E27FC236}">
                <a16:creationId xmlns:a16="http://schemas.microsoft.com/office/drawing/2014/main" id="{CA1F1EDC-848C-0B89-D9DF-9E9E1A90A34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Shape_734">
            <a:extLst>
              <a:ext uri="{FF2B5EF4-FFF2-40B4-BE49-F238E27FC236}">
                <a16:creationId xmlns:a16="http://schemas.microsoft.com/office/drawing/2014/main" id="{EE38B6C2-0956-A947-FF3E-390D0C4A5038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E1FFB9-6909-B22F-E1B3-4F03246FEA19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שתי שאלות מחקר, אובייקט למידה אחד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B50FADF-EBE4-D68D-275B-FD7EC8D228E4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288E414-6D40-89AB-799D-3141779CE8C0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AA6AE9DC-63BB-79A4-70D2-7C7E4D4D9E45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03 / 14</a:t>
            </a:r>
          </a:p>
        </p:txBody>
      </p:sp>
      <p:sp>
        <p:nvSpPr>
          <p:cNvPr id="10" name="Shape_735">
            <a:extLst>
              <a:ext uri="{FF2B5EF4-FFF2-40B4-BE49-F238E27FC236}">
                <a16:creationId xmlns:a16="http://schemas.microsoft.com/office/drawing/2014/main" id="{1DE8DDFF-BBBB-7649-1240-1FE70DBE07AC}"/>
              </a:ext>
            </a:extLst>
          </p:cNvPr>
          <p:cNvSpPr/>
          <p:nvPr/>
        </p:nvSpPr>
        <p:spPr>
          <a:xfrm>
            <a:off x="6350000" y="1498600"/>
            <a:ext cx="5143500" cy="2616200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rgbClr val="E8F1F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FBB8424-75BB-3E2A-8447-6869D890B54A}"/>
              </a:ext>
            </a:extLst>
          </p:cNvPr>
          <p:cNvSpPr txBox="1"/>
          <p:nvPr/>
        </p:nvSpPr>
        <p:spPr>
          <a:xfrm>
            <a:off x="6794500" y="1680909"/>
            <a:ext cx="42545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r"/>
            <a:r>
              <a:rPr lang="en-US" sz="30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Intent</a:t>
            </a:r>
            <a:endParaRPr lang="en-IL" sz="30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B426569-9426-1BB5-3512-D3A1BD39150E}"/>
              </a:ext>
            </a:extLst>
          </p:cNvPr>
          <p:cNvSpPr txBox="1"/>
          <p:nvPr/>
        </p:nvSpPr>
        <p:spPr>
          <a:xfrm>
            <a:off x="6794500" y="2529865"/>
            <a:ext cx="4254500" cy="36420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2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איזו מטרה עומדת מאחורי השינוי?</a:t>
            </a:r>
            <a:endParaRPr lang="en-IL" sz="22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E35FD10-DD14-EDD4-528F-10F1CC2465C3}"/>
              </a:ext>
            </a:extLst>
          </p:cNvPr>
          <p:cNvSpPr txBox="1"/>
          <p:nvPr/>
        </p:nvSpPr>
        <p:spPr>
          <a:xfrm>
            <a:off x="9017000" y="3447325"/>
            <a:ext cx="2032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r"/>
            <a:r>
              <a:rPr lang="en-US" sz="15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4 classes</a:t>
            </a:r>
            <a:endParaRPr lang="en-IL" sz="15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4" name="Shape_736">
            <a:extLst>
              <a:ext uri="{FF2B5EF4-FFF2-40B4-BE49-F238E27FC236}">
                <a16:creationId xmlns:a16="http://schemas.microsoft.com/office/drawing/2014/main" id="{3B5B7C03-BD8F-12CB-F85A-E10EB31981AE}"/>
              </a:ext>
            </a:extLst>
          </p:cNvPr>
          <p:cNvSpPr/>
          <p:nvPr/>
        </p:nvSpPr>
        <p:spPr>
          <a:xfrm>
            <a:off x="698500" y="1498600"/>
            <a:ext cx="5143500" cy="2616200"/>
          </a:xfrm>
          <a:prstGeom prst="rect">
            <a:avLst/>
          </a:prstGeom>
          <a:solidFill>
            <a:srgbClr val="FFF4E0"/>
          </a:solidFill>
          <a:ln w="0" cap="flat" cmpd="sng" algn="ctr">
            <a:solidFill>
              <a:srgbClr val="FFF4E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CCFC061-FE8C-A011-032C-299952D30248}"/>
              </a:ext>
            </a:extLst>
          </p:cNvPr>
          <p:cNvSpPr txBox="1"/>
          <p:nvPr/>
        </p:nvSpPr>
        <p:spPr>
          <a:xfrm>
            <a:off x="1143000" y="1680909"/>
            <a:ext cx="42545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r"/>
            <a:r>
              <a:rPr lang="en-US" sz="3000" b="1">
                <a:solidFill>
                  <a:srgbClr val="F59E0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Completeness</a:t>
            </a:r>
            <a:endParaRPr lang="en-IL" sz="3000" b="1">
              <a:solidFill>
                <a:srgbClr val="F59E0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A5006FA-F6DD-7EE8-E994-13AECEB05A33}"/>
              </a:ext>
            </a:extLst>
          </p:cNvPr>
          <p:cNvSpPr txBox="1"/>
          <p:nvPr/>
        </p:nvSpPr>
        <p:spPr>
          <a:xfrm>
            <a:off x="1143000" y="2529865"/>
            <a:ext cx="4254500" cy="36420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2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האם השינוי נראה שלם?</a:t>
            </a:r>
            <a:endParaRPr lang="en-IL" sz="22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AB663F7-5A5E-0B69-09A1-D60553B3B446}"/>
              </a:ext>
            </a:extLst>
          </p:cNvPr>
          <p:cNvSpPr txBox="1"/>
          <p:nvPr/>
        </p:nvSpPr>
        <p:spPr>
          <a:xfrm>
            <a:off x="3365500" y="3447325"/>
            <a:ext cx="2032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r"/>
            <a:r>
              <a:rPr lang="en-US" sz="15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binary task</a:t>
            </a:r>
            <a:endParaRPr lang="en-IL" sz="15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E0806A9-7C2A-290A-6AFB-3E001E5DDC03}"/>
              </a:ext>
            </a:extLst>
          </p:cNvPr>
          <p:cNvCxnSpPr/>
          <p:nvPr/>
        </p:nvCxnSpPr>
        <p:spPr>
          <a:xfrm>
            <a:off x="6096000" y="1676400"/>
            <a:ext cx="0" cy="2260600"/>
          </a:xfrm>
          <a:prstGeom prst="line">
            <a:avLst/>
          </a:prstGeom>
          <a:ln w="254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93252EC1-C285-8B7C-0F28-5DF482EA7BA2}"/>
              </a:ext>
            </a:extLst>
          </p:cNvPr>
          <p:cNvSpPr txBox="1"/>
          <p:nvPr/>
        </p:nvSpPr>
        <p:spPr>
          <a:xfrm>
            <a:off x="9842500" y="4542670"/>
            <a:ext cx="1651000" cy="28725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17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ההשערה</a:t>
            </a:r>
            <a:endParaRPr lang="en-IL" sz="17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D5DFC36-C4F1-7ED7-DFC9-204333F4D252}"/>
              </a:ext>
            </a:extLst>
          </p:cNvPr>
          <p:cNvSpPr txBox="1"/>
          <p:nvPr/>
        </p:nvSpPr>
        <p:spPr>
          <a:xfrm>
            <a:off x="3276600" y="4763576"/>
            <a:ext cx="8216900" cy="67197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1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ייצוג היררכי שמבחין בין שורות שנוספו, נמחקו ונשמרו ישפר את זיהוי החוסר.</a:t>
            </a:r>
            <a:endParaRPr lang="en-IL" sz="21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8EAAE4B-7BE4-3886-9003-50EB3B9876FA}"/>
              </a:ext>
            </a:extLst>
          </p:cNvPr>
          <p:cNvSpPr txBox="1"/>
          <p:nvPr/>
        </p:nvSpPr>
        <p:spPr>
          <a:xfrm>
            <a:off x="698500" y="5886553"/>
            <a:ext cx="10795000" cy="24109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4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CC2Vec   PatchNet   DeepJIT   CodeReviewer</a:t>
            </a:r>
            <a:endParaRPr lang="en-IL" sz="14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953783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_737">
            <a:extLst>
              <a:ext uri="{FF2B5EF4-FFF2-40B4-BE49-F238E27FC236}">
                <a16:creationId xmlns:a16="http://schemas.microsoft.com/office/drawing/2014/main" id="{48910FE8-12F9-4E54-78A1-2DDB756D90C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Shape_738">
            <a:extLst>
              <a:ext uri="{FF2B5EF4-FFF2-40B4-BE49-F238E27FC236}">
                <a16:creationId xmlns:a16="http://schemas.microsoft.com/office/drawing/2014/main" id="{CDF09621-9F49-CE2E-16F6-800CC0335959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6D1C37-4171-B88E-DF42-DEB198F90AF5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מהיסטוריית קוד לניסוי מבוקר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2C8D97-8E48-4DDE-1CB1-7DAC243F9317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7700666-74DB-0399-AAAF-573CE04C1B12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A30031F-C471-069C-8CD7-723F31E1C975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04 / 14</a:t>
            </a:r>
          </a:p>
        </p:txBody>
      </p:sp>
      <p:sp>
        <p:nvSpPr>
          <p:cNvPr id="10" name="Shape_739">
            <a:extLst>
              <a:ext uri="{FF2B5EF4-FFF2-40B4-BE49-F238E27FC236}">
                <a16:creationId xmlns:a16="http://schemas.microsoft.com/office/drawing/2014/main" id="{DF338A42-AEB7-1E28-B914-C5AAAB1A6E2A}"/>
              </a:ext>
            </a:extLst>
          </p:cNvPr>
          <p:cNvSpPr/>
          <p:nvPr/>
        </p:nvSpPr>
        <p:spPr>
          <a:xfrm>
            <a:off x="9398000" y="1955800"/>
            <a:ext cx="1841500" cy="1701800"/>
          </a:xfrm>
          <a:prstGeom prst="rect">
            <a:avLst/>
          </a:prstGeom>
          <a:solidFill>
            <a:srgbClr val="FFFFFF"/>
          </a:solidFill>
          <a:ln w="15240">
            <a:solidFill>
              <a:srgbClr val="CFD6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36D7DB7-1AA2-91D6-7DE5-908A8B3E13AC}"/>
              </a:ext>
            </a:extLst>
          </p:cNvPr>
          <p:cNvSpPr txBox="1"/>
          <p:nvPr/>
        </p:nvSpPr>
        <p:spPr>
          <a:xfrm>
            <a:off x="9525000" y="2309331"/>
            <a:ext cx="1587500" cy="54886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7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OpenTitan Git History</a:t>
            </a:r>
            <a:endParaRPr lang="en-IL" sz="17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468DE99-CA94-B077-BA37-350DF388D5CC}"/>
              </a:ext>
            </a:extLst>
          </p:cNvPr>
          <p:cNvCxnSpPr/>
          <p:nvPr/>
        </p:nvCxnSpPr>
        <p:spPr>
          <a:xfrm flipH="1">
            <a:off x="9169400" y="2806700"/>
            <a:ext cx="152400" cy="0"/>
          </a:xfrm>
          <a:prstGeom prst="line">
            <a:avLst/>
          </a:prstGeom>
          <a:ln w="317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hape_740">
            <a:extLst>
              <a:ext uri="{FF2B5EF4-FFF2-40B4-BE49-F238E27FC236}">
                <a16:creationId xmlns:a16="http://schemas.microsoft.com/office/drawing/2014/main" id="{1E46E427-C640-ABAB-C0F8-7FBE44A2CD3A}"/>
              </a:ext>
            </a:extLst>
          </p:cNvPr>
          <p:cNvSpPr/>
          <p:nvPr/>
        </p:nvSpPr>
        <p:spPr>
          <a:xfrm>
            <a:off x="7175500" y="1955800"/>
            <a:ext cx="1841500" cy="1701800"/>
          </a:xfrm>
          <a:prstGeom prst="rect">
            <a:avLst/>
          </a:prstGeom>
          <a:solidFill>
            <a:srgbClr val="FFFFFF"/>
          </a:solidFill>
          <a:ln w="15240">
            <a:solidFill>
              <a:srgbClr val="CFD6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8AD5B6F-AAEF-88FD-D5C9-1D8237F0B500}"/>
              </a:ext>
            </a:extLst>
          </p:cNvPr>
          <p:cNvSpPr txBox="1"/>
          <p:nvPr/>
        </p:nvSpPr>
        <p:spPr>
          <a:xfrm>
            <a:off x="7302500" y="2301636"/>
            <a:ext cx="1587500" cy="28725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7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 Mining</a:t>
            </a:r>
            <a:endParaRPr lang="en-IL" sz="17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4ADA1AB-6DB5-BED5-CC97-064F8ED6A9C7}"/>
              </a:ext>
            </a:extLst>
          </p:cNvPr>
          <p:cNvCxnSpPr/>
          <p:nvPr/>
        </p:nvCxnSpPr>
        <p:spPr>
          <a:xfrm flipH="1">
            <a:off x="6946900" y="2806700"/>
            <a:ext cx="152400" cy="0"/>
          </a:xfrm>
          <a:prstGeom prst="line">
            <a:avLst/>
          </a:prstGeom>
          <a:ln w="317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hape_741">
            <a:extLst>
              <a:ext uri="{FF2B5EF4-FFF2-40B4-BE49-F238E27FC236}">
                <a16:creationId xmlns:a16="http://schemas.microsoft.com/office/drawing/2014/main" id="{DC43EFEA-6074-2895-42D0-C73BE1D72737}"/>
              </a:ext>
            </a:extLst>
          </p:cNvPr>
          <p:cNvSpPr/>
          <p:nvPr/>
        </p:nvSpPr>
        <p:spPr>
          <a:xfrm>
            <a:off x="4953000" y="1955800"/>
            <a:ext cx="1841500" cy="1701800"/>
          </a:xfrm>
          <a:prstGeom prst="rect">
            <a:avLst/>
          </a:prstGeom>
          <a:solidFill>
            <a:srgbClr val="FFFFFF"/>
          </a:solidFill>
          <a:ln w="15240">
            <a:solidFill>
              <a:srgbClr val="CFD6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8D65C02-107B-B2AB-1B07-0964A4B5D9F4}"/>
              </a:ext>
            </a:extLst>
          </p:cNvPr>
          <p:cNvSpPr txBox="1"/>
          <p:nvPr/>
        </p:nvSpPr>
        <p:spPr>
          <a:xfrm>
            <a:off x="5080000" y="2317025"/>
            <a:ext cx="1587500" cy="81047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7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Weak Labels + Synthetic Holes</a:t>
            </a:r>
            <a:endParaRPr lang="en-IL" sz="17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ADDE3C3-58F9-D71A-D5CE-A0EF91F3D50D}"/>
              </a:ext>
            </a:extLst>
          </p:cNvPr>
          <p:cNvCxnSpPr/>
          <p:nvPr/>
        </p:nvCxnSpPr>
        <p:spPr>
          <a:xfrm flipH="1">
            <a:off x="4724400" y="2806700"/>
            <a:ext cx="152400" cy="0"/>
          </a:xfrm>
          <a:prstGeom prst="line">
            <a:avLst/>
          </a:prstGeom>
          <a:ln w="317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hape_742">
            <a:extLst>
              <a:ext uri="{FF2B5EF4-FFF2-40B4-BE49-F238E27FC236}">
                <a16:creationId xmlns:a16="http://schemas.microsoft.com/office/drawing/2014/main" id="{788A80F2-26C7-E73C-CFBE-D535788FA844}"/>
              </a:ext>
            </a:extLst>
          </p:cNvPr>
          <p:cNvSpPr/>
          <p:nvPr/>
        </p:nvSpPr>
        <p:spPr>
          <a:xfrm>
            <a:off x="2730500" y="1955800"/>
            <a:ext cx="1841500" cy="1701800"/>
          </a:xfrm>
          <a:prstGeom prst="rect">
            <a:avLst/>
          </a:prstGeom>
          <a:solidFill>
            <a:srgbClr val="FFFFFF"/>
          </a:solidFill>
          <a:ln w="15240">
            <a:solidFill>
              <a:srgbClr val="CFD6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980015D-6A30-4AF7-81D9-F76DF8FF2994}"/>
              </a:ext>
            </a:extLst>
          </p:cNvPr>
          <p:cNvSpPr txBox="1"/>
          <p:nvPr/>
        </p:nvSpPr>
        <p:spPr>
          <a:xfrm>
            <a:off x="2857500" y="2309331"/>
            <a:ext cx="1587500" cy="54886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7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Chronological Split</a:t>
            </a:r>
            <a:endParaRPr lang="en-IL" sz="17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948E57A-6F8B-1096-68CF-EEF400D0877D}"/>
              </a:ext>
            </a:extLst>
          </p:cNvPr>
          <p:cNvCxnSpPr/>
          <p:nvPr/>
        </p:nvCxnSpPr>
        <p:spPr>
          <a:xfrm flipH="1">
            <a:off x="2501900" y="2806700"/>
            <a:ext cx="152400" cy="0"/>
          </a:xfrm>
          <a:prstGeom prst="line">
            <a:avLst/>
          </a:prstGeom>
          <a:ln w="317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Shape_743">
            <a:extLst>
              <a:ext uri="{FF2B5EF4-FFF2-40B4-BE49-F238E27FC236}">
                <a16:creationId xmlns:a16="http://schemas.microsoft.com/office/drawing/2014/main" id="{185EB6F7-2836-DE54-18EB-2F9F8E3F1C3F}"/>
              </a:ext>
            </a:extLst>
          </p:cNvPr>
          <p:cNvSpPr/>
          <p:nvPr/>
        </p:nvSpPr>
        <p:spPr>
          <a:xfrm>
            <a:off x="508000" y="1955800"/>
            <a:ext cx="1841500" cy="1701800"/>
          </a:xfrm>
          <a:prstGeom prst="rect">
            <a:avLst/>
          </a:prstGeom>
          <a:solidFill>
            <a:srgbClr val="FFFFFF"/>
          </a:solidFill>
          <a:ln w="15240">
            <a:solidFill>
              <a:srgbClr val="CFD6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7B95F01-E1DA-887D-879F-1145998FE6B5}"/>
              </a:ext>
            </a:extLst>
          </p:cNvPr>
          <p:cNvSpPr txBox="1"/>
          <p:nvPr/>
        </p:nvSpPr>
        <p:spPr>
          <a:xfrm>
            <a:off x="635000" y="2309331"/>
            <a:ext cx="1587500" cy="54886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7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Training &amp; Evaluation</a:t>
            </a:r>
            <a:endParaRPr lang="en-IL" sz="17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D53DC71-A201-B7CC-E4A3-32AE90816C68}"/>
              </a:ext>
            </a:extLst>
          </p:cNvPr>
          <p:cNvSpPr txBox="1"/>
          <p:nvPr/>
        </p:nvSpPr>
        <p:spPr>
          <a:xfrm>
            <a:off x="9626600" y="3967281"/>
            <a:ext cx="1397000" cy="4103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IL" sz="2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5,903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229C792-2501-1903-AE66-AA8D0405E5A3}"/>
              </a:ext>
            </a:extLst>
          </p:cNvPr>
          <p:cNvSpPr txBox="1"/>
          <p:nvPr/>
        </p:nvSpPr>
        <p:spPr>
          <a:xfrm>
            <a:off x="5181600" y="3967281"/>
            <a:ext cx="1397000" cy="4103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IL" sz="2500" b="1">
                <a:solidFill>
                  <a:srgbClr val="F59E0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2,843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3B43330-DDA8-3479-0B86-FF06B65BCDF2}"/>
              </a:ext>
            </a:extLst>
          </p:cNvPr>
          <p:cNvSpPr txBox="1"/>
          <p:nvPr/>
        </p:nvSpPr>
        <p:spPr>
          <a:xfrm>
            <a:off x="2933700" y="3967281"/>
            <a:ext cx="1397000" cy="4103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IL" sz="2500" b="1">
                <a:solidFill>
                  <a:srgbClr val="2E9D78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5,500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8F072DB-0AC0-0C45-A49C-C8C7172D577F}"/>
              </a:ext>
            </a:extLst>
          </p:cNvPr>
          <p:cNvSpPr txBox="1"/>
          <p:nvPr/>
        </p:nvSpPr>
        <p:spPr>
          <a:xfrm>
            <a:off x="9423400" y="4511808"/>
            <a:ext cx="18034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2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raw candidates</a:t>
            </a:r>
            <a:endParaRPr lang="en-IL" sz="12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9D13BB7-EFA3-C466-9DDA-52E0BAD0AE3C}"/>
              </a:ext>
            </a:extLst>
          </p:cNvPr>
          <p:cNvSpPr txBox="1"/>
          <p:nvPr/>
        </p:nvSpPr>
        <p:spPr>
          <a:xfrm>
            <a:off x="4978400" y="4511808"/>
            <a:ext cx="18034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2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real examples</a:t>
            </a:r>
            <a:endParaRPr lang="en-IL" sz="12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C88717A-D300-04C6-8EFD-6B5220568645}"/>
              </a:ext>
            </a:extLst>
          </p:cNvPr>
          <p:cNvSpPr txBox="1"/>
          <p:nvPr/>
        </p:nvSpPr>
        <p:spPr>
          <a:xfrm>
            <a:off x="2730500" y="4511808"/>
            <a:ext cx="18034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2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total examples</a:t>
            </a:r>
            <a:endParaRPr lang="en-IL" sz="12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30" name="Shape_744">
            <a:extLst>
              <a:ext uri="{FF2B5EF4-FFF2-40B4-BE49-F238E27FC236}">
                <a16:creationId xmlns:a16="http://schemas.microsoft.com/office/drawing/2014/main" id="{52D237B4-F7BB-194F-EE20-8FF6879A2639}"/>
              </a:ext>
            </a:extLst>
          </p:cNvPr>
          <p:cNvSpPr/>
          <p:nvPr/>
        </p:nvSpPr>
        <p:spPr>
          <a:xfrm>
            <a:off x="698500" y="5181600"/>
            <a:ext cx="10795000" cy="774700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rgbClr val="E8F1F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5D45CD4-B2B3-1B4C-469A-5AD47CBCA5DA}"/>
              </a:ext>
            </a:extLst>
          </p:cNvPr>
          <p:cNvSpPr txBox="1"/>
          <p:nvPr/>
        </p:nvSpPr>
        <p:spPr>
          <a:xfrm>
            <a:off x="1054100" y="5359648"/>
            <a:ext cx="10083800" cy="318036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1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כל שינוי נשמר ברמת קובץ, והזוג המקורי והסינתטי נשאר באותה חלוקה.</a:t>
            </a:r>
            <a:endParaRPr lang="en-IL" sz="1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1316745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_745">
            <a:extLst>
              <a:ext uri="{FF2B5EF4-FFF2-40B4-BE49-F238E27FC236}">
                <a16:creationId xmlns:a16="http://schemas.microsoft.com/office/drawing/2014/main" id="{AE1653DE-684D-818B-7A7B-70005F4F419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Shape_746">
            <a:extLst>
              <a:ext uri="{FF2B5EF4-FFF2-40B4-BE49-F238E27FC236}">
                <a16:creationId xmlns:a16="http://schemas.microsoft.com/office/drawing/2014/main" id="{B37613B3-02F7-4345-492D-38BFB5280441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8D2FFE5-2808-69E7-5F83-4A0DB916F430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מערך הנתונים: כרונולוגי, מאוזן בזוגות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042D45-D731-6E42-B44C-81BC0EFE01EA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D823B2D-040F-7087-7074-305EDD07D7F0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F3E2FCCC-F20B-050F-2370-6E262CB4F7AF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05 / 14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CC8BC5B-7002-F2DD-3FF3-736E1BE5A946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371600"/>
            <a:ext cx="4953000" cy="4432300"/>
          </a:xfrm>
          <a:prstGeom prst="rect">
            <a:avLst/>
          </a:prstGeom>
        </p:spPr>
      </p:pic>
      <p:sp>
        <p:nvSpPr>
          <p:cNvPr id="12" name="Shape_747">
            <a:extLst>
              <a:ext uri="{FF2B5EF4-FFF2-40B4-BE49-F238E27FC236}">
                <a16:creationId xmlns:a16="http://schemas.microsoft.com/office/drawing/2014/main" id="{F47BE208-C3A4-3674-027D-744EC9A88966}"/>
              </a:ext>
            </a:extLst>
          </p:cNvPr>
          <p:cNvSpPr/>
          <p:nvPr/>
        </p:nvSpPr>
        <p:spPr>
          <a:xfrm>
            <a:off x="6261100" y="1447800"/>
            <a:ext cx="5232400" cy="1092200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rgbClr val="E8F1F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3" name="Shape_748">
            <a:extLst>
              <a:ext uri="{FF2B5EF4-FFF2-40B4-BE49-F238E27FC236}">
                <a16:creationId xmlns:a16="http://schemas.microsoft.com/office/drawing/2014/main" id="{05AFE2CA-0ACC-105A-9783-8D464CD2DE72}"/>
              </a:ext>
            </a:extLst>
          </p:cNvPr>
          <p:cNvSpPr/>
          <p:nvPr/>
        </p:nvSpPr>
        <p:spPr>
          <a:xfrm>
            <a:off x="11404600" y="1447800"/>
            <a:ext cx="88900" cy="1092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77B2B2E-BEA2-589B-422D-BA5EAA004211}"/>
              </a:ext>
            </a:extLst>
          </p:cNvPr>
          <p:cNvSpPr txBox="1"/>
          <p:nvPr/>
        </p:nvSpPr>
        <p:spPr>
          <a:xfrm>
            <a:off x="6464300" y="1528509"/>
            <a:ext cx="47879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30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5,903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16F970B-A2C8-C5CA-8B67-0D5B1B0C0185}"/>
              </a:ext>
            </a:extLst>
          </p:cNvPr>
          <p:cNvSpPr txBox="1"/>
          <p:nvPr/>
        </p:nvSpPr>
        <p:spPr>
          <a:xfrm>
            <a:off x="6464300" y="2180014"/>
            <a:ext cx="47879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raw candidates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6" name="Shape_749">
            <a:extLst>
              <a:ext uri="{FF2B5EF4-FFF2-40B4-BE49-F238E27FC236}">
                <a16:creationId xmlns:a16="http://schemas.microsoft.com/office/drawing/2014/main" id="{6B3E218B-6CE6-9D39-AFEA-B64732CE9263}"/>
              </a:ext>
            </a:extLst>
          </p:cNvPr>
          <p:cNvSpPr/>
          <p:nvPr/>
        </p:nvSpPr>
        <p:spPr>
          <a:xfrm>
            <a:off x="6261100" y="2705100"/>
            <a:ext cx="5232400" cy="1092200"/>
          </a:xfrm>
          <a:prstGeom prst="rect">
            <a:avLst/>
          </a:prstGeom>
          <a:solidFill>
            <a:srgbClr val="FFF4E0"/>
          </a:solidFill>
          <a:ln w="0" cap="flat" cmpd="sng" algn="ctr">
            <a:solidFill>
              <a:srgbClr val="FFF4E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7" name="Shape_750">
            <a:extLst>
              <a:ext uri="{FF2B5EF4-FFF2-40B4-BE49-F238E27FC236}">
                <a16:creationId xmlns:a16="http://schemas.microsoft.com/office/drawing/2014/main" id="{EBD362A0-72D1-D00B-9FCC-D361E40C1616}"/>
              </a:ext>
            </a:extLst>
          </p:cNvPr>
          <p:cNvSpPr/>
          <p:nvPr/>
        </p:nvSpPr>
        <p:spPr>
          <a:xfrm>
            <a:off x="11404600" y="2705100"/>
            <a:ext cx="88900" cy="1092200"/>
          </a:xfrm>
          <a:prstGeom prst="rect">
            <a:avLst/>
          </a:prstGeom>
          <a:solidFill>
            <a:srgbClr val="F59E0B"/>
          </a:solidFill>
          <a:ln w="0" cap="flat" cmpd="sng" algn="ctr">
            <a:solidFill>
              <a:srgbClr val="F59E0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4EAFD2A-89A8-7768-6343-C22AC88C6A80}"/>
              </a:ext>
            </a:extLst>
          </p:cNvPr>
          <p:cNvSpPr txBox="1"/>
          <p:nvPr/>
        </p:nvSpPr>
        <p:spPr>
          <a:xfrm>
            <a:off x="6464300" y="2785809"/>
            <a:ext cx="47879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3000" b="1">
                <a:solidFill>
                  <a:srgbClr val="F59E0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2,843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9618020-EB55-7133-DA82-1F52DCEA02CB}"/>
              </a:ext>
            </a:extLst>
          </p:cNvPr>
          <p:cNvSpPr txBox="1"/>
          <p:nvPr/>
        </p:nvSpPr>
        <p:spPr>
          <a:xfrm>
            <a:off x="6464300" y="3437314"/>
            <a:ext cx="47879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weak-labeled real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0" name="Shape_751">
            <a:extLst>
              <a:ext uri="{FF2B5EF4-FFF2-40B4-BE49-F238E27FC236}">
                <a16:creationId xmlns:a16="http://schemas.microsoft.com/office/drawing/2014/main" id="{6F36DAB7-BB8F-F7AC-85D2-89C2E9993FAC}"/>
              </a:ext>
            </a:extLst>
          </p:cNvPr>
          <p:cNvSpPr/>
          <p:nvPr/>
        </p:nvSpPr>
        <p:spPr>
          <a:xfrm>
            <a:off x="6261100" y="3962400"/>
            <a:ext cx="5232400" cy="1092200"/>
          </a:xfrm>
          <a:prstGeom prst="rect">
            <a:avLst/>
          </a:prstGeom>
          <a:solidFill>
            <a:srgbClr val="E7F7F0"/>
          </a:solidFill>
          <a:ln w="0" cap="flat" cmpd="sng" algn="ctr">
            <a:solidFill>
              <a:srgbClr val="E7F7F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1" name="Shape_752">
            <a:extLst>
              <a:ext uri="{FF2B5EF4-FFF2-40B4-BE49-F238E27FC236}">
                <a16:creationId xmlns:a16="http://schemas.microsoft.com/office/drawing/2014/main" id="{08C40220-376A-C05E-EE2A-D9B6A87CC37D}"/>
              </a:ext>
            </a:extLst>
          </p:cNvPr>
          <p:cNvSpPr/>
          <p:nvPr/>
        </p:nvSpPr>
        <p:spPr>
          <a:xfrm>
            <a:off x="11404600" y="3962400"/>
            <a:ext cx="88900" cy="1092200"/>
          </a:xfrm>
          <a:prstGeom prst="rect">
            <a:avLst/>
          </a:prstGeom>
          <a:solidFill>
            <a:srgbClr val="2E9D78"/>
          </a:solidFill>
          <a:ln w="0" cap="flat" cmpd="sng" algn="ctr">
            <a:solidFill>
              <a:srgbClr val="2E9D78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49CDF1E-D007-BD3B-1663-2F9D0D530118}"/>
              </a:ext>
            </a:extLst>
          </p:cNvPr>
          <p:cNvSpPr txBox="1"/>
          <p:nvPr/>
        </p:nvSpPr>
        <p:spPr>
          <a:xfrm>
            <a:off x="6464300" y="4043109"/>
            <a:ext cx="47879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3000" b="1">
                <a:solidFill>
                  <a:srgbClr val="2E9D78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5,500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7776A0A-50F4-C5E1-B5F6-8FAE998BF7FB}"/>
              </a:ext>
            </a:extLst>
          </p:cNvPr>
          <p:cNvSpPr txBox="1"/>
          <p:nvPr/>
        </p:nvSpPr>
        <p:spPr>
          <a:xfrm>
            <a:off x="6464300" y="4694614"/>
            <a:ext cx="47879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after synthetic holes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05A35E0-1D65-9D06-A99D-67AA176F6DD9}"/>
              </a:ext>
            </a:extLst>
          </p:cNvPr>
          <p:cNvSpPr txBox="1"/>
          <p:nvPr/>
        </p:nvSpPr>
        <p:spPr>
          <a:xfrm>
            <a:off x="6261100" y="5408131"/>
            <a:ext cx="5232400" cy="2718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6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train 3,873    validation 830    test 797</a:t>
            </a:r>
            <a:endParaRPr lang="en-IL" sz="16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6989829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_753">
            <a:extLst>
              <a:ext uri="{FF2B5EF4-FFF2-40B4-BE49-F238E27FC236}">
                <a16:creationId xmlns:a16="http://schemas.microsoft.com/office/drawing/2014/main" id="{7FE24BD8-8E4F-7D1D-7891-1A57103A962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Shape_754">
            <a:extLst>
              <a:ext uri="{FF2B5EF4-FFF2-40B4-BE49-F238E27FC236}">
                <a16:creationId xmlns:a16="http://schemas.microsoft.com/office/drawing/2014/main" id="{41381460-737B-2E05-FACC-7AB3AC72D6B0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505440-54FC-58DB-38F1-0622C06BDCC3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יצירת חוסרים סינתטיים בתוך אזור השינוי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5D56E1-8E79-CDA1-6A14-148EC7DDFAE8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10F39A2-F286-ABD2-F543-F4C121897D6D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313A9FF8-F7B1-6959-E744-D26B5C0D02C7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06 / 14</a:t>
            </a:r>
          </a:p>
        </p:txBody>
      </p:sp>
      <p:sp>
        <p:nvSpPr>
          <p:cNvPr id="10" name="Shape_755">
            <a:extLst>
              <a:ext uri="{FF2B5EF4-FFF2-40B4-BE49-F238E27FC236}">
                <a16:creationId xmlns:a16="http://schemas.microsoft.com/office/drawing/2014/main" id="{AD6C3C53-66F5-B954-D4CB-8B356A14EA8C}"/>
              </a:ext>
            </a:extLst>
          </p:cNvPr>
          <p:cNvSpPr/>
          <p:nvPr/>
        </p:nvSpPr>
        <p:spPr>
          <a:xfrm>
            <a:off x="6413500" y="1498600"/>
            <a:ext cx="5080000" cy="3238500"/>
          </a:xfrm>
          <a:prstGeom prst="rect">
            <a:avLst/>
          </a:prstGeom>
          <a:solidFill>
            <a:srgbClr val="0B1F33"/>
          </a:solidFill>
          <a:ln w="0" cap="flat" cmpd="sng" algn="ctr">
            <a:solidFill>
              <a:srgbClr val="0B1F33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E6ADCD2-E95C-CF4D-9A3E-879193864F38}"/>
              </a:ext>
            </a:extLst>
          </p:cNvPr>
          <p:cNvSpPr txBox="1"/>
          <p:nvPr/>
        </p:nvSpPr>
        <p:spPr>
          <a:xfrm>
            <a:off x="6794500" y="1740519"/>
            <a:ext cx="1778000" cy="24109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400" b="1">
                <a:solidFill>
                  <a:srgbClr val="2E9D78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COMPLETE</a:t>
            </a:r>
            <a:endParaRPr lang="en-IL" sz="1400" b="1">
              <a:solidFill>
                <a:srgbClr val="2E9D78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5AA7461-CD07-5765-92A6-ADEBEBAAFE0E}"/>
              </a:ext>
            </a:extLst>
          </p:cNvPr>
          <p:cNvSpPr txBox="1"/>
          <p:nvPr/>
        </p:nvSpPr>
        <p:spPr>
          <a:xfrm>
            <a:off x="6794500" y="2174265"/>
            <a:ext cx="4254500" cy="119519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900">
                <a:solidFill>
                  <a:srgbClr val="DDE7F3"/>
                </a:solidFill>
                <a:latin typeface="Menlo" panose="020B0609030804020204" pitchFamily="49" charset="0"/>
                <a:sym typeface="Menlo" panose="020B0609030804020204" pitchFamily="49" charset="0"/>
              </a:rPr>
              <a:t>+ if (req_i) begin
+   state_d = BUSY;
+   valid_d = 1'b1;
+ end</a:t>
            </a:r>
            <a:endParaRPr lang="en-IL" sz="1900">
              <a:solidFill>
                <a:srgbClr val="DDE7F3"/>
              </a:solidFill>
              <a:latin typeface="Menlo" panose="020B0609030804020204" pitchFamily="49" charset="0"/>
              <a:sym typeface="Menlo" panose="020B0609030804020204" pitchFamily="49" charset="0"/>
            </a:endParaRPr>
          </a:p>
        </p:txBody>
      </p:sp>
      <p:sp>
        <p:nvSpPr>
          <p:cNvPr id="13" name="Shape_756">
            <a:extLst>
              <a:ext uri="{FF2B5EF4-FFF2-40B4-BE49-F238E27FC236}">
                <a16:creationId xmlns:a16="http://schemas.microsoft.com/office/drawing/2014/main" id="{A7F27469-FF6E-84B8-E833-7705A7881711}"/>
              </a:ext>
            </a:extLst>
          </p:cNvPr>
          <p:cNvSpPr/>
          <p:nvPr/>
        </p:nvSpPr>
        <p:spPr>
          <a:xfrm>
            <a:off x="698500" y="1498600"/>
            <a:ext cx="5080000" cy="3238500"/>
          </a:xfrm>
          <a:prstGeom prst="rect">
            <a:avLst/>
          </a:prstGeom>
          <a:solidFill>
            <a:srgbClr val="262F3E"/>
          </a:solidFill>
          <a:ln w="0" cap="flat" cmpd="sng" algn="ctr">
            <a:solidFill>
              <a:srgbClr val="262F3E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4EE196F-A765-DF28-6E95-05DF6DA90E76}"/>
              </a:ext>
            </a:extLst>
          </p:cNvPr>
          <p:cNvSpPr txBox="1"/>
          <p:nvPr/>
        </p:nvSpPr>
        <p:spPr>
          <a:xfrm>
            <a:off x="1079500" y="1740519"/>
            <a:ext cx="2667000" cy="24109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400" b="1">
                <a:solidFill>
                  <a:srgbClr val="F59E0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SYNTHETIC HOLE</a:t>
            </a:r>
            <a:endParaRPr lang="en-IL" sz="1400" b="1">
              <a:solidFill>
                <a:srgbClr val="F59E0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3E561B2-8C18-7188-0F62-3F02077D0614}"/>
              </a:ext>
            </a:extLst>
          </p:cNvPr>
          <p:cNvSpPr txBox="1"/>
          <p:nvPr/>
        </p:nvSpPr>
        <p:spPr>
          <a:xfrm>
            <a:off x="1079500" y="2174265"/>
            <a:ext cx="4254500" cy="119519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900">
                <a:solidFill>
                  <a:srgbClr val="DDE7F3"/>
                </a:solidFill>
                <a:latin typeface="Menlo" panose="020B0609030804020204" pitchFamily="49" charset="0"/>
                <a:sym typeface="Menlo" panose="020B0609030804020204" pitchFamily="49" charset="0"/>
              </a:rPr>
              <a:t>+ if (req_i) begin
+   state_d = BUSY;
+ end</a:t>
            </a:r>
            <a:endParaRPr lang="en-IL" sz="1900">
              <a:solidFill>
                <a:srgbClr val="DDE7F3"/>
              </a:solidFill>
              <a:latin typeface="Menlo" panose="020B0609030804020204" pitchFamily="49" charset="0"/>
              <a:sym typeface="Menlo" panose="020B0609030804020204" pitchFamily="49" charset="0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FC968B3-97BB-8BBE-9EF3-9D8AC63C0A72}"/>
              </a:ext>
            </a:extLst>
          </p:cNvPr>
          <p:cNvCxnSpPr/>
          <p:nvPr/>
        </p:nvCxnSpPr>
        <p:spPr>
          <a:xfrm flipH="1">
            <a:off x="6286500" y="3111500"/>
            <a:ext cx="381000" cy="0"/>
          </a:xfrm>
          <a:prstGeom prst="line">
            <a:avLst/>
          </a:prstGeom>
          <a:ln w="38100">
            <a:solidFill>
              <a:srgbClr val="F59E0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B486AE77-AB43-C7A0-0DF1-23D5433FBBEF}"/>
              </a:ext>
            </a:extLst>
          </p:cNvPr>
          <p:cNvSpPr txBox="1"/>
          <p:nvPr/>
        </p:nvSpPr>
        <p:spPr>
          <a:xfrm>
            <a:off x="4279900" y="4979476"/>
            <a:ext cx="3619500" cy="302647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b="1">
                <a:solidFill>
                  <a:srgbClr val="F59E0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drop_added_line</a:t>
            </a:r>
            <a:endParaRPr lang="en-IL" b="1">
              <a:solidFill>
                <a:srgbClr val="F59E0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BD54133-2DCA-FEAC-C8FA-7E7AEE42596B}"/>
              </a:ext>
            </a:extLst>
          </p:cNvPr>
          <p:cNvSpPr txBox="1"/>
          <p:nvPr/>
        </p:nvSpPr>
        <p:spPr>
          <a:xfrm>
            <a:off x="4470400" y="5330815"/>
            <a:ext cx="3238500" cy="50270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IL" sz="3100" b="1">
                <a:solidFill>
                  <a:srgbClr val="DC4C64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82.2%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F91A054-9ABD-440D-2227-BC0A9614A78E}"/>
              </a:ext>
            </a:extLst>
          </p:cNvPr>
          <p:cNvSpPr txBox="1"/>
          <p:nvPr/>
        </p:nvSpPr>
        <p:spPr>
          <a:xfrm>
            <a:off x="4330700" y="6048508"/>
            <a:ext cx="35306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2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of test synthetic examples</a:t>
            </a:r>
            <a:endParaRPr lang="en-IL" sz="12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438943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_757">
            <a:extLst>
              <a:ext uri="{FF2B5EF4-FFF2-40B4-BE49-F238E27FC236}">
                <a16:creationId xmlns:a16="http://schemas.microsoft.com/office/drawing/2014/main" id="{6D2645AE-AE50-8478-AA7A-98D11BE992D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Shape_758">
            <a:extLst>
              <a:ext uri="{FF2B5EF4-FFF2-40B4-BE49-F238E27FC236}">
                <a16:creationId xmlns:a16="http://schemas.microsoft.com/office/drawing/2014/main" id="{D9D53F5B-6DAA-9B95-1241-503EA62A6660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0F84A2-BBD6-43BC-38FB-0B94ABBA976A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השוואת ארבע משפחות מודלים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7A935D0-07C3-5EC6-DC51-2D0B6CBCA549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561883A-02B7-0AAD-7E92-2B175387AE00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C67782D-1B87-BD0F-C4FB-60EF4BF32AEF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07 / 14</a:t>
            </a:r>
          </a:p>
        </p:txBody>
      </p:sp>
      <p:sp>
        <p:nvSpPr>
          <p:cNvPr id="10" name="Shape_759">
            <a:extLst>
              <a:ext uri="{FF2B5EF4-FFF2-40B4-BE49-F238E27FC236}">
                <a16:creationId xmlns:a16="http://schemas.microsoft.com/office/drawing/2014/main" id="{21E67039-C757-1185-B9C3-054261F640DC}"/>
              </a:ext>
            </a:extLst>
          </p:cNvPr>
          <p:cNvSpPr/>
          <p:nvPr/>
        </p:nvSpPr>
        <p:spPr>
          <a:xfrm>
            <a:off x="9080500" y="1524000"/>
            <a:ext cx="2413000" cy="3022600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rgbClr val="E8F1F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A4F4F0B-23DC-DAD5-98F7-DA77495CCFCF}"/>
              </a:ext>
            </a:extLst>
          </p:cNvPr>
          <p:cNvSpPr txBox="1"/>
          <p:nvPr/>
        </p:nvSpPr>
        <p:spPr>
          <a:xfrm>
            <a:off x="9309100" y="1719381"/>
            <a:ext cx="482600" cy="4103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2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4EA76ED-1E1B-912C-733B-853A63AA82E9}"/>
              </a:ext>
            </a:extLst>
          </p:cNvPr>
          <p:cNvSpPr txBox="1"/>
          <p:nvPr/>
        </p:nvSpPr>
        <p:spPr>
          <a:xfrm>
            <a:off x="9309100" y="2370142"/>
            <a:ext cx="1955800" cy="579646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TF-IDF + Logistic Regression</a:t>
            </a:r>
            <a:endParaRPr lang="en-IL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F946ABC-39F8-68D3-7DBF-89A3EB249898}"/>
              </a:ext>
            </a:extLst>
          </p:cNvPr>
          <p:cNvSpPr txBox="1"/>
          <p:nvPr/>
        </p:nvSpPr>
        <p:spPr>
          <a:xfrm>
            <a:off x="9309100" y="3550413"/>
            <a:ext cx="19558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sparse lexical features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4" name="Shape_760">
            <a:extLst>
              <a:ext uri="{FF2B5EF4-FFF2-40B4-BE49-F238E27FC236}">
                <a16:creationId xmlns:a16="http://schemas.microsoft.com/office/drawing/2014/main" id="{71737B6C-938F-7ACC-00F5-2BA60AC71DAC}"/>
              </a:ext>
            </a:extLst>
          </p:cNvPr>
          <p:cNvSpPr/>
          <p:nvPr/>
        </p:nvSpPr>
        <p:spPr>
          <a:xfrm>
            <a:off x="6286500" y="1524000"/>
            <a:ext cx="2413000" cy="3022600"/>
          </a:xfrm>
          <a:prstGeom prst="rect">
            <a:avLst/>
          </a:prstGeom>
          <a:solidFill>
            <a:srgbClr val="E7F7F0"/>
          </a:solidFill>
          <a:ln w="0" cap="flat" cmpd="sng" algn="ctr">
            <a:solidFill>
              <a:srgbClr val="E7F7F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1F7C300-8ED6-68E6-AC03-F8D6564B2D08}"/>
              </a:ext>
            </a:extLst>
          </p:cNvPr>
          <p:cNvSpPr txBox="1"/>
          <p:nvPr/>
        </p:nvSpPr>
        <p:spPr>
          <a:xfrm>
            <a:off x="6515100" y="1719381"/>
            <a:ext cx="482600" cy="4103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2500" b="1">
                <a:solidFill>
                  <a:srgbClr val="2E9D78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35200D7-BFE3-B7A4-73E2-00E0B32B4046}"/>
              </a:ext>
            </a:extLst>
          </p:cNvPr>
          <p:cNvSpPr txBox="1"/>
          <p:nvPr/>
        </p:nvSpPr>
        <p:spPr>
          <a:xfrm>
            <a:off x="6515100" y="2370142"/>
            <a:ext cx="1955800" cy="302647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MLP</a:t>
            </a:r>
            <a:endParaRPr lang="en-IL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AD9FA57-F3A8-53B5-3984-455D594F749C}"/>
              </a:ext>
            </a:extLst>
          </p:cNvPr>
          <p:cNvSpPr txBox="1"/>
          <p:nvPr/>
        </p:nvSpPr>
        <p:spPr>
          <a:xfrm>
            <a:off x="6515100" y="3450386"/>
            <a:ext cx="1955800" cy="42575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pooled token embeddings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8" name="Shape_761">
            <a:extLst>
              <a:ext uri="{FF2B5EF4-FFF2-40B4-BE49-F238E27FC236}">
                <a16:creationId xmlns:a16="http://schemas.microsoft.com/office/drawing/2014/main" id="{9917B8A5-B93C-C8F0-FC52-8F22A6A30B08}"/>
              </a:ext>
            </a:extLst>
          </p:cNvPr>
          <p:cNvSpPr/>
          <p:nvPr/>
        </p:nvSpPr>
        <p:spPr>
          <a:xfrm>
            <a:off x="3492500" y="1524000"/>
            <a:ext cx="2413000" cy="3022600"/>
          </a:xfrm>
          <a:prstGeom prst="rect">
            <a:avLst/>
          </a:prstGeom>
          <a:solidFill>
            <a:srgbClr val="FFF4E0"/>
          </a:solidFill>
          <a:ln w="0" cap="flat" cmpd="sng" algn="ctr">
            <a:solidFill>
              <a:srgbClr val="FFF4E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128F2E0-1FB6-33A4-8603-FA1322BF1AF9}"/>
              </a:ext>
            </a:extLst>
          </p:cNvPr>
          <p:cNvSpPr txBox="1"/>
          <p:nvPr/>
        </p:nvSpPr>
        <p:spPr>
          <a:xfrm>
            <a:off x="3721100" y="1719381"/>
            <a:ext cx="482600" cy="4103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2500" b="1">
                <a:solidFill>
                  <a:srgbClr val="F59E0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0DA3621-60BB-2E46-4032-9868D18E08A7}"/>
              </a:ext>
            </a:extLst>
          </p:cNvPr>
          <p:cNvSpPr txBox="1"/>
          <p:nvPr/>
        </p:nvSpPr>
        <p:spPr>
          <a:xfrm>
            <a:off x="3721100" y="2370142"/>
            <a:ext cx="1955800" cy="302647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BiGRU</a:t>
            </a:r>
            <a:endParaRPr lang="en-IL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D025316-3E49-9BA7-B111-0080BE5741ED}"/>
              </a:ext>
            </a:extLst>
          </p:cNvPr>
          <p:cNvSpPr txBox="1"/>
          <p:nvPr/>
        </p:nvSpPr>
        <p:spPr>
          <a:xfrm>
            <a:off x="3721100" y="3550413"/>
            <a:ext cx="19558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flat sequence encoder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2" name="Shape_762">
            <a:extLst>
              <a:ext uri="{FF2B5EF4-FFF2-40B4-BE49-F238E27FC236}">
                <a16:creationId xmlns:a16="http://schemas.microsoft.com/office/drawing/2014/main" id="{A090B1B3-2CAA-5854-9961-6C09F41C61CA}"/>
              </a:ext>
            </a:extLst>
          </p:cNvPr>
          <p:cNvSpPr/>
          <p:nvPr/>
        </p:nvSpPr>
        <p:spPr>
          <a:xfrm>
            <a:off x="698500" y="1524000"/>
            <a:ext cx="2413000" cy="3022600"/>
          </a:xfrm>
          <a:prstGeom prst="rect">
            <a:avLst/>
          </a:prstGeom>
          <a:solidFill>
            <a:srgbClr val="FDEBEF"/>
          </a:solidFill>
          <a:ln w="0" cap="flat" cmpd="sng" algn="ctr">
            <a:solidFill>
              <a:srgbClr val="FDEBE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DD6B133-3021-2666-F1E2-BA9B78BF226B}"/>
              </a:ext>
            </a:extLst>
          </p:cNvPr>
          <p:cNvSpPr txBox="1"/>
          <p:nvPr/>
        </p:nvSpPr>
        <p:spPr>
          <a:xfrm>
            <a:off x="927100" y="1719381"/>
            <a:ext cx="482600" cy="4103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2500" b="1">
                <a:solidFill>
                  <a:srgbClr val="DC4C64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F3807B8-1B1C-A61D-5927-20E4B645334D}"/>
              </a:ext>
            </a:extLst>
          </p:cNvPr>
          <p:cNvSpPr txBox="1"/>
          <p:nvPr/>
        </p:nvSpPr>
        <p:spPr>
          <a:xfrm>
            <a:off x="927100" y="2370142"/>
            <a:ext cx="1955800" cy="579646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Hierarchical Transformer</a:t>
            </a:r>
            <a:endParaRPr lang="en-IL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D0C16C8-9EA9-3074-5841-796FFA461101}"/>
              </a:ext>
            </a:extLst>
          </p:cNvPr>
          <p:cNvSpPr txBox="1"/>
          <p:nvPr/>
        </p:nvSpPr>
        <p:spPr>
          <a:xfrm>
            <a:off x="927100" y="3450386"/>
            <a:ext cx="1955800" cy="42575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line encoder + diff structure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6" name="Shape_763">
            <a:extLst>
              <a:ext uri="{FF2B5EF4-FFF2-40B4-BE49-F238E27FC236}">
                <a16:creationId xmlns:a16="http://schemas.microsoft.com/office/drawing/2014/main" id="{F7CAF858-B8FA-B0B4-2C3E-46DFFF5D80D9}"/>
              </a:ext>
            </a:extLst>
          </p:cNvPr>
          <p:cNvSpPr/>
          <p:nvPr/>
        </p:nvSpPr>
        <p:spPr>
          <a:xfrm>
            <a:off x="698500" y="4927600"/>
            <a:ext cx="10795000" cy="1028700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rgbClr val="E8F1F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8E150F2-993D-5DB6-C8E1-022BF723F73B}"/>
              </a:ext>
            </a:extLst>
          </p:cNvPr>
          <p:cNvSpPr txBox="1"/>
          <p:nvPr/>
        </p:nvSpPr>
        <p:spPr>
          <a:xfrm>
            <a:off x="990600" y="5067548"/>
            <a:ext cx="10121900" cy="318036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1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אותו ייצוג משמש לשתי המשימות באמצעות </a:t>
            </a:r>
            <a:r>
              <a:rPr lang="en-US" sz="1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⁦Multi-task head⁩ </a:t>
            </a:r>
            <a:r>
              <a:rPr lang="he-IL" sz="1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וכל משימה מקבלת פלט נפרד.</a:t>
            </a:r>
            <a:endParaRPr lang="en-IL" sz="1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2428742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_764">
            <a:extLst>
              <a:ext uri="{FF2B5EF4-FFF2-40B4-BE49-F238E27FC236}">
                <a16:creationId xmlns:a16="http://schemas.microsoft.com/office/drawing/2014/main" id="{9AF06B3A-EF54-632B-ECE2-133A0B27CA7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Shape_765">
            <a:extLst>
              <a:ext uri="{FF2B5EF4-FFF2-40B4-BE49-F238E27FC236}">
                <a16:creationId xmlns:a16="http://schemas.microsoft.com/office/drawing/2014/main" id="{113C09F1-509A-7C72-4014-BA8FE9A1B987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47ADFA-DB99-7625-A2B7-534BAD37D179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הארכיטקטורה ההיררכית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A931E8C-FEB1-A489-0197-7C4AE82804C9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8358E2E-9456-02A9-E79E-53A94983947A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01BA7D1-4E8B-7268-747D-A72A5EEB43E6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08 / 14</a:t>
            </a:r>
          </a:p>
        </p:txBody>
      </p:sp>
      <p:sp>
        <p:nvSpPr>
          <p:cNvPr id="10" name="Shape_766">
            <a:extLst>
              <a:ext uri="{FF2B5EF4-FFF2-40B4-BE49-F238E27FC236}">
                <a16:creationId xmlns:a16="http://schemas.microsoft.com/office/drawing/2014/main" id="{16577ECA-C1A7-CB37-DE40-75FF8D21F6AD}"/>
              </a:ext>
            </a:extLst>
          </p:cNvPr>
          <p:cNvSpPr/>
          <p:nvPr/>
        </p:nvSpPr>
        <p:spPr>
          <a:xfrm>
            <a:off x="9334500" y="1955800"/>
            <a:ext cx="1905000" cy="1676400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rgbClr val="E8F1F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21CA50E-6AC0-92D8-9148-56824126E5E0}"/>
              </a:ext>
            </a:extLst>
          </p:cNvPr>
          <p:cNvSpPr txBox="1"/>
          <p:nvPr/>
        </p:nvSpPr>
        <p:spPr>
          <a:xfrm>
            <a:off x="9486900" y="2296631"/>
            <a:ext cx="1600200" cy="54886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7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Typed Diff Lines</a:t>
            </a:r>
            <a:endParaRPr lang="en-IL" sz="17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9C46585-6200-6A08-A2D3-178D4C915A56}"/>
              </a:ext>
            </a:extLst>
          </p:cNvPr>
          <p:cNvCxnSpPr/>
          <p:nvPr/>
        </p:nvCxnSpPr>
        <p:spPr>
          <a:xfrm flipH="1">
            <a:off x="9296400" y="2794000"/>
            <a:ext cx="177800" cy="0"/>
          </a:xfrm>
          <a:prstGeom prst="line">
            <a:avLst/>
          </a:prstGeom>
          <a:ln w="317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hape_767">
            <a:extLst>
              <a:ext uri="{FF2B5EF4-FFF2-40B4-BE49-F238E27FC236}">
                <a16:creationId xmlns:a16="http://schemas.microsoft.com/office/drawing/2014/main" id="{8800E586-54D4-4B5F-9F95-2BE2ACB34535}"/>
              </a:ext>
            </a:extLst>
          </p:cNvPr>
          <p:cNvSpPr/>
          <p:nvPr/>
        </p:nvSpPr>
        <p:spPr>
          <a:xfrm>
            <a:off x="7175500" y="1955800"/>
            <a:ext cx="1905000" cy="1676400"/>
          </a:xfrm>
          <a:prstGeom prst="rect">
            <a:avLst/>
          </a:prstGeom>
          <a:solidFill>
            <a:srgbClr val="E7F7F0"/>
          </a:solidFill>
          <a:ln w="0" cap="flat" cmpd="sng" algn="ctr">
            <a:solidFill>
              <a:srgbClr val="E7F7F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11978B3-1C5F-B546-41E3-BD734973E19C}"/>
              </a:ext>
            </a:extLst>
          </p:cNvPr>
          <p:cNvSpPr txBox="1"/>
          <p:nvPr/>
        </p:nvSpPr>
        <p:spPr>
          <a:xfrm>
            <a:off x="7327900" y="2304325"/>
            <a:ext cx="1600200" cy="81047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7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Token Embedding + BiGRU</a:t>
            </a:r>
            <a:endParaRPr lang="en-IL" sz="17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07A4271-E2C1-DFA1-A627-BEB7C8F36EAA}"/>
              </a:ext>
            </a:extLst>
          </p:cNvPr>
          <p:cNvCxnSpPr/>
          <p:nvPr/>
        </p:nvCxnSpPr>
        <p:spPr>
          <a:xfrm flipH="1">
            <a:off x="7137400" y="2794000"/>
            <a:ext cx="177800" cy="0"/>
          </a:xfrm>
          <a:prstGeom prst="line">
            <a:avLst/>
          </a:prstGeom>
          <a:ln w="317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hape_768">
            <a:extLst>
              <a:ext uri="{FF2B5EF4-FFF2-40B4-BE49-F238E27FC236}">
                <a16:creationId xmlns:a16="http://schemas.microsoft.com/office/drawing/2014/main" id="{4EB09484-F892-F00D-9762-1B84A429D242}"/>
              </a:ext>
            </a:extLst>
          </p:cNvPr>
          <p:cNvSpPr/>
          <p:nvPr/>
        </p:nvSpPr>
        <p:spPr>
          <a:xfrm>
            <a:off x="5016500" y="1955800"/>
            <a:ext cx="1905000" cy="1676400"/>
          </a:xfrm>
          <a:prstGeom prst="rect">
            <a:avLst/>
          </a:prstGeom>
          <a:solidFill>
            <a:srgbClr val="FFF4E0"/>
          </a:solidFill>
          <a:ln w="0" cap="flat" cmpd="sng" algn="ctr">
            <a:solidFill>
              <a:srgbClr val="FFF4E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874FF8-8D3C-1F0A-E85D-96B11435FC8C}"/>
              </a:ext>
            </a:extLst>
          </p:cNvPr>
          <p:cNvSpPr txBox="1"/>
          <p:nvPr/>
        </p:nvSpPr>
        <p:spPr>
          <a:xfrm>
            <a:off x="5168900" y="2288936"/>
            <a:ext cx="1600200" cy="28725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7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Line Vector</a:t>
            </a:r>
            <a:endParaRPr lang="en-IL" sz="17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D72604D-F8D7-CB4B-B1E1-8A0BBA27F3B9}"/>
              </a:ext>
            </a:extLst>
          </p:cNvPr>
          <p:cNvCxnSpPr/>
          <p:nvPr/>
        </p:nvCxnSpPr>
        <p:spPr>
          <a:xfrm flipH="1">
            <a:off x="4978400" y="2794000"/>
            <a:ext cx="177800" cy="0"/>
          </a:xfrm>
          <a:prstGeom prst="line">
            <a:avLst/>
          </a:prstGeom>
          <a:ln w="317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hape_769">
            <a:extLst>
              <a:ext uri="{FF2B5EF4-FFF2-40B4-BE49-F238E27FC236}">
                <a16:creationId xmlns:a16="http://schemas.microsoft.com/office/drawing/2014/main" id="{CAD4E2C5-3669-67B1-CFFB-658F3201AFEA}"/>
              </a:ext>
            </a:extLst>
          </p:cNvPr>
          <p:cNvSpPr/>
          <p:nvPr/>
        </p:nvSpPr>
        <p:spPr>
          <a:xfrm>
            <a:off x="2857500" y="1955800"/>
            <a:ext cx="1905000" cy="1676400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rgbClr val="E8F1F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8D5798E-6455-ED45-E599-F14C524CBA07}"/>
              </a:ext>
            </a:extLst>
          </p:cNvPr>
          <p:cNvSpPr txBox="1"/>
          <p:nvPr/>
        </p:nvSpPr>
        <p:spPr>
          <a:xfrm>
            <a:off x="3009900" y="2296631"/>
            <a:ext cx="1600200" cy="54886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7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Transformer Encoder</a:t>
            </a:r>
            <a:endParaRPr lang="en-IL" sz="17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12DB275-3881-9C50-B444-F1DEF7259495}"/>
              </a:ext>
            </a:extLst>
          </p:cNvPr>
          <p:cNvCxnSpPr/>
          <p:nvPr/>
        </p:nvCxnSpPr>
        <p:spPr>
          <a:xfrm flipH="1">
            <a:off x="2819400" y="2794000"/>
            <a:ext cx="177800" cy="0"/>
          </a:xfrm>
          <a:prstGeom prst="line">
            <a:avLst/>
          </a:prstGeom>
          <a:ln w="317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Shape_770">
            <a:extLst>
              <a:ext uri="{FF2B5EF4-FFF2-40B4-BE49-F238E27FC236}">
                <a16:creationId xmlns:a16="http://schemas.microsoft.com/office/drawing/2014/main" id="{39C622B9-20EE-2AB1-3E54-2011F5AB3A7C}"/>
              </a:ext>
            </a:extLst>
          </p:cNvPr>
          <p:cNvSpPr/>
          <p:nvPr/>
        </p:nvSpPr>
        <p:spPr>
          <a:xfrm>
            <a:off x="698500" y="1955800"/>
            <a:ext cx="1905000" cy="1676400"/>
          </a:xfrm>
          <a:prstGeom prst="rect">
            <a:avLst/>
          </a:prstGeom>
          <a:solidFill>
            <a:srgbClr val="FDEBEF"/>
          </a:solidFill>
          <a:ln w="0" cap="flat" cmpd="sng" algn="ctr">
            <a:solidFill>
              <a:srgbClr val="FDEBE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958ABE3-D6EA-C339-111A-4FBEA13FA9C2}"/>
              </a:ext>
            </a:extLst>
          </p:cNvPr>
          <p:cNvSpPr txBox="1"/>
          <p:nvPr/>
        </p:nvSpPr>
        <p:spPr>
          <a:xfrm>
            <a:off x="850900" y="2296631"/>
            <a:ext cx="1600200" cy="54886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7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Intent Head
Hole Head</a:t>
            </a:r>
            <a:endParaRPr lang="en-IL" sz="17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BC40245-41CD-2A90-73DD-8C1C9D8EAEC0}"/>
              </a:ext>
            </a:extLst>
          </p:cNvPr>
          <p:cNvSpPr txBox="1"/>
          <p:nvPr/>
        </p:nvSpPr>
        <p:spPr>
          <a:xfrm>
            <a:off x="9410700" y="3996486"/>
            <a:ext cx="1752600" cy="42575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3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ADD   DEL   CONTEXT</a:t>
            </a:r>
            <a:endParaRPr lang="en-IL" sz="13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5" name="Shape_771">
            <a:extLst>
              <a:ext uri="{FF2B5EF4-FFF2-40B4-BE49-F238E27FC236}">
                <a16:creationId xmlns:a16="http://schemas.microsoft.com/office/drawing/2014/main" id="{6950649B-EAAB-3C5C-67D4-E985D961389D}"/>
              </a:ext>
            </a:extLst>
          </p:cNvPr>
          <p:cNvSpPr/>
          <p:nvPr/>
        </p:nvSpPr>
        <p:spPr>
          <a:xfrm>
            <a:off x="698500" y="4673600"/>
            <a:ext cx="10795000" cy="1155700"/>
          </a:xfrm>
          <a:prstGeom prst="rect">
            <a:avLst/>
          </a:prstGeom>
          <a:solidFill>
            <a:srgbClr val="FFF4E0"/>
          </a:solidFill>
          <a:ln w="0" cap="flat" cmpd="sng" algn="ctr">
            <a:solidFill>
              <a:srgbClr val="FFF4E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F25D0B8-E9A7-D275-44B0-BFDD065AB95A}"/>
              </a:ext>
            </a:extLst>
          </p:cNvPr>
          <p:cNvSpPr txBox="1"/>
          <p:nvPr/>
        </p:nvSpPr>
        <p:spPr>
          <a:xfrm>
            <a:off x="990600" y="4882053"/>
            <a:ext cx="10121900" cy="3334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0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הייצוג </a:t>
            </a:r>
            <a:r>
              <a:rPr lang="en-US" sz="20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⁦line-type embedding⁩ </a:t>
            </a:r>
            <a:r>
              <a:rPr lang="he-IL" sz="20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מוסיף מידע מפורש על תפקיד כל שורה בתוך השינוי.</a:t>
            </a:r>
            <a:endParaRPr lang="en-IL" sz="20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4501623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_772">
            <a:extLst>
              <a:ext uri="{FF2B5EF4-FFF2-40B4-BE49-F238E27FC236}">
                <a16:creationId xmlns:a16="http://schemas.microsoft.com/office/drawing/2014/main" id="{67E0D6A3-AA97-4F40-D0D3-381F96146DB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Shape_773">
            <a:extLst>
              <a:ext uri="{FF2B5EF4-FFF2-40B4-BE49-F238E27FC236}">
                <a16:creationId xmlns:a16="http://schemas.microsoft.com/office/drawing/2014/main" id="{A1FFEDFA-6C03-5C4E-376E-17AEE669504C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33679B-50DA-D1D9-1A90-3D7470065AAC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סיווג המטרה: המודל הפשוט ניצח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56415E-78FC-CA84-D3BD-F700411BA200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6122EE4-7382-3582-5A60-EEDEB276788B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0194A12A-99C5-0621-7716-4CA96A85ECB6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09 / 14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CC7EEDD-A32F-10FA-10AB-515841A48A6A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625600"/>
            <a:ext cx="7239000" cy="4241800"/>
          </a:xfrm>
          <a:prstGeom prst="rect">
            <a:avLst/>
          </a:prstGeom>
        </p:spPr>
      </p:pic>
      <p:sp>
        <p:nvSpPr>
          <p:cNvPr id="12" name="Shape_774">
            <a:extLst>
              <a:ext uri="{FF2B5EF4-FFF2-40B4-BE49-F238E27FC236}">
                <a16:creationId xmlns:a16="http://schemas.microsoft.com/office/drawing/2014/main" id="{429FB387-3DB3-6C20-2E9E-8544E2BAC707}"/>
              </a:ext>
            </a:extLst>
          </p:cNvPr>
          <p:cNvSpPr/>
          <p:nvPr/>
        </p:nvSpPr>
        <p:spPr>
          <a:xfrm>
            <a:off x="8343900" y="1739900"/>
            <a:ext cx="3149600" cy="1092200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rgbClr val="E8F1F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3" name="Shape_775">
            <a:extLst>
              <a:ext uri="{FF2B5EF4-FFF2-40B4-BE49-F238E27FC236}">
                <a16:creationId xmlns:a16="http://schemas.microsoft.com/office/drawing/2014/main" id="{3D63AE68-FE78-1410-26C1-CB87FFB71F64}"/>
              </a:ext>
            </a:extLst>
          </p:cNvPr>
          <p:cNvSpPr/>
          <p:nvPr/>
        </p:nvSpPr>
        <p:spPr>
          <a:xfrm>
            <a:off x="11404600" y="1739900"/>
            <a:ext cx="88900" cy="1092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886D0EB-D74B-7036-6BB8-7F3B0D0AD017}"/>
              </a:ext>
            </a:extLst>
          </p:cNvPr>
          <p:cNvSpPr txBox="1"/>
          <p:nvPr/>
        </p:nvSpPr>
        <p:spPr>
          <a:xfrm>
            <a:off x="8547100" y="1820609"/>
            <a:ext cx="27051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30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0.4197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8DAF2C8-7505-CC01-F6D6-034B6117B4D9}"/>
              </a:ext>
            </a:extLst>
          </p:cNvPr>
          <p:cNvSpPr txBox="1"/>
          <p:nvPr/>
        </p:nvSpPr>
        <p:spPr>
          <a:xfrm>
            <a:off x="8547100" y="2472114"/>
            <a:ext cx="27051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test Macro-F1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1B69866-12C2-81E5-88FB-997FBF312EA3}"/>
              </a:ext>
            </a:extLst>
          </p:cNvPr>
          <p:cNvSpPr txBox="1"/>
          <p:nvPr/>
        </p:nvSpPr>
        <p:spPr>
          <a:xfrm>
            <a:off x="8343900" y="2892787"/>
            <a:ext cx="3149600" cy="125675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0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קו הבסיס </a:t>
            </a:r>
            <a:r>
              <a:rPr lang="en-US" sz="20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⁦TF-IDF⁩ </a:t>
            </a:r>
            <a:r>
              <a:rPr lang="he-IL" sz="20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השיג את התוצאה הטובה ביותר. האות הלקסיקלי הספיק כדי לעקוף את המודלים העמוקים.</a:t>
            </a:r>
            <a:endParaRPr lang="en-IL" sz="20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7" name="Shape_776">
            <a:extLst>
              <a:ext uri="{FF2B5EF4-FFF2-40B4-BE49-F238E27FC236}">
                <a16:creationId xmlns:a16="http://schemas.microsoft.com/office/drawing/2014/main" id="{2E7CFD44-F866-7957-1E87-529AF8460F8D}"/>
              </a:ext>
            </a:extLst>
          </p:cNvPr>
          <p:cNvSpPr/>
          <p:nvPr/>
        </p:nvSpPr>
        <p:spPr>
          <a:xfrm>
            <a:off x="8343900" y="5270500"/>
            <a:ext cx="3149600" cy="596900"/>
          </a:xfrm>
          <a:prstGeom prst="rect">
            <a:avLst/>
          </a:prstGeom>
          <a:solidFill>
            <a:srgbClr val="FFF4E0"/>
          </a:solidFill>
          <a:ln w="0" cap="flat" cmpd="sng" algn="ctr">
            <a:solidFill>
              <a:srgbClr val="FFF4E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49EBF73-D042-44C1-AE41-70F8D39CB38C}"/>
              </a:ext>
            </a:extLst>
          </p:cNvPr>
          <p:cNvSpPr txBox="1"/>
          <p:nvPr/>
        </p:nvSpPr>
        <p:spPr>
          <a:xfrm>
            <a:off x="8559800" y="5461619"/>
            <a:ext cx="2730500" cy="24109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400" b="1">
                <a:solidFill>
                  <a:srgbClr val="F59E0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refactor_cleanup</a:t>
            </a:r>
            <a:endParaRPr lang="en-IL" sz="1400" b="1">
              <a:solidFill>
                <a:srgbClr val="F59E0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5376746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_777">
            <a:extLst>
              <a:ext uri="{FF2B5EF4-FFF2-40B4-BE49-F238E27FC236}">
                <a16:creationId xmlns:a16="http://schemas.microsoft.com/office/drawing/2014/main" id="{AD993251-E9DD-6A0E-023A-9FED1A54C7F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Shape_778">
            <a:extLst>
              <a:ext uri="{FF2B5EF4-FFF2-40B4-BE49-F238E27FC236}">
                <a16:creationId xmlns:a16="http://schemas.microsoft.com/office/drawing/2014/main" id="{9AB01F13-FBD9-B5B9-2C06-049E68725EC9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E392ED-F356-E028-BEF5-9A040F56A1E1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בדיקת בקרה חושפת דליפה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569881-5C57-B3E3-F08A-568C054CEEFC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E9E2841-0EA6-46CD-FD98-2D73CB04AE9C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5A710A65-E43B-A57F-1E0C-8596026CC9AE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10 / 14</a:t>
            </a:r>
          </a:p>
        </p:txBody>
      </p:sp>
      <p:sp>
        <p:nvSpPr>
          <p:cNvPr id="10" name="Shape_779">
            <a:extLst>
              <a:ext uri="{FF2B5EF4-FFF2-40B4-BE49-F238E27FC236}">
                <a16:creationId xmlns:a16="http://schemas.microsoft.com/office/drawing/2014/main" id="{2DD8313C-0E3F-2A19-6CCD-A00E2068E559}"/>
              </a:ext>
            </a:extLst>
          </p:cNvPr>
          <p:cNvSpPr/>
          <p:nvPr/>
        </p:nvSpPr>
        <p:spPr>
          <a:xfrm>
            <a:off x="7747000" y="1968500"/>
            <a:ext cx="2921000" cy="1193800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rgbClr val="E8F1F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21B033F-467A-DF2F-5C87-8004BBAEE02E}"/>
              </a:ext>
            </a:extLst>
          </p:cNvPr>
          <p:cNvSpPr txBox="1"/>
          <p:nvPr/>
        </p:nvSpPr>
        <p:spPr>
          <a:xfrm>
            <a:off x="7975600" y="2316653"/>
            <a:ext cx="2463800" cy="3334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20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commit message</a:t>
            </a:r>
            <a:endParaRPr lang="en-IL" sz="20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45CC38B-3E29-7947-1B8E-4001E2918B93}"/>
              </a:ext>
            </a:extLst>
          </p:cNvPr>
          <p:cNvCxnSpPr/>
          <p:nvPr/>
        </p:nvCxnSpPr>
        <p:spPr>
          <a:xfrm flipH="1">
            <a:off x="7620000" y="2565400"/>
            <a:ext cx="254000" cy="0"/>
          </a:xfrm>
          <a:prstGeom prst="line">
            <a:avLst/>
          </a:prstGeom>
          <a:ln w="38100">
            <a:solidFill>
              <a:srgbClr val="DC4C6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hape_780">
            <a:extLst>
              <a:ext uri="{FF2B5EF4-FFF2-40B4-BE49-F238E27FC236}">
                <a16:creationId xmlns:a16="http://schemas.microsoft.com/office/drawing/2014/main" id="{0BEED0D4-AB3F-90AF-F8DF-0D383670D350}"/>
              </a:ext>
            </a:extLst>
          </p:cNvPr>
          <p:cNvSpPr/>
          <p:nvPr/>
        </p:nvSpPr>
        <p:spPr>
          <a:xfrm>
            <a:off x="4318000" y="1968500"/>
            <a:ext cx="2921000" cy="1193800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rgbClr val="E8F1F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14BEDE9-719D-812F-3424-7357352208CA}"/>
              </a:ext>
            </a:extLst>
          </p:cNvPr>
          <p:cNvSpPr txBox="1"/>
          <p:nvPr/>
        </p:nvSpPr>
        <p:spPr>
          <a:xfrm>
            <a:off x="4546600" y="2316653"/>
            <a:ext cx="2463800" cy="3334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20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weak label</a:t>
            </a:r>
            <a:endParaRPr lang="en-IL" sz="20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2B4098D-A7AA-8A7A-391C-B91259FAACEF}"/>
              </a:ext>
            </a:extLst>
          </p:cNvPr>
          <p:cNvCxnSpPr/>
          <p:nvPr/>
        </p:nvCxnSpPr>
        <p:spPr>
          <a:xfrm flipH="1">
            <a:off x="4191000" y="2565400"/>
            <a:ext cx="254000" cy="0"/>
          </a:xfrm>
          <a:prstGeom prst="line">
            <a:avLst/>
          </a:prstGeom>
          <a:ln w="38100">
            <a:solidFill>
              <a:srgbClr val="DC4C6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hape_781">
            <a:extLst>
              <a:ext uri="{FF2B5EF4-FFF2-40B4-BE49-F238E27FC236}">
                <a16:creationId xmlns:a16="http://schemas.microsoft.com/office/drawing/2014/main" id="{CD171E3B-25F0-52A8-4EDA-D29B49A97535}"/>
              </a:ext>
            </a:extLst>
          </p:cNvPr>
          <p:cNvSpPr/>
          <p:nvPr/>
        </p:nvSpPr>
        <p:spPr>
          <a:xfrm>
            <a:off x="889000" y="1968500"/>
            <a:ext cx="2921000" cy="1193800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rgbClr val="E8F1F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848EC24-1316-6190-2B33-C5FA97799075}"/>
              </a:ext>
            </a:extLst>
          </p:cNvPr>
          <p:cNvSpPr txBox="1"/>
          <p:nvPr/>
        </p:nvSpPr>
        <p:spPr>
          <a:xfrm>
            <a:off x="1117600" y="2162765"/>
            <a:ext cx="2463800" cy="641201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20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message-only model</a:t>
            </a:r>
            <a:endParaRPr lang="en-IL" sz="20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EAAF871-2874-7657-D6B1-6B25569178BA}"/>
              </a:ext>
            </a:extLst>
          </p:cNvPr>
          <p:cNvSpPr txBox="1"/>
          <p:nvPr/>
        </p:nvSpPr>
        <p:spPr>
          <a:xfrm>
            <a:off x="4279900" y="3485510"/>
            <a:ext cx="3683000" cy="76431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IL" sz="4800" b="1">
                <a:solidFill>
                  <a:srgbClr val="DC4C64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0.9855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50F3D1B-7155-C7DC-823C-891D35B70DE4}"/>
              </a:ext>
            </a:extLst>
          </p:cNvPr>
          <p:cNvSpPr txBox="1"/>
          <p:nvPr/>
        </p:nvSpPr>
        <p:spPr>
          <a:xfrm>
            <a:off x="5054600" y="4587636"/>
            <a:ext cx="2133600" cy="28725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700" b="1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Macro-F1</a:t>
            </a:r>
            <a:endParaRPr lang="en-IL" sz="1700" b="1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0" name="Shape_782">
            <a:extLst>
              <a:ext uri="{FF2B5EF4-FFF2-40B4-BE49-F238E27FC236}">
                <a16:creationId xmlns:a16="http://schemas.microsoft.com/office/drawing/2014/main" id="{1AF00493-5016-08C3-F527-805036CE6D27}"/>
              </a:ext>
            </a:extLst>
          </p:cNvPr>
          <p:cNvSpPr/>
          <p:nvPr/>
        </p:nvSpPr>
        <p:spPr>
          <a:xfrm>
            <a:off x="889000" y="5295900"/>
            <a:ext cx="9779000" cy="749300"/>
          </a:xfrm>
          <a:prstGeom prst="rect">
            <a:avLst/>
          </a:prstGeom>
          <a:solidFill>
            <a:srgbClr val="FDEBEF"/>
          </a:solidFill>
          <a:ln w="0" cap="flat" cmpd="sng" algn="ctr">
            <a:solidFill>
              <a:srgbClr val="FDEBE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A20B6C3-3365-0C69-72F4-E75205ADDD9D}"/>
              </a:ext>
            </a:extLst>
          </p:cNvPr>
          <p:cNvSpPr txBox="1"/>
          <p:nvPr/>
        </p:nvSpPr>
        <p:spPr>
          <a:xfrm>
            <a:off x="1206500" y="5440853"/>
            <a:ext cx="9144000" cy="3334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0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המדד כמעט משחזר את מנגנון התיוג, ולכן אינו הוכחה להבנת קוד טהורה.</a:t>
            </a:r>
            <a:endParaRPr lang="en-IL" sz="20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0165151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_783">
            <a:extLst>
              <a:ext uri="{FF2B5EF4-FFF2-40B4-BE49-F238E27FC236}">
                <a16:creationId xmlns:a16="http://schemas.microsoft.com/office/drawing/2014/main" id="{B6FD6ADF-75AF-6D4B-FD6A-34E66E43A1F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Shape_784">
            <a:extLst>
              <a:ext uri="{FF2B5EF4-FFF2-40B4-BE49-F238E27FC236}">
                <a16:creationId xmlns:a16="http://schemas.microsoft.com/office/drawing/2014/main" id="{3BFF7185-08D7-A9FC-EB64-BE8003033526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A3ACCF-043F-C878-AF44-8B2C1150DEAA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זיהוי חוסר: המבנה ההיררכי ניצח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D2D151-5538-A7AB-9A1E-5527249B0C06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318CBF3-E3EA-AC4C-3AF7-A35D5BD7B9C6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F9C7AE50-A175-78F1-6358-6541E2DDD0DE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11 / 14</a:t>
            </a:r>
          </a:p>
        </p:txBody>
      </p:sp>
      <p:sp>
        <p:nvSpPr>
          <p:cNvPr id="10" name="Shape_785">
            <a:extLst>
              <a:ext uri="{FF2B5EF4-FFF2-40B4-BE49-F238E27FC236}">
                <a16:creationId xmlns:a16="http://schemas.microsoft.com/office/drawing/2014/main" id="{503680C7-68DE-DBD9-72D7-7329F1FD7614}"/>
              </a:ext>
            </a:extLst>
          </p:cNvPr>
          <p:cNvSpPr/>
          <p:nvPr/>
        </p:nvSpPr>
        <p:spPr>
          <a:xfrm>
            <a:off x="8191500" y="1320800"/>
            <a:ext cx="3302000" cy="1092200"/>
          </a:xfrm>
          <a:prstGeom prst="rect">
            <a:avLst/>
          </a:prstGeom>
          <a:solidFill>
            <a:srgbClr val="E7F7F0"/>
          </a:solidFill>
          <a:ln w="0" cap="flat" cmpd="sng" algn="ctr">
            <a:solidFill>
              <a:srgbClr val="E7F7F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1" name="Shape_786">
            <a:extLst>
              <a:ext uri="{FF2B5EF4-FFF2-40B4-BE49-F238E27FC236}">
                <a16:creationId xmlns:a16="http://schemas.microsoft.com/office/drawing/2014/main" id="{EEAB38E8-DCF4-E50C-1F05-56D159B57BEA}"/>
              </a:ext>
            </a:extLst>
          </p:cNvPr>
          <p:cNvSpPr/>
          <p:nvPr/>
        </p:nvSpPr>
        <p:spPr>
          <a:xfrm>
            <a:off x="11404600" y="1320800"/>
            <a:ext cx="88900" cy="1092200"/>
          </a:xfrm>
          <a:prstGeom prst="rect">
            <a:avLst/>
          </a:prstGeom>
          <a:solidFill>
            <a:srgbClr val="2E9D78"/>
          </a:solidFill>
          <a:ln w="0" cap="flat" cmpd="sng" algn="ctr">
            <a:solidFill>
              <a:srgbClr val="2E9D78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0E578AD-847E-7586-9763-CBD837FF5636}"/>
              </a:ext>
            </a:extLst>
          </p:cNvPr>
          <p:cNvSpPr txBox="1"/>
          <p:nvPr/>
        </p:nvSpPr>
        <p:spPr>
          <a:xfrm>
            <a:off x="8394700" y="1401509"/>
            <a:ext cx="28575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3000" b="1">
                <a:solidFill>
                  <a:srgbClr val="2E9D78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0.6029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024B22-9E6E-75A8-5384-1817F8AB6D9A}"/>
              </a:ext>
            </a:extLst>
          </p:cNvPr>
          <p:cNvSpPr txBox="1"/>
          <p:nvPr/>
        </p:nvSpPr>
        <p:spPr>
          <a:xfrm>
            <a:off x="8394700" y="2053014"/>
            <a:ext cx="28575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hole F1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4" name="Shape_787">
            <a:extLst>
              <a:ext uri="{FF2B5EF4-FFF2-40B4-BE49-F238E27FC236}">
                <a16:creationId xmlns:a16="http://schemas.microsoft.com/office/drawing/2014/main" id="{06B361A1-C0BB-F120-35BC-0CC282994464}"/>
              </a:ext>
            </a:extLst>
          </p:cNvPr>
          <p:cNvSpPr/>
          <p:nvPr/>
        </p:nvSpPr>
        <p:spPr>
          <a:xfrm>
            <a:off x="4445000" y="1320800"/>
            <a:ext cx="3302000" cy="1092200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rgbClr val="E8F1F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5" name="Shape_788">
            <a:extLst>
              <a:ext uri="{FF2B5EF4-FFF2-40B4-BE49-F238E27FC236}">
                <a16:creationId xmlns:a16="http://schemas.microsoft.com/office/drawing/2014/main" id="{ABC96377-C4C8-4544-C9BD-789371132D11}"/>
              </a:ext>
            </a:extLst>
          </p:cNvPr>
          <p:cNvSpPr/>
          <p:nvPr/>
        </p:nvSpPr>
        <p:spPr>
          <a:xfrm>
            <a:off x="7658100" y="1320800"/>
            <a:ext cx="88900" cy="1092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DA7741A-7029-FC6F-1336-5AFFFAB74494}"/>
              </a:ext>
            </a:extLst>
          </p:cNvPr>
          <p:cNvSpPr txBox="1"/>
          <p:nvPr/>
        </p:nvSpPr>
        <p:spPr>
          <a:xfrm>
            <a:off x="4648200" y="1401509"/>
            <a:ext cx="28575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30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0.7352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3B58D53-B8AF-B40F-E459-E84800B41F4A}"/>
              </a:ext>
            </a:extLst>
          </p:cNvPr>
          <p:cNvSpPr txBox="1"/>
          <p:nvPr/>
        </p:nvSpPr>
        <p:spPr>
          <a:xfrm>
            <a:off x="4648200" y="2053014"/>
            <a:ext cx="28575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AUROC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8" name="Shape_789">
            <a:extLst>
              <a:ext uri="{FF2B5EF4-FFF2-40B4-BE49-F238E27FC236}">
                <a16:creationId xmlns:a16="http://schemas.microsoft.com/office/drawing/2014/main" id="{76349D89-7147-0031-6DAA-9DFF7507680E}"/>
              </a:ext>
            </a:extLst>
          </p:cNvPr>
          <p:cNvSpPr/>
          <p:nvPr/>
        </p:nvSpPr>
        <p:spPr>
          <a:xfrm>
            <a:off x="698500" y="1320800"/>
            <a:ext cx="3302000" cy="1092200"/>
          </a:xfrm>
          <a:prstGeom prst="rect">
            <a:avLst/>
          </a:prstGeom>
          <a:solidFill>
            <a:srgbClr val="FFF4E0"/>
          </a:solidFill>
          <a:ln w="0" cap="flat" cmpd="sng" algn="ctr">
            <a:solidFill>
              <a:srgbClr val="FFF4E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9" name="Shape_790">
            <a:extLst>
              <a:ext uri="{FF2B5EF4-FFF2-40B4-BE49-F238E27FC236}">
                <a16:creationId xmlns:a16="http://schemas.microsoft.com/office/drawing/2014/main" id="{9542749A-0333-2847-41EF-E4CCDA7322A3}"/>
              </a:ext>
            </a:extLst>
          </p:cNvPr>
          <p:cNvSpPr/>
          <p:nvPr/>
        </p:nvSpPr>
        <p:spPr>
          <a:xfrm>
            <a:off x="3911600" y="1320800"/>
            <a:ext cx="88900" cy="1092200"/>
          </a:xfrm>
          <a:prstGeom prst="rect">
            <a:avLst/>
          </a:prstGeom>
          <a:solidFill>
            <a:srgbClr val="F59E0B"/>
          </a:solidFill>
          <a:ln w="0" cap="flat" cmpd="sng" algn="ctr">
            <a:solidFill>
              <a:srgbClr val="F59E0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B9E1104-1CF4-938E-234D-28069E4FD6D2}"/>
              </a:ext>
            </a:extLst>
          </p:cNvPr>
          <p:cNvSpPr txBox="1"/>
          <p:nvPr/>
        </p:nvSpPr>
        <p:spPr>
          <a:xfrm>
            <a:off x="901700" y="1401509"/>
            <a:ext cx="28575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3000" b="1">
                <a:solidFill>
                  <a:srgbClr val="F59E0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172 → 81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1E5A2DC-A4AC-F969-D68F-A5FFC1449205}"/>
              </a:ext>
            </a:extLst>
          </p:cNvPr>
          <p:cNvSpPr txBox="1"/>
          <p:nvPr/>
        </p:nvSpPr>
        <p:spPr>
          <a:xfrm>
            <a:off x="901700" y="2053014"/>
            <a:ext cx="28575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false positives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F0BA1526-ED98-AE27-D17E-474F0ED5EF1F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193800" y="2717800"/>
            <a:ext cx="9804400" cy="3670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51914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_791">
            <a:extLst>
              <a:ext uri="{FF2B5EF4-FFF2-40B4-BE49-F238E27FC236}">
                <a16:creationId xmlns:a16="http://schemas.microsoft.com/office/drawing/2014/main" id="{55F81D79-D257-4E99-63E8-5F875B1644A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Shape_792">
            <a:extLst>
              <a:ext uri="{FF2B5EF4-FFF2-40B4-BE49-F238E27FC236}">
                <a16:creationId xmlns:a16="http://schemas.microsoft.com/office/drawing/2014/main" id="{BB0989BC-1B80-6926-091A-18D5E9C297E8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B5BE54E-8D1E-9459-927D-C31E36423EC1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מידע על סוג השורה הוא רכיב מהותי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456593B-642B-67BA-58C5-07D06B421E0F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B38074D-3AF3-0F04-ED94-16369D185B15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CA86F205-858D-6B1C-DA12-C0DA49D6E0FC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12 / 14</a:t>
            </a:r>
          </a:p>
        </p:txBody>
      </p:sp>
      <p:sp>
        <p:nvSpPr>
          <p:cNvPr id="10" name="Shape_793">
            <a:extLst>
              <a:ext uri="{FF2B5EF4-FFF2-40B4-BE49-F238E27FC236}">
                <a16:creationId xmlns:a16="http://schemas.microsoft.com/office/drawing/2014/main" id="{C0D0221C-4344-2A4A-3CA6-E4B5CF6C9BBF}"/>
              </a:ext>
            </a:extLst>
          </p:cNvPr>
          <p:cNvSpPr/>
          <p:nvPr/>
        </p:nvSpPr>
        <p:spPr>
          <a:xfrm>
            <a:off x="1778000" y="1308100"/>
            <a:ext cx="3683000" cy="1092200"/>
          </a:xfrm>
          <a:prstGeom prst="rect">
            <a:avLst/>
          </a:prstGeom>
          <a:solidFill>
            <a:srgbClr val="FDEBEF"/>
          </a:solidFill>
          <a:ln w="0" cap="flat" cmpd="sng" algn="ctr">
            <a:solidFill>
              <a:srgbClr val="FDEBE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1" name="Shape_794">
            <a:extLst>
              <a:ext uri="{FF2B5EF4-FFF2-40B4-BE49-F238E27FC236}">
                <a16:creationId xmlns:a16="http://schemas.microsoft.com/office/drawing/2014/main" id="{D94840E8-A533-EFCF-C7A6-1AA59F118C1A}"/>
              </a:ext>
            </a:extLst>
          </p:cNvPr>
          <p:cNvSpPr/>
          <p:nvPr/>
        </p:nvSpPr>
        <p:spPr>
          <a:xfrm>
            <a:off x="5372100" y="1308100"/>
            <a:ext cx="88900" cy="1092200"/>
          </a:xfrm>
          <a:prstGeom prst="rect">
            <a:avLst/>
          </a:prstGeom>
          <a:solidFill>
            <a:srgbClr val="DC4C64"/>
          </a:solidFill>
          <a:ln w="0" cap="flat" cmpd="sng" algn="ctr">
            <a:solidFill>
              <a:srgbClr val="DC4C64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55988F8-0831-E1B9-62DD-5CB2ECFBA262}"/>
              </a:ext>
            </a:extLst>
          </p:cNvPr>
          <p:cNvSpPr txBox="1"/>
          <p:nvPr/>
        </p:nvSpPr>
        <p:spPr>
          <a:xfrm>
            <a:off x="1981200" y="1388809"/>
            <a:ext cx="32385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3000" b="1">
                <a:solidFill>
                  <a:srgbClr val="DC4C64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−0.1305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F34DF5-5CD5-1B8F-0D3A-05A24FF3A171}"/>
              </a:ext>
            </a:extLst>
          </p:cNvPr>
          <p:cNvSpPr txBox="1"/>
          <p:nvPr/>
        </p:nvSpPr>
        <p:spPr>
          <a:xfrm>
            <a:off x="1981200" y="2040314"/>
            <a:ext cx="32385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l-GR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Δ </a:t>
            </a:r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hole F1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4" name="Shape_795">
            <a:extLst>
              <a:ext uri="{FF2B5EF4-FFF2-40B4-BE49-F238E27FC236}">
                <a16:creationId xmlns:a16="http://schemas.microsoft.com/office/drawing/2014/main" id="{E069641E-7F26-AEC7-4293-01980DF005E5}"/>
              </a:ext>
            </a:extLst>
          </p:cNvPr>
          <p:cNvSpPr/>
          <p:nvPr/>
        </p:nvSpPr>
        <p:spPr>
          <a:xfrm>
            <a:off x="6731000" y="1308100"/>
            <a:ext cx="3683000" cy="1092200"/>
          </a:xfrm>
          <a:prstGeom prst="rect">
            <a:avLst/>
          </a:prstGeom>
          <a:solidFill>
            <a:srgbClr val="FDEBEF"/>
          </a:solidFill>
          <a:ln w="0" cap="flat" cmpd="sng" algn="ctr">
            <a:solidFill>
              <a:srgbClr val="FDEBE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5" name="Shape_796">
            <a:extLst>
              <a:ext uri="{FF2B5EF4-FFF2-40B4-BE49-F238E27FC236}">
                <a16:creationId xmlns:a16="http://schemas.microsoft.com/office/drawing/2014/main" id="{CDF89F49-5BE2-886A-E3D8-1F20EAF0F8CE}"/>
              </a:ext>
            </a:extLst>
          </p:cNvPr>
          <p:cNvSpPr/>
          <p:nvPr/>
        </p:nvSpPr>
        <p:spPr>
          <a:xfrm>
            <a:off x="10325100" y="1308100"/>
            <a:ext cx="88900" cy="1092200"/>
          </a:xfrm>
          <a:prstGeom prst="rect">
            <a:avLst/>
          </a:prstGeom>
          <a:solidFill>
            <a:srgbClr val="DC4C64"/>
          </a:solidFill>
          <a:ln w="0" cap="flat" cmpd="sng" algn="ctr">
            <a:solidFill>
              <a:srgbClr val="DC4C64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ECE1946-3ACF-EAB4-BFE5-C9A12E41996F}"/>
              </a:ext>
            </a:extLst>
          </p:cNvPr>
          <p:cNvSpPr txBox="1"/>
          <p:nvPr/>
        </p:nvSpPr>
        <p:spPr>
          <a:xfrm>
            <a:off x="6934200" y="1388809"/>
            <a:ext cx="32385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3000" b="1">
                <a:solidFill>
                  <a:srgbClr val="DC4C64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−0.1058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FF2CE35-DDD5-409A-63BC-999C74B0B31B}"/>
              </a:ext>
            </a:extLst>
          </p:cNvPr>
          <p:cNvSpPr txBox="1"/>
          <p:nvPr/>
        </p:nvSpPr>
        <p:spPr>
          <a:xfrm>
            <a:off x="6934200" y="2040314"/>
            <a:ext cx="32385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l-GR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Δ </a:t>
            </a:r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AUROC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97A401D4-2E89-9B72-E5B1-33777E2BF32D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" y="2603500"/>
            <a:ext cx="10947400" cy="377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3635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_797">
            <a:extLst>
              <a:ext uri="{FF2B5EF4-FFF2-40B4-BE49-F238E27FC236}">
                <a16:creationId xmlns:a16="http://schemas.microsoft.com/office/drawing/2014/main" id="{3D561847-6EAF-18DE-0786-5DC09C1B671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Shape_798">
            <a:extLst>
              <a:ext uri="{FF2B5EF4-FFF2-40B4-BE49-F238E27FC236}">
                <a16:creationId xmlns:a16="http://schemas.microsoft.com/office/drawing/2014/main" id="{0CD9D457-28E9-F114-959F-5E9CD3D9DA71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6E49BC-485F-A507-B1B3-8D51D91FA3B4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מה המודל עדיין לא הוכיח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3F1040-1AA1-DDB8-9ECF-8A183E42B66E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6737CE7-097D-FB98-9079-4280D1451C18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88A63D0-0E19-41C2-9855-4D3961C45374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13 / 14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081EB1E-346A-4303-18D4-43030E4F9F34}"/>
              </a:ext>
            </a:extLst>
          </p:cNvPr>
          <p:cNvSpPr txBox="1"/>
          <p:nvPr/>
        </p:nvSpPr>
        <p:spPr>
          <a:xfrm>
            <a:off x="8382000" y="1204888"/>
            <a:ext cx="3111500" cy="702756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r"/>
            <a:r>
              <a:rPr lang="en-IL" sz="4400" b="1">
                <a:solidFill>
                  <a:srgbClr val="DC4C64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82.2%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F2FBEA0-1260-BEAD-CDC1-BB1F359C429A}"/>
              </a:ext>
            </a:extLst>
          </p:cNvPr>
          <p:cNvSpPr txBox="1"/>
          <p:nvPr/>
        </p:nvSpPr>
        <p:spPr>
          <a:xfrm>
            <a:off x="8382000" y="2288936"/>
            <a:ext cx="3111500" cy="28725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r"/>
            <a:r>
              <a:rPr lang="en-US" sz="17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drop_added_line</a:t>
            </a:r>
            <a:endParaRPr lang="en-IL" sz="17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2" name="Shape_799">
            <a:extLst>
              <a:ext uri="{FF2B5EF4-FFF2-40B4-BE49-F238E27FC236}">
                <a16:creationId xmlns:a16="http://schemas.microsoft.com/office/drawing/2014/main" id="{C7FF0424-08AF-36B6-AB13-095E07A4C412}"/>
              </a:ext>
            </a:extLst>
          </p:cNvPr>
          <p:cNvSpPr/>
          <p:nvPr/>
        </p:nvSpPr>
        <p:spPr>
          <a:xfrm>
            <a:off x="8382000" y="2806700"/>
            <a:ext cx="3111500" cy="304800"/>
          </a:xfrm>
          <a:prstGeom prst="rect">
            <a:avLst/>
          </a:prstGeom>
          <a:solidFill>
            <a:srgbClr val="FDEBEF"/>
          </a:solidFill>
          <a:ln w="0" cap="flat" cmpd="sng" algn="ctr">
            <a:solidFill>
              <a:srgbClr val="FDEBE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3" name="Shape_800">
            <a:extLst>
              <a:ext uri="{FF2B5EF4-FFF2-40B4-BE49-F238E27FC236}">
                <a16:creationId xmlns:a16="http://schemas.microsoft.com/office/drawing/2014/main" id="{3AE6EE37-DD63-33C2-F602-525857A9B4A2}"/>
              </a:ext>
            </a:extLst>
          </p:cNvPr>
          <p:cNvSpPr/>
          <p:nvPr/>
        </p:nvSpPr>
        <p:spPr>
          <a:xfrm>
            <a:off x="8940800" y="2806700"/>
            <a:ext cx="2552700" cy="304800"/>
          </a:xfrm>
          <a:prstGeom prst="rect">
            <a:avLst/>
          </a:prstGeom>
          <a:solidFill>
            <a:srgbClr val="DC4C64"/>
          </a:solidFill>
          <a:ln w="0" cap="flat" cmpd="sng" algn="ctr">
            <a:solidFill>
              <a:srgbClr val="DC4C64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DA285C1-0AEF-5A4B-F1D5-DF08F761FF11}"/>
              </a:ext>
            </a:extLst>
          </p:cNvPr>
          <p:cNvSpPr txBox="1"/>
          <p:nvPr/>
        </p:nvSpPr>
        <p:spPr>
          <a:xfrm>
            <a:off x="8382000" y="3292608"/>
            <a:ext cx="31115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r"/>
            <a:r>
              <a:rPr lang="en-US" sz="12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mutation distribution</a:t>
            </a:r>
            <a:endParaRPr lang="en-IL" sz="12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5" name="Shape_801">
            <a:extLst>
              <a:ext uri="{FF2B5EF4-FFF2-40B4-BE49-F238E27FC236}">
                <a16:creationId xmlns:a16="http://schemas.microsoft.com/office/drawing/2014/main" id="{D747FBEA-86DF-597D-D12F-4943922C5E5B}"/>
              </a:ext>
            </a:extLst>
          </p:cNvPr>
          <p:cNvSpPr/>
          <p:nvPr/>
        </p:nvSpPr>
        <p:spPr>
          <a:xfrm>
            <a:off x="698500" y="1346200"/>
            <a:ext cx="7112000" cy="1257300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rgbClr val="E8F1F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B0767DA-25E8-304E-0C4D-CB0E9FFCF877}"/>
              </a:ext>
            </a:extLst>
          </p:cNvPr>
          <p:cNvSpPr txBox="1"/>
          <p:nvPr/>
        </p:nvSpPr>
        <p:spPr>
          <a:xfrm>
            <a:off x="3556000" y="1496531"/>
            <a:ext cx="3873500" cy="2718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r"/>
            <a:r>
              <a:rPr lang="en-US" sz="16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Synthetic Coverage</a:t>
            </a:r>
            <a:endParaRPr lang="en-IL" sz="16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BE907FB-8D0F-17DF-6F64-20F979AB4A49}"/>
              </a:ext>
            </a:extLst>
          </p:cNvPr>
          <p:cNvSpPr txBox="1"/>
          <p:nvPr/>
        </p:nvSpPr>
        <p:spPr>
          <a:xfrm>
            <a:off x="965200" y="1862142"/>
            <a:ext cx="6464300" cy="302647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רוב הדוגמאות נוצרו מהסרת שורה שנוספה.</a:t>
            </a:r>
            <a:endParaRPr lang="en-IL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8" name="Shape_802">
            <a:extLst>
              <a:ext uri="{FF2B5EF4-FFF2-40B4-BE49-F238E27FC236}">
                <a16:creationId xmlns:a16="http://schemas.microsoft.com/office/drawing/2014/main" id="{3A29190B-6A94-86EE-666D-7AF48E8D5858}"/>
              </a:ext>
            </a:extLst>
          </p:cNvPr>
          <p:cNvSpPr/>
          <p:nvPr/>
        </p:nvSpPr>
        <p:spPr>
          <a:xfrm>
            <a:off x="698500" y="2921000"/>
            <a:ext cx="7112000" cy="1257300"/>
          </a:xfrm>
          <a:prstGeom prst="rect">
            <a:avLst/>
          </a:prstGeom>
          <a:solidFill>
            <a:srgbClr val="FFF4E0"/>
          </a:solidFill>
          <a:ln w="0" cap="flat" cmpd="sng" algn="ctr">
            <a:solidFill>
              <a:srgbClr val="FFF4E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FB2B75D-EAA4-A2CF-083D-216D3D350EEF}"/>
              </a:ext>
            </a:extLst>
          </p:cNvPr>
          <p:cNvSpPr txBox="1"/>
          <p:nvPr/>
        </p:nvSpPr>
        <p:spPr>
          <a:xfrm>
            <a:off x="3556000" y="3071331"/>
            <a:ext cx="3873500" cy="2718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r"/>
            <a:r>
              <a:rPr lang="en-US" sz="16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Rare Mutations</a:t>
            </a:r>
            <a:endParaRPr lang="en-IL" sz="16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60BDF51-9DD9-541C-DE3F-2E08F4C33410}"/>
              </a:ext>
            </a:extLst>
          </p:cNvPr>
          <p:cNvSpPr txBox="1"/>
          <p:nvPr/>
        </p:nvSpPr>
        <p:spPr>
          <a:xfrm>
            <a:off x="965200" y="3436942"/>
            <a:ext cx="6464300" cy="302647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יש מעט דוגמאות לשינויים סמנטיים עדינים.</a:t>
            </a:r>
            <a:endParaRPr lang="en-IL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1" name="Shape_803">
            <a:extLst>
              <a:ext uri="{FF2B5EF4-FFF2-40B4-BE49-F238E27FC236}">
                <a16:creationId xmlns:a16="http://schemas.microsoft.com/office/drawing/2014/main" id="{73FFB34C-7C60-7A04-0EC2-59C55307DF81}"/>
              </a:ext>
            </a:extLst>
          </p:cNvPr>
          <p:cNvSpPr/>
          <p:nvPr/>
        </p:nvSpPr>
        <p:spPr>
          <a:xfrm>
            <a:off x="698500" y="4495800"/>
            <a:ext cx="7112000" cy="1257300"/>
          </a:xfrm>
          <a:prstGeom prst="rect">
            <a:avLst/>
          </a:prstGeom>
          <a:solidFill>
            <a:srgbClr val="E7F7F0"/>
          </a:solidFill>
          <a:ln w="0" cap="flat" cmpd="sng" algn="ctr">
            <a:solidFill>
              <a:srgbClr val="E7F7F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FDB0275-F94D-E55F-2651-DBBFFA5B00CA}"/>
              </a:ext>
            </a:extLst>
          </p:cNvPr>
          <p:cNvSpPr txBox="1"/>
          <p:nvPr/>
        </p:nvSpPr>
        <p:spPr>
          <a:xfrm>
            <a:off x="3556000" y="4646131"/>
            <a:ext cx="3873500" cy="2718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r"/>
            <a:r>
              <a:rPr lang="en-US" sz="16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External Validity</a:t>
            </a:r>
            <a:endParaRPr lang="en-IL" sz="16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D81D609-29FE-BC3B-6920-A60DE3D4A0E7}"/>
              </a:ext>
            </a:extLst>
          </p:cNvPr>
          <p:cNvSpPr txBox="1"/>
          <p:nvPr/>
        </p:nvSpPr>
        <p:spPr>
          <a:xfrm>
            <a:off x="965200" y="5011742"/>
            <a:ext cx="6464300" cy="302647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לא בוצעה הערכה סופית על פרויקט חיצוני.</a:t>
            </a:r>
            <a:endParaRPr lang="en-IL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99FF42C-FBF2-F192-D5B6-FD62D65B40EB}"/>
              </a:ext>
            </a:extLst>
          </p:cNvPr>
          <p:cNvSpPr txBox="1"/>
          <p:nvPr/>
        </p:nvSpPr>
        <p:spPr>
          <a:xfrm>
            <a:off x="8382000" y="4162787"/>
            <a:ext cx="3111500" cy="702756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2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נדרש סט בדיקה ידני של חוסרים אמיתיים.</a:t>
            </a:r>
            <a:endParaRPr lang="en-IL" sz="22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4442640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_804">
            <a:extLst>
              <a:ext uri="{FF2B5EF4-FFF2-40B4-BE49-F238E27FC236}">
                <a16:creationId xmlns:a16="http://schemas.microsoft.com/office/drawing/2014/main" id="{96D7F955-C810-61D4-B63A-E0B54C53D0A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Shape_805">
            <a:extLst>
              <a:ext uri="{FF2B5EF4-FFF2-40B4-BE49-F238E27FC236}">
                <a16:creationId xmlns:a16="http://schemas.microsoft.com/office/drawing/2014/main" id="{CEA73220-C291-7B0D-1CD9-3B44D4F2321A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AEBA97-3E8B-2227-A32D-1A1EE6D7DDCA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מסקנות ושאלות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1550341-8818-1465-6CCB-EA18C52D877A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B0EDC28-436F-817D-049F-C3B06E1AC4F9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F84F7DBA-443A-5E20-32D5-47FACE6D7733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14 / 14</a:t>
            </a:r>
          </a:p>
        </p:txBody>
      </p:sp>
      <p:sp>
        <p:nvSpPr>
          <p:cNvPr id="10" name="Shape_806">
            <a:extLst>
              <a:ext uri="{FF2B5EF4-FFF2-40B4-BE49-F238E27FC236}">
                <a16:creationId xmlns:a16="http://schemas.microsoft.com/office/drawing/2014/main" id="{4217BDC2-265B-6A3F-2EAB-8FA4B0879029}"/>
              </a:ext>
            </a:extLst>
          </p:cNvPr>
          <p:cNvSpPr/>
          <p:nvPr/>
        </p:nvSpPr>
        <p:spPr>
          <a:xfrm>
            <a:off x="698500" y="1422400"/>
            <a:ext cx="3175000" cy="1092200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rgbClr val="E8F1F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1" name="Shape_807">
            <a:extLst>
              <a:ext uri="{FF2B5EF4-FFF2-40B4-BE49-F238E27FC236}">
                <a16:creationId xmlns:a16="http://schemas.microsoft.com/office/drawing/2014/main" id="{F37F97AC-5E8B-8E19-A795-A96199F807B5}"/>
              </a:ext>
            </a:extLst>
          </p:cNvPr>
          <p:cNvSpPr/>
          <p:nvPr/>
        </p:nvSpPr>
        <p:spPr>
          <a:xfrm>
            <a:off x="3784600" y="1422400"/>
            <a:ext cx="88900" cy="1092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390CA5A-619A-6727-9587-E8157AB1C0B4}"/>
              </a:ext>
            </a:extLst>
          </p:cNvPr>
          <p:cNvSpPr txBox="1"/>
          <p:nvPr/>
        </p:nvSpPr>
        <p:spPr>
          <a:xfrm>
            <a:off x="901700" y="1503109"/>
            <a:ext cx="27305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30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0.4197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47FC34A-0303-36B1-5516-2A7EC8759204}"/>
              </a:ext>
            </a:extLst>
          </p:cNvPr>
          <p:cNvSpPr txBox="1"/>
          <p:nvPr/>
        </p:nvSpPr>
        <p:spPr>
          <a:xfrm>
            <a:off x="901700" y="2154614"/>
            <a:ext cx="27305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Intent Macro-F1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4" name="Shape_808">
            <a:extLst>
              <a:ext uri="{FF2B5EF4-FFF2-40B4-BE49-F238E27FC236}">
                <a16:creationId xmlns:a16="http://schemas.microsoft.com/office/drawing/2014/main" id="{08C341D2-CA7C-0CF8-5B5B-512FF2FDC1F3}"/>
              </a:ext>
            </a:extLst>
          </p:cNvPr>
          <p:cNvSpPr/>
          <p:nvPr/>
        </p:nvSpPr>
        <p:spPr>
          <a:xfrm>
            <a:off x="698500" y="2717800"/>
            <a:ext cx="3175000" cy="1092200"/>
          </a:xfrm>
          <a:prstGeom prst="rect">
            <a:avLst/>
          </a:prstGeom>
          <a:solidFill>
            <a:srgbClr val="E7F7F0"/>
          </a:solidFill>
          <a:ln w="0" cap="flat" cmpd="sng" algn="ctr">
            <a:solidFill>
              <a:srgbClr val="E7F7F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5" name="Shape_809">
            <a:extLst>
              <a:ext uri="{FF2B5EF4-FFF2-40B4-BE49-F238E27FC236}">
                <a16:creationId xmlns:a16="http://schemas.microsoft.com/office/drawing/2014/main" id="{9444E4E5-D7C6-4806-682F-C9F60FB5DA06}"/>
              </a:ext>
            </a:extLst>
          </p:cNvPr>
          <p:cNvSpPr/>
          <p:nvPr/>
        </p:nvSpPr>
        <p:spPr>
          <a:xfrm>
            <a:off x="3784600" y="2717800"/>
            <a:ext cx="88900" cy="1092200"/>
          </a:xfrm>
          <a:prstGeom prst="rect">
            <a:avLst/>
          </a:prstGeom>
          <a:solidFill>
            <a:srgbClr val="2E9D78"/>
          </a:solidFill>
          <a:ln w="0" cap="flat" cmpd="sng" algn="ctr">
            <a:solidFill>
              <a:srgbClr val="2E9D78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594FB9D-C58D-F987-55E9-32422657C2AB}"/>
              </a:ext>
            </a:extLst>
          </p:cNvPr>
          <p:cNvSpPr txBox="1"/>
          <p:nvPr/>
        </p:nvSpPr>
        <p:spPr>
          <a:xfrm>
            <a:off x="901700" y="2798509"/>
            <a:ext cx="27305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3000" b="1">
                <a:solidFill>
                  <a:srgbClr val="2E9D78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0.6029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B2047EA-79A6-1BB9-E9F5-50084949B7CC}"/>
              </a:ext>
            </a:extLst>
          </p:cNvPr>
          <p:cNvSpPr txBox="1"/>
          <p:nvPr/>
        </p:nvSpPr>
        <p:spPr>
          <a:xfrm>
            <a:off x="901700" y="3450014"/>
            <a:ext cx="27305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hole F1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8" name="Shape_810">
            <a:extLst>
              <a:ext uri="{FF2B5EF4-FFF2-40B4-BE49-F238E27FC236}">
                <a16:creationId xmlns:a16="http://schemas.microsoft.com/office/drawing/2014/main" id="{707797AC-9F5D-FD31-7E73-57DBF9C4FC62}"/>
              </a:ext>
            </a:extLst>
          </p:cNvPr>
          <p:cNvSpPr/>
          <p:nvPr/>
        </p:nvSpPr>
        <p:spPr>
          <a:xfrm>
            <a:off x="698500" y="4013200"/>
            <a:ext cx="3175000" cy="1092200"/>
          </a:xfrm>
          <a:prstGeom prst="rect">
            <a:avLst/>
          </a:prstGeom>
          <a:solidFill>
            <a:srgbClr val="FFF4E0"/>
          </a:solidFill>
          <a:ln w="0" cap="flat" cmpd="sng" algn="ctr">
            <a:solidFill>
              <a:srgbClr val="FFF4E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9" name="Shape_811">
            <a:extLst>
              <a:ext uri="{FF2B5EF4-FFF2-40B4-BE49-F238E27FC236}">
                <a16:creationId xmlns:a16="http://schemas.microsoft.com/office/drawing/2014/main" id="{EF0A9146-8239-C8E3-9130-8B2A4A9417BD}"/>
              </a:ext>
            </a:extLst>
          </p:cNvPr>
          <p:cNvSpPr/>
          <p:nvPr/>
        </p:nvSpPr>
        <p:spPr>
          <a:xfrm>
            <a:off x="3784600" y="4013200"/>
            <a:ext cx="88900" cy="1092200"/>
          </a:xfrm>
          <a:prstGeom prst="rect">
            <a:avLst/>
          </a:prstGeom>
          <a:solidFill>
            <a:srgbClr val="F59E0B"/>
          </a:solidFill>
          <a:ln w="0" cap="flat" cmpd="sng" algn="ctr">
            <a:solidFill>
              <a:srgbClr val="F59E0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FF812B7-5D0A-3CCE-F105-5EF4EDBEC88F}"/>
              </a:ext>
            </a:extLst>
          </p:cNvPr>
          <p:cNvSpPr txBox="1"/>
          <p:nvPr/>
        </p:nvSpPr>
        <p:spPr>
          <a:xfrm>
            <a:off x="901700" y="4093909"/>
            <a:ext cx="27305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3000" b="1">
                <a:solidFill>
                  <a:srgbClr val="F59E0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0.7352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8398CE3-B4BA-B26D-CA28-43F5F3DEBF02}"/>
              </a:ext>
            </a:extLst>
          </p:cNvPr>
          <p:cNvSpPr txBox="1"/>
          <p:nvPr/>
        </p:nvSpPr>
        <p:spPr>
          <a:xfrm>
            <a:off x="901700" y="4745414"/>
            <a:ext cx="27305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hole AUROC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2148D33-0E84-6789-995A-DE61A64C2BF2}"/>
              </a:ext>
            </a:extLst>
          </p:cNvPr>
          <p:cNvSpPr txBox="1"/>
          <p:nvPr/>
        </p:nvSpPr>
        <p:spPr>
          <a:xfrm>
            <a:off x="10617200" y="1376109"/>
            <a:ext cx="6350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IL" sz="30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291CEBB-B9AE-7738-3A24-02FF782BB52C}"/>
              </a:ext>
            </a:extLst>
          </p:cNvPr>
          <p:cNvSpPr txBox="1"/>
          <p:nvPr/>
        </p:nvSpPr>
        <p:spPr>
          <a:xfrm>
            <a:off x="4699000" y="1424965"/>
            <a:ext cx="5664200" cy="36420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2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ייצוג מבנה השינוי חשוב יותר מנפח המודל.</a:t>
            </a:r>
            <a:endParaRPr lang="en-IL" sz="22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80FAC37-15AA-FA04-1BA8-A011DB26F785}"/>
              </a:ext>
            </a:extLst>
          </p:cNvPr>
          <p:cNvSpPr txBox="1"/>
          <p:nvPr/>
        </p:nvSpPr>
        <p:spPr>
          <a:xfrm>
            <a:off x="10617200" y="2620709"/>
            <a:ext cx="6350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IL" sz="3000" b="1">
                <a:solidFill>
                  <a:srgbClr val="2E9D78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E6C664D-3A45-FF5F-4284-0759929D3EED}"/>
              </a:ext>
            </a:extLst>
          </p:cNvPr>
          <p:cNvSpPr txBox="1"/>
          <p:nvPr/>
        </p:nvSpPr>
        <p:spPr>
          <a:xfrm>
            <a:off x="4699000" y="2654176"/>
            <a:ext cx="5664200" cy="67197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1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מידע מפורש על סוג השורה מצמצם התראות שווא ומשפר זיהוי חוסר.</a:t>
            </a:r>
            <a:endParaRPr lang="en-IL" sz="21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B90C1B1-567B-0459-A000-7030A5CE277B}"/>
              </a:ext>
            </a:extLst>
          </p:cNvPr>
          <p:cNvSpPr txBox="1"/>
          <p:nvPr/>
        </p:nvSpPr>
        <p:spPr>
          <a:xfrm>
            <a:off x="10617200" y="3865309"/>
            <a:ext cx="6350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IL" sz="3000" b="1">
                <a:solidFill>
                  <a:srgbClr val="F59E0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FBA3F47-BBBB-13EC-DDDD-142900DCAB86}"/>
              </a:ext>
            </a:extLst>
          </p:cNvPr>
          <p:cNvSpPr txBox="1"/>
          <p:nvPr/>
        </p:nvSpPr>
        <p:spPr>
          <a:xfrm>
            <a:off x="4699000" y="3825265"/>
            <a:ext cx="5664200" cy="641201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000" b="1">
                <a:solidFill>
                  <a:srgbClr val="DC4C64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מקור התוויות חייב להיות עצמאי. אין להעריך הבנת קוד לפי </a:t>
            </a:r>
            <a:r>
              <a:rPr lang="en-US" sz="2000" b="1">
                <a:solidFill>
                  <a:srgbClr val="DC4C64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⁦commit message⁩</a:t>
            </a:r>
            <a:endParaRPr lang="en-IL" sz="2000" b="1">
              <a:solidFill>
                <a:srgbClr val="DC4C64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E78E36EB-0BD5-69F5-F60C-9237EDB16BD6}"/>
              </a:ext>
            </a:extLst>
          </p:cNvPr>
          <p:cNvCxnSpPr/>
          <p:nvPr/>
        </p:nvCxnSpPr>
        <p:spPr>
          <a:xfrm>
            <a:off x="698500" y="5651500"/>
            <a:ext cx="107950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1D74745F-4F9B-A678-8681-3A71ED211629}"/>
              </a:ext>
            </a:extLst>
          </p:cNvPr>
          <p:cNvSpPr txBox="1"/>
          <p:nvPr/>
        </p:nvSpPr>
        <p:spPr>
          <a:xfrm>
            <a:off x="698500" y="5944219"/>
            <a:ext cx="5842000" cy="24109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400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github.com/korrenhannes/diffintent-rtl</a:t>
            </a:r>
            <a:endParaRPr lang="en-IL" sz="1400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508477E-0100-99EB-7B6C-3614D4954EC7}"/>
              </a:ext>
            </a:extLst>
          </p:cNvPr>
          <p:cNvSpPr txBox="1"/>
          <p:nvPr/>
        </p:nvSpPr>
        <p:spPr>
          <a:xfrm>
            <a:off x="8851900" y="5714504"/>
            <a:ext cx="26416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שאלות?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9044690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_812">
            <a:extLst>
              <a:ext uri="{FF2B5EF4-FFF2-40B4-BE49-F238E27FC236}">
                <a16:creationId xmlns:a16="http://schemas.microsoft.com/office/drawing/2014/main" id="{D7DB033D-3C4E-EEB6-CFDE-A476D981731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Shape_813">
            <a:extLst>
              <a:ext uri="{FF2B5EF4-FFF2-40B4-BE49-F238E27FC236}">
                <a16:creationId xmlns:a16="http://schemas.microsoft.com/office/drawing/2014/main" id="{07716272-7955-3657-4185-FE862B0E143B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25BC3E-77A3-F988-13A9-BA2F0F040D32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גיבוי: מטריצות בלבול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CB3B9A-2EE9-1270-B330-C096597BC7C0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985C13B-5BCA-F897-EE60-8D12F7A3C60B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FF61B18B-21C6-43A4-4371-5B7E84C75067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A1</a:t>
            </a:r>
            <a:endParaRPr lang="en-IL" sz="11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4066FF6-D5AD-9C6C-FBFC-CB6A0AA01FC4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0" y="1600200"/>
            <a:ext cx="4445000" cy="37084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78C73CA-AC4C-D3A1-BCA9-F1C24EBC2E92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6477000" y="1600200"/>
            <a:ext cx="4445000" cy="370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16683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_814">
            <a:extLst>
              <a:ext uri="{FF2B5EF4-FFF2-40B4-BE49-F238E27FC236}">
                <a16:creationId xmlns:a16="http://schemas.microsoft.com/office/drawing/2014/main" id="{184DF722-7EA9-50CD-D59F-235797C546D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Shape_815">
            <a:extLst>
              <a:ext uri="{FF2B5EF4-FFF2-40B4-BE49-F238E27FC236}">
                <a16:creationId xmlns:a16="http://schemas.microsoft.com/office/drawing/2014/main" id="{52E1D967-A5BF-D2A9-200C-2CF7427994D5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BAEBC15-4618-98A0-B862-6AA560E41945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גיבוי: ביצועים לפי סוג שינוי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E6CB80-450C-0F52-9AEE-A9951852EB75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6E09628-132D-0FBB-5059-0D98B79ED03E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69CA820C-8B35-1BFE-7D76-9B2A0126AB4B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A2</a:t>
            </a:r>
            <a:endParaRPr lang="en-IL" sz="11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FAF4368-10C4-7436-B859-1A959AEE1CA2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778000" y="1308100"/>
            <a:ext cx="8636000" cy="490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69037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_816">
            <a:extLst>
              <a:ext uri="{FF2B5EF4-FFF2-40B4-BE49-F238E27FC236}">
                <a16:creationId xmlns:a16="http://schemas.microsoft.com/office/drawing/2014/main" id="{BD9ADF34-FBAC-E830-E894-4C4EA349CE7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Shape_817">
            <a:extLst>
              <a:ext uri="{FF2B5EF4-FFF2-40B4-BE49-F238E27FC236}">
                <a16:creationId xmlns:a16="http://schemas.microsoft.com/office/drawing/2014/main" id="{E9BAAED5-08CA-CD63-CC61-7084904527AF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DD79A4-914E-E34E-4844-C31BA28A2B5B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גיבוי: מחקרי הרחבה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EDF6D8-2133-ED1F-D97F-390657B1E01F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03F0C22-4112-4557-9F1C-B89898BD0270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9983F951-A8D0-C2BE-BD95-5D568773C35E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A3</a:t>
            </a:r>
            <a:endParaRPr lang="en-IL" sz="11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E2CA439-4879-4374-E942-F57D59E73510}"/>
              </a:ext>
            </a:extLst>
          </p:cNvPr>
          <p:cNvSpPr txBox="1"/>
          <p:nvPr/>
        </p:nvSpPr>
        <p:spPr>
          <a:xfrm>
            <a:off x="609600" y="1330915"/>
            <a:ext cx="3352800" cy="2718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6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Improved Weak Labeling</a:t>
            </a:r>
            <a:endParaRPr lang="en-IL" sz="16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25800F7-4A11-0707-0B70-FCB4289D2811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739900"/>
            <a:ext cx="3352800" cy="21590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F02C07D-A073-7F64-B687-AD63461CFF96}"/>
              </a:ext>
            </a:extLst>
          </p:cNvPr>
          <p:cNvSpPr txBox="1"/>
          <p:nvPr/>
        </p:nvSpPr>
        <p:spPr>
          <a:xfrm>
            <a:off x="4419600" y="1330915"/>
            <a:ext cx="3352800" cy="2718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600" b="1">
                <a:solidFill>
                  <a:srgbClr val="2E9D78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Hardware-aware Features</a:t>
            </a:r>
            <a:endParaRPr lang="en-IL" sz="1600" b="1">
              <a:solidFill>
                <a:srgbClr val="2E9D78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423C37C-F7F1-F64A-8036-635BB5A726E4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739900"/>
            <a:ext cx="3048000" cy="21844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D2E99C1-8AC4-506D-9D7B-7EB64E171313}"/>
              </a:ext>
            </a:extLst>
          </p:cNvPr>
          <p:cNvSpPr txBox="1"/>
          <p:nvPr/>
        </p:nvSpPr>
        <p:spPr>
          <a:xfrm>
            <a:off x="8229600" y="1330915"/>
            <a:ext cx="3352800" cy="2718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600" b="1">
                <a:solidFill>
                  <a:srgbClr val="F59E0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Cross-project Study</a:t>
            </a:r>
            <a:endParaRPr lang="en-IL" sz="1600" b="1">
              <a:solidFill>
                <a:srgbClr val="F59E0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1D3F2D3-E8AA-06C2-ED89-AA9D5477812C}"/>
              </a:ext>
            </a:extLst>
          </p:cNvPr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0" y="1739900"/>
            <a:ext cx="3352800" cy="1308100"/>
          </a:xfrm>
          <a:prstGeom prst="rect">
            <a:avLst/>
          </a:prstGeom>
        </p:spPr>
      </p:pic>
      <p:sp>
        <p:nvSpPr>
          <p:cNvPr id="19" name="Shape_818">
            <a:extLst>
              <a:ext uri="{FF2B5EF4-FFF2-40B4-BE49-F238E27FC236}">
                <a16:creationId xmlns:a16="http://schemas.microsoft.com/office/drawing/2014/main" id="{FCDCD5AC-5837-52FE-E17B-D91AB2125028}"/>
              </a:ext>
            </a:extLst>
          </p:cNvPr>
          <p:cNvSpPr/>
          <p:nvPr/>
        </p:nvSpPr>
        <p:spPr>
          <a:xfrm>
            <a:off x="609600" y="4406900"/>
            <a:ext cx="10972800" cy="1422400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rgbClr val="E8F1F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DCB1D09-FA68-3E5E-FCD8-94F367EC8426}"/>
              </a:ext>
            </a:extLst>
          </p:cNvPr>
          <p:cNvSpPr txBox="1"/>
          <p:nvPr/>
        </p:nvSpPr>
        <p:spPr>
          <a:xfrm>
            <a:off x="901700" y="4681542"/>
            <a:ext cx="2921000" cy="302647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b="1">
                <a:solidFill>
                  <a:srgbClr val="DC4C64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Medium-scale studies</a:t>
            </a:r>
            <a:endParaRPr lang="en-IL" b="1">
              <a:solidFill>
                <a:srgbClr val="DC4C64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A4F1889-1F3E-C802-FB6E-3D6EA9EE9C65}"/>
              </a:ext>
            </a:extLst>
          </p:cNvPr>
          <p:cNvSpPr txBox="1"/>
          <p:nvPr/>
        </p:nvSpPr>
        <p:spPr>
          <a:xfrm>
            <a:off x="4064000" y="4592642"/>
            <a:ext cx="7175500" cy="579646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המספרים אינם בני השוואה ישירה לניסוי המלא. הם מצביעים על שיפור כיסוי התיוג, ערך של מאפייני חומרה ופער בין פרויקטים.</a:t>
            </a:r>
            <a:endParaRPr lang="en-IL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7346019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1931</Words>
  <Application>Microsoft Macintosh PowerPoint</Application>
  <PresentationFormat>Widescreen</PresentationFormat>
  <Paragraphs>199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Aptos</vt:lpstr>
      <vt:lpstr>Aptos Display</vt:lpstr>
      <vt:lpstr>Arial</vt:lpstr>
      <vt:lpstr>Menlo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Korren Hannes</dc:creator>
  <cp:lastModifiedBy>Korren Hannes</cp:lastModifiedBy>
  <cp:revision>1</cp:revision>
  <dcterms:created xsi:type="dcterms:W3CDTF">2026-10-07T17:34:55Z</dcterms:created>
  <dcterms:modified xsi:type="dcterms:W3CDTF">2026-10-07T17:35:11Z</dcterms:modified>
</cp:coreProperties>
</file>