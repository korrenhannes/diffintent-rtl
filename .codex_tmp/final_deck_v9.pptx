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6"/>
  </p:normalViewPr>
  <p:slideViewPr>
    <p:cSldViewPr snapToGrid="0">
      <p:cViewPr varScale="1">
        <p:scale>
          <a:sx n="116" d="100"/>
          <a:sy n="116" d="100"/>
        </p:scale>
        <p:origin x="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7B32D4-C048-EC47-98AF-D915A48CECC5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48CAC-B170-724D-B7EE-A5E6979BE41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18189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00:20
פתיחה קצרה: הפרויקט בוחן האם ניתן להבין שינויי קוד ברמת 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ולא רק את הקובץ לאחר השינוי.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DiffIntent-RTL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שתי משימות: זיהוי מטרת השינוי וזיהוי חוסר פונקציונלי.
מעבר: נתחיל מהבעיה המעשית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DiffIntent -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הצעת פרויקט.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pdf; report/final_report.md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48CAC-B170-724D-B7EE-A5E6979BE416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67340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המסר המרכזי: תקינות תחבירית אינה מבטיחה שלמות פונקציונלית.
בדוגמה,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קטן משנה נתיב בקרה; שורה חסרה יכולה לשנות את ההתנהגות בלי לשבור קומפילציה.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מפתח משתמש בסוג השורה, בקוד הסמוך ובמבנה השינוי.
מעבר: מכאן נגזרות שתי שאלות המחקר.
מקור: סעיפים 1 ו-3.3 בדוח הסופי.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48CAC-B170-724D-B7EE-A5E6979BE416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868874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00:45
יש שתי משימות על אותו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diff.
Intent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ארבע מחלקות של מטרת 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הפרדה בין שינוי שלם לבין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implementation hole.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ההשערה נבנתה על מחקר קודם של ייצוגי שינוי, מודלים היררכיים וחיזוי מתיקוני קוד.
מעבר: כעת נראה כיצד הופכים היסטוריית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Git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לנתוני אימון.
מקורות: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CC2Vec; PatchNet; DeepJIT; CodeReviewer;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סעיף 2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48CAC-B170-724D-B7EE-A5E6979BE416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55682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01:05
הצינור מתחיל בהיסטוריית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OpenTitan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ומסנן רק קבצי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SystemVerilog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רלוונטיים.
כל דוגמה היא שינוי בקובץ אחד.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נוצרות מהודעות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commit.
Synthetic Holes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נוצרים בתוך אזור השינוי.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Chronological Split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הזוג המקורי והגרסה המוטנטית לעולם אינם מתפצלים בין קבוצות.
מעבר: נבחן את הרכב מערך הנתונים.
מקור: סעיפים 3.1 עד 3.4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48CAC-B170-724D-B7EE-A5E6979BE416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000450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המספרים המרכזיים: 5,903 מועמדים גולמיים, 2,843 דוגמאות אמיתיות לאחר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labeling,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ו-5,500 דוגמאות לאחר יצירת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synthetic holes.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החלוקה כרונולוגית: 3,873 לאימון, 830 לאימות ו-797 לבדיקה.
הגרף מציג גם את חוסר האיזון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Intent: refactor_cleanup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המחלקה הקטנה ביותר.
מעבר: איך בדיוק נוצרת דוגמה חסרה?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outputs/full_run/dataset_summary.json; figure_dataset_overview.png.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48CAC-B170-724D-B7EE-A5E6979BE416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090453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הדוגמה המקורית נשארת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complete.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עותק שלה עובר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מבוקר בתוך השורות שהשתנו.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drop_added_line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הפעולה השכיחה ביותר, והיא מהווה 82.2 אחוז מדוגמאות החוסר בבדיקה.
יש גם הסרת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guard, assertion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reset assignment,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וכן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flips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אופרטורים, אך חלקם נדירים.
היתרון הוא שליטה בזוגות; החיסרון הוא פער מחוסרים אמיתיים.
מעבר: נציג את קו הבסיס ואת המודלים העמוקים.
מקור: סעיף 3.3 וסעיף 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48CAC-B170-724D-B7EE-A5E6979BE416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987810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ההשוואה נבנתה כסולם מורכבות.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 + Logistic Regression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קו בסיס לקסיקלי חזק.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MLP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מאגר ממוצע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embeddings.
BiGRU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רצף שטוח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tokens.
Hierarchical Transformer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מקודד כל שורה ואז את רצף השורות, כולל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למודלים העמוקים יש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Multi-task head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לשתי המשימות.
מעבר: נפתח את הארכיטקטורה ההיררכית.
מקור: סעיף 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48CAC-B170-724D-B7EE-A5E6979BE416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792337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01:15
זו הארכיטקטורה המרכזית.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Typed Diff Lines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כל שורה מסומנת לפי תפקידה.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Token Embedding + BiGRU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יוצר ייצוג פנימי לכל שורה.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Transformer Encoder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לומד קשרים בין שורות רחוקות.
שני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heads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מפיקים תחזית נפרדת לכל משימה.
הניסוי החשוב בהמשך מסיר 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 embedding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ובודק מה אובד.
מעבר: קודם נבחן את תוצאת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סעיפים 4.3 ו-4.4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48CAC-B170-724D-B7EE-A5E6979BE416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75519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התוצאה המרכזית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Macro-F1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0.4197 עבור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הגרף מראה שהיתרון אינו אחיד בין המחלקות;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refactor_cleanup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נשארת קשה בגלל מיעוט דוגמאות וחפיפה סמנטית.
המשמעות אינה שמודלים עמוקים חסרי ערך, אלא שהמשימה והתיוג מספקים אות לקסיקלי חזק מאוד.
מעבר: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control experiment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חושף עד כמה האות הזה קשור 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figure_intent_per_class_f1.png.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48CAC-B170-724D-B7EE-A5E6979BE416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242456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זהו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control experiment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קריטי.
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label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 ממילות מפתח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 message.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כאשר מאמנים מודל רק על אותו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message,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מתקבל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Macro-F1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0.9855.
לכן תוצאת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משקפת במידה רבה את מנגנון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labeling.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כדי לטעון להבנת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נדרש סט תוויות ידני או מקור תוויות עצמאי.
מעבר: משימת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אינה נשענת על אותו ערוץ, ושם המבנה ההיררכי בולט.
מקור: סעיף 7.5 וסעיף 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48CAC-B170-724D-B7EE-A5E6979BE416}" type="slidenum">
              <a:rPr lang="en-IL" smtClean="0"/>
              <a:t>10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659457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01:15
כאן מתקבלת התוצאה החזקה ביותר של הפרויקט.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Hierarchical Transformer
hole 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0.6029 ו-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AUROC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0.7352.
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seed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המוצג הוא שומר כמעט על אותו מספר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true positives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כמו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אך מוריד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false positives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מ-172 ל-81.
זה חשוב 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Review: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פחות התראות שווא משפרות שימושיות.
מעבר: האם השיפור באמת מגיע ממידע על סוג השורה?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figure_hole_confusion_panels.png.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48CAC-B170-724D-B7EE-A5E6979BE416}" type="slidenum">
              <a:rPr lang="en-IL" smtClean="0"/>
              <a:t>11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518812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01:05
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ablation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מסיר רק 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 information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ושומר את שאר הארכיטקטורה.
התוצאה: ירידה של 0.1305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hole 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ושל 0.1058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AUROC.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זהו הממצא הסיבתי החזק ביותר במצגת: לא רק נפח המודל, אלא הייצוג המפורש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ADD, DEL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CONTEXT,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תורם לזיהוי חוסר.
מעבר: עדיין צריך לפרש את התוצאה בתוך מגבלות מערך הנתונים.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figure_ablation_results.png.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48CAC-B170-724D-B7EE-A5E6979BE416}" type="slidenum">
              <a:rPr lang="en-IL" smtClean="0"/>
              <a:t>12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545572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שלוש מגבלות מגדירות את גבול הטענה.
ראשית, 82.2 אחוז מהחוסרים הסינתטיים הם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drop_added_line.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שנית, מספר משפחות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נדירות מדי להערכה.
שלישית, מחקר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Caliptra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הוא מקדים ובקנה מידה קטן, ולא הערכת סיום שקולה.
לכן התוצאה מצביעה על פוטנציאל, אך אינה תחליף לסט בדיקה ידני של חוסרים אמיתיים.
מעבר: נסכם את שלוש המסקנות שניתן להגן עליהן.
מקור: סעיפים 7.7 ו-8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48CAC-B170-724D-B7EE-A5E6979BE416}" type="slidenum">
              <a:rPr lang="en-IL" smtClean="0"/>
              <a:t>13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598781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00:35
שלוש מסקנות.
אחת: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קו בסיס לקסיקלי נשאר תחרותי.
שתיים: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מבנה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מפורש משפר ביצועים ומפחית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false positives.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שלוש: תוויות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חייבות להגיע ממקור שאינו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 message.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סיום: הפרויקט מספק תשתית מלאה למחקר המשך על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RTL.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מסקנות הדוח הסופי.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48CAC-B170-724D-B7EE-A5E6979BE416}" type="slidenum">
              <a:rPr lang="en-IL" smtClean="0"/>
              <a:t>14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049819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השתמשו בה אם נשאלת שאלה על דפוסי הבלבול בין מחלקות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figure_intent_confusion_panels.png.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48CAC-B170-724D-B7EE-A5E6979BE416}" type="slidenum">
              <a:rPr lang="en-IL" smtClean="0"/>
              <a:t>15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284359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התרשים מפריד ביצועים לפי משפחת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וממחיש מדוע המספר הכולל מושפע מהתפלגות הדוגמאות.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figure_hole_mutation_recall.png.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48CAC-B170-724D-B7EE-A5E6979BE416}" type="slidenum">
              <a:rPr lang="en-IL" smtClean="0"/>
              <a:t>16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978723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מחקרי ההרחבה בוצעו על מערך קטן יותר ובפרוטוקולים אחרים. אין להשוות את הערכים המוחלטים לתוצאות הניסוי המלא.
מקור: סעיף 7.7 בדוח;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labeler_improvement.png; rtl_features_cv.png; generalization_compare.png.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48CAC-B170-724D-B7EE-A5E6979BE416}" type="slidenum">
              <a:rPr lang="en-IL" smtClean="0"/>
              <a:t>17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17180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F7D34-6794-E173-D7E2-492C3A178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1DC1E6-9B27-2AE6-FEC1-CD007F2AB3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1A1EE-1B43-03FA-9CA1-1DDD9062C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90AF4-C6FC-064A-8B08-7E94E5016FB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07199-FF96-8F89-75BA-6B78A421E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14C4C-BA3B-BC52-233C-7C1453CDE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4212-B2B6-A24B-BC4B-C9FE3FC9CC7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08381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E211E-1E3D-CA9B-0FC8-03F6F8C63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51BEC-6823-E30D-21D5-29940081D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DCEB4-1790-941C-C12C-CF609B96E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90AF4-C6FC-064A-8B08-7E94E5016FB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9E277-54F2-0AE4-C5B3-B32F66A60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3A002-62E6-0A6C-035B-3BE80E3E4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4212-B2B6-A24B-BC4B-C9FE3FC9CC7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35184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215DD-23A3-30AF-6FF7-BB8EB75A6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55F8F-E211-E738-45C5-AB7DBB3D5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A00F4-9D85-760D-DB18-57B919092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90AF4-C6FC-064A-8B08-7E94E5016FB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71D03-CEA1-2207-4E62-36C03669C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765A9-1D04-3ED9-468E-C05E9B7BC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4212-B2B6-A24B-BC4B-C9FE3FC9CC7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97840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51702-B792-B35A-A5AE-E4A5E3007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EDEC9-1924-DAF5-6E19-6A8254BAC7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1680D-F94D-FB9A-520C-75C6A23C17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3E493-92D0-5C31-4ED2-CD86F5F43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90AF4-C6FC-064A-8B08-7E94E5016FB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FA747A-FE88-91E5-BBF6-1D33A9248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2B3B31-CE5C-DD6B-6C68-6C54D7D46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4212-B2B6-A24B-BC4B-C9FE3FC9CC7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59210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47014-3D6A-650D-95D5-40E4B3714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48A763-646D-1051-2092-5F4EEE077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853070-DB71-781A-B4AB-2C97143F94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5D3BC1-80FE-0FC2-B7F3-A2A90E95E6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F835D-DEAB-B1D8-3BC6-809A65AA16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ECFF85-1DEB-6182-7C21-56459C369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90AF4-C6FC-064A-8B08-7E94E5016FB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1B074-7359-7193-AE5C-03509C71B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02644B-AAD8-3979-E864-6FA53EE86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4212-B2B6-A24B-BC4B-C9FE3FC9CC7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513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A5018-250B-BAC6-00CC-5868E5D95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C744F3-1F89-3C91-C6A0-9623AB48D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90AF4-C6FC-064A-8B08-7E94E5016FB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09871F-EEED-6842-EAA6-C088E15AE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048C91-C226-88BD-266B-5DE5B5D18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4212-B2B6-A24B-BC4B-C9FE3FC9CC7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04876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8FF089-39B8-C455-3988-BE14CEAF8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90AF4-C6FC-064A-8B08-7E94E5016FB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49490A-4778-5550-673C-9D711253D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64FC3-1CE7-A0C6-AC19-F8FDC743B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4212-B2B6-A24B-BC4B-C9FE3FC9CC7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79177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A3164-3A12-9DA8-6D52-DFEA58750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54B04-22F2-0012-5EFB-F93BC42AA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7BE12-3F8D-36AC-EB39-6D60B73824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B31849-7A36-FBD9-6747-B5BC875BD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90AF4-C6FC-064A-8B08-7E94E5016FB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440E62-8892-631C-DFBF-CC12AF80B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D153DA-5BA6-6158-552C-75031B739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4212-B2B6-A24B-BC4B-C9FE3FC9CC7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58044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73564-2D87-15DC-4555-321154FD9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69283F-5A7E-7D23-4385-7A0F444F816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BB1320-503D-B96D-C970-3FFF3FD0C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3B3EC5-9124-A129-9BFC-FED0BD35C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90AF4-C6FC-064A-8B08-7E94E5016FB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CCF5E4-2158-8072-6B47-03E20FF3E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4C708E-C8CE-D58E-6B9A-D47172010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4212-B2B6-A24B-BC4B-C9FE3FC9CC7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14334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FE3DD-61D4-749F-B0CF-BDA0AD55C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C7FFD4-E98B-B58F-B0EB-29BBE416DB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7067C-5F06-EE9D-E636-E3A44F421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90AF4-C6FC-064A-8B08-7E94E5016FB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5ADD8-CAB8-B87F-317A-0248EF151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0E122-F751-4CBB-579C-AA5A33ABA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4212-B2B6-A24B-BC4B-C9FE3FC9CC7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28462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F61034-BA3A-0318-420F-5669875F7A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2EFFF-0C7D-011C-4BB9-0B1D6DFA2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3C06F-D97B-AD7B-90F8-5BB55A2C5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90AF4-C6FC-064A-8B08-7E94E5016FB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ACE6F-AA95-3A0B-0465-180A8D518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2F972-3A1D-0913-E256-AC8C6BFD7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4212-B2B6-A24B-BC4B-C9FE3FC9CC7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57538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A7F084-835C-7B7A-0FC1-FE818312D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F336B7-43AE-5A9E-61DF-E3EDC1E9D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A60A4-EF78-0473-D13E-B26F1429CE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E90AF4-C6FC-064A-8B08-7E94E5016FB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EADF6-94E7-D47E-D579-DB90AE299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70362-E50A-6402-C6CD-7B562E0575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414212-B2B6-A24B-BC4B-C9FE3FC9CC7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19135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364">
            <a:extLst>
              <a:ext uri="{FF2B5EF4-FFF2-40B4-BE49-F238E27FC236}">
                <a16:creationId xmlns:a16="http://schemas.microsoft.com/office/drawing/2014/main" id="{83275CCA-64A8-B9F7-D611-11A085BE85DD}"/>
              </a:ext>
            </a:extLst>
          </p:cNvPr>
          <p:cNvSpPr/>
          <p:nvPr/>
        </p:nvSpPr>
        <p:spPr>
          <a:xfrm>
            <a:off x="12065000" y="0"/>
            <a:ext cx="127000" cy="68580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05B802-3727-4F0A-7077-2582A41E6D96}"/>
              </a:ext>
            </a:extLst>
          </p:cNvPr>
          <p:cNvSpPr txBox="1"/>
          <p:nvPr/>
        </p:nvSpPr>
        <p:spPr>
          <a:xfrm>
            <a:off x="5207000" y="869310"/>
            <a:ext cx="60325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4800" b="1">
                <a:solidFill>
                  <a:srgbClr val="FFFFFF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4800" b="1">
              <a:solidFill>
                <a:srgbClr val="FFFFFF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88BC24-0A7C-5BFA-2ECF-EF981C8B1761}"/>
              </a:ext>
            </a:extLst>
          </p:cNvPr>
          <p:cNvSpPr txBox="1"/>
          <p:nvPr/>
        </p:nvSpPr>
        <p:spPr>
          <a:xfrm>
            <a:off x="5207000" y="1894577"/>
            <a:ext cx="6032500" cy="9489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3000" b="1">
                <a:solidFill>
                  <a:srgbClr val="DDE7F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זיהוי מטרת שינוי וחוסרים פונקציונליים בקוד</a:t>
            </a:r>
            <a:endParaRPr lang="en-IL" sz="3000" b="1">
              <a:solidFill>
                <a:srgbClr val="DDE7F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F205A3-79BF-9272-675F-F41FBC9E540E}"/>
              </a:ext>
            </a:extLst>
          </p:cNvPr>
          <p:cNvSpPr txBox="1"/>
          <p:nvPr/>
        </p:nvSpPr>
        <p:spPr>
          <a:xfrm>
            <a:off x="9144000" y="3098304"/>
            <a:ext cx="20955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29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RTL</a:t>
            </a:r>
            <a:endParaRPr lang="en-IL" sz="29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6B5449C-B991-5356-1C0C-E9DF6341EB9C}"/>
              </a:ext>
            </a:extLst>
          </p:cNvPr>
          <p:cNvCxnSpPr/>
          <p:nvPr/>
        </p:nvCxnSpPr>
        <p:spPr>
          <a:xfrm>
            <a:off x="825500" y="3987800"/>
            <a:ext cx="10414000" cy="0"/>
          </a:xfrm>
          <a:prstGeom prst="line">
            <a:avLst/>
          </a:prstGeom>
          <a:ln w="19050">
            <a:solidFill>
              <a:srgbClr val="405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618A3C0-45F6-B1E8-2888-FD9F6093C074}"/>
              </a:ext>
            </a:extLst>
          </p:cNvPr>
          <p:cNvSpPr txBox="1"/>
          <p:nvPr/>
        </p:nvSpPr>
        <p:spPr>
          <a:xfrm>
            <a:off x="5207000" y="4348653"/>
            <a:ext cx="60325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FFFFFF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קורן הנס  |  נועה סבג</a:t>
            </a:r>
            <a:endParaRPr lang="en-IL" sz="2000">
              <a:solidFill>
                <a:srgbClr val="FFFFFF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B50514-5606-28D9-FC64-A624B7189677}"/>
              </a:ext>
            </a:extLst>
          </p:cNvPr>
          <p:cNvSpPr txBox="1"/>
          <p:nvPr/>
        </p:nvSpPr>
        <p:spPr>
          <a:xfrm>
            <a:off x="825500" y="4384436"/>
            <a:ext cx="44450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700">
                <a:solidFill>
                  <a:srgbClr val="AAC1D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Deep Learning Project</a:t>
            </a:r>
            <a:endParaRPr lang="en-IL" sz="1700">
              <a:solidFill>
                <a:srgbClr val="AAC1D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C3F11B-6413-0C2B-50F6-611784D4F68E}"/>
              </a:ext>
            </a:extLst>
          </p:cNvPr>
          <p:cNvSpPr txBox="1"/>
          <p:nvPr/>
        </p:nvSpPr>
        <p:spPr>
          <a:xfrm>
            <a:off x="825500" y="5741019"/>
            <a:ext cx="1651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15 min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FF4768-A2D5-1E71-D02D-694848A8CB48}"/>
              </a:ext>
            </a:extLst>
          </p:cNvPr>
          <p:cNvSpPr txBox="1"/>
          <p:nvPr/>
        </p:nvSpPr>
        <p:spPr>
          <a:xfrm>
            <a:off x="825500" y="6150108"/>
            <a:ext cx="3302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200">
                <a:solidFill>
                  <a:srgbClr val="AAC1D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Final Presentation</a:t>
            </a:r>
            <a:endParaRPr lang="en-IL" sz="1200">
              <a:solidFill>
                <a:srgbClr val="AAC1D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50695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365">
            <a:extLst>
              <a:ext uri="{FF2B5EF4-FFF2-40B4-BE49-F238E27FC236}">
                <a16:creationId xmlns:a16="http://schemas.microsoft.com/office/drawing/2014/main" id="{2DFD7738-5DF0-0318-D089-BE182BF5D1E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366">
            <a:extLst>
              <a:ext uri="{FF2B5EF4-FFF2-40B4-BE49-F238E27FC236}">
                <a16:creationId xmlns:a16="http://schemas.microsoft.com/office/drawing/2014/main" id="{959F154F-CF53-A4A5-02B9-534D216FF360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3CC5EC-F91D-8CE6-BFC4-69339ED7F61F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חוסר גדול מסתתר בשינוי קטן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6CACCC-179D-EC54-C938-0E029C57425D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8AE0CF-7722-DAA3-1041-E85250AC555A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BF572B9-3093-E0F0-1B04-933034051E54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02 / 14</a:t>
            </a:r>
          </a:p>
        </p:txBody>
      </p:sp>
      <p:sp>
        <p:nvSpPr>
          <p:cNvPr id="10" name="Shape_367">
            <a:extLst>
              <a:ext uri="{FF2B5EF4-FFF2-40B4-BE49-F238E27FC236}">
                <a16:creationId xmlns:a16="http://schemas.microsoft.com/office/drawing/2014/main" id="{8A3C25BC-764E-703F-56B4-10164745261B}"/>
              </a:ext>
            </a:extLst>
          </p:cNvPr>
          <p:cNvSpPr/>
          <p:nvPr/>
        </p:nvSpPr>
        <p:spPr>
          <a:xfrm>
            <a:off x="609600" y="1333500"/>
            <a:ext cx="6413500" cy="4191000"/>
          </a:xfrm>
          <a:prstGeom prst="rect">
            <a:avLst/>
          </a:prstGeom>
          <a:solidFill>
            <a:srgbClr val="0B1F33"/>
          </a:solidFill>
          <a:ln w="0" cap="flat" cmpd="sng" algn="ctr">
            <a:solidFill>
              <a:srgbClr val="0B1F33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F3244E-A647-3F0A-7F05-CC51AA8DCA7A}"/>
              </a:ext>
            </a:extLst>
          </p:cNvPr>
          <p:cNvSpPr txBox="1"/>
          <p:nvPr/>
        </p:nvSpPr>
        <p:spPr>
          <a:xfrm>
            <a:off x="914400" y="1676400"/>
            <a:ext cx="5778500" cy="20313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@@ always_ff @(posedge clk_i) @@
- if (!rst_ni) state_q &lt;= IDLE;
+ if (!rst_ni) state_q &lt;= IDLE;
+ else if (req_i) begin
+   state_q &lt;= BUSY;
+   valid_o &lt;= 1'b1;
+ end</a:t>
            </a:r>
            <a:endParaRPr lang="en-IL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sp>
        <p:nvSpPr>
          <p:cNvPr id="12" name="Shape_368">
            <a:extLst>
              <a:ext uri="{FF2B5EF4-FFF2-40B4-BE49-F238E27FC236}">
                <a16:creationId xmlns:a16="http://schemas.microsoft.com/office/drawing/2014/main" id="{663DB4DC-D291-5555-B548-8E205AB054A0}"/>
              </a:ext>
            </a:extLst>
          </p:cNvPr>
          <p:cNvSpPr/>
          <p:nvPr/>
        </p:nvSpPr>
        <p:spPr>
          <a:xfrm>
            <a:off x="914400" y="4749800"/>
            <a:ext cx="5778500" cy="457200"/>
          </a:xfrm>
          <a:prstGeom prst="rect">
            <a:avLst/>
          </a:prstGeom>
          <a:solidFill>
            <a:srgbClr val="23364A"/>
          </a:solidFill>
          <a:ln w="0" cap="flat" cmpd="sng" algn="ctr">
            <a:solidFill>
              <a:srgbClr val="23364A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484AD7-1352-E76E-DE46-B25D56785903}"/>
              </a:ext>
            </a:extLst>
          </p:cNvPr>
          <p:cNvSpPr txBox="1"/>
          <p:nvPr/>
        </p:nvSpPr>
        <p:spPr>
          <a:xfrm>
            <a:off x="1079500" y="4869725"/>
            <a:ext cx="5461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What if the final assignment is missing?</a:t>
            </a:r>
            <a:endParaRPr lang="en-IL" sz="15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E934B9-0ADF-8978-661E-AD58E90DD9FC}"/>
              </a:ext>
            </a:extLst>
          </p:cNvPr>
          <p:cNvSpPr txBox="1"/>
          <p:nvPr/>
        </p:nvSpPr>
        <p:spPr>
          <a:xfrm>
            <a:off x="7429500" y="1428110"/>
            <a:ext cx="40640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4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השינוי עדיין יכול להיות תקין תחבירית</a:t>
            </a:r>
            <a:endParaRPr lang="en-IL" sz="24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A9C812-88FC-AB86-127C-A3F16036D89E}"/>
              </a:ext>
            </a:extLst>
          </p:cNvPr>
          <p:cNvSpPr txBox="1"/>
          <p:nvPr/>
        </p:nvSpPr>
        <p:spPr>
          <a:xfrm>
            <a:off x="7429500" y="2141999"/>
            <a:ext cx="4064000" cy="73353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3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אבל ההתנהגות הרצויה אינה שלמה</a:t>
            </a:r>
            <a:endParaRPr lang="en-IL" sz="2300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33EEB20-D9A0-6E6D-FC25-EFD83EA4092D}"/>
              </a:ext>
            </a:extLst>
          </p:cNvPr>
          <p:cNvCxnSpPr/>
          <p:nvPr/>
        </p:nvCxnSpPr>
        <p:spPr>
          <a:xfrm>
            <a:off x="7366000" y="3175000"/>
            <a:ext cx="41275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7CDBBC1-3EDC-4E06-481C-461EE74BF790}"/>
              </a:ext>
            </a:extLst>
          </p:cNvPr>
          <p:cNvSpPr txBox="1"/>
          <p:nvPr/>
        </p:nvSpPr>
        <p:spPr>
          <a:xfrm>
            <a:off x="7429500" y="3454275"/>
            <a:ext cx="4064000" cy="9489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מפתח אנושי קורא הקשר, מבנה והבדלים בין שורות. המודל חייב לקבל את אותם רמזים.</a:t>
            </a:r>
            <a:endParaRPr lang="en-IL" sz="20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3C1E19-DD90-D494-F736-36A8A0F8E661}"/>
              </a:ext>
            </a:extLst>
          </p:cNvPr>
          <p:cNvSpPr txBox="1"/>
          <p:nvPr/>
        </p:nvSpPr>
        <p:spPr>
          <a:xfrm>
            <a:off x="7429500" y="4999042"/>
            <a:ext cx="4064000" cy="85664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מפתח אנושי בתהליך </a:t>
            </a:r>
            <a:r>
              <a:rPr lang="en-US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Code Review </a:t>
            </a:r>
            <a:r>
              <a:rPr lang="he-IL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קורא יחד את ההקשר, המבנה וההבדל בין השורות.</a:t>
            </a:r>
            <a:endParaRPr lang="en-IL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795483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369">
            <a:extLst>
              <a:ext uri="{FF2B5EF4-FFF2-40B4-BE49-F238E27FC236}">
                <a16:creationId xmlns:a16="http://schemas.microsoft.com/office/drawing/2014/main" id="{C9D45471-AC7C-EE7F-0FC1-C00C4B0FF50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370">
            <a:extLst>
              <a:ext uri="{FF2B5EF4-FFF2-40B4-BE49-F238E27FC236}">
                <a16:creationId xmlns:a16="http://schemas.microsoft.com/office/drawing/2014/main" id="{D369F834-4389-66DE-1E63-8574BB06F5F7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3BA133-FB5A-42E9-04BE-42285DF6BB16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שתי שאלות מחקר, אובייקט למידה אחד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09E3D4-CED4-C252-C06C-9F87BC0A0AEA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778E8F-CFCC-58EE-5EAE-CD6AB356FFC2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6080125-970F-AF36-8844-1CB009CB9AF0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03 / 14</a:t>
            </a:r>
          </a:p>
        </p:txBody>
      </p:sp>
      <p:sp>
        <p:nvSpPr>
          <p:cNvPr id="10" name="Shape_371">
            <a:extLst>
              <a:ext uri="{FF2B5EF4-FFF2-40B4-BE49-F238E27FC236}">
                <a16:creationId xmlns:a16="http://schemas.microsoft.com/office/drawing/2014/main" id="{4C9A01EE-FC07-55AC-6E49-C145508EB22F}"/>
              </a:ext>
            </a:extLst>
          </p:cNvPr>
          <p:cNvSpPr/>
          <p:nvPr/>
        </p:nvSpPr>
        <p:spPr>
          <a:xfrm>
            <a:off x="6350000" y="1498600"/>
            <a:ext cx="5143500" cy="2616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A00D49-B933-481F-2EAE-3528E9485AC5}"/>
              </a:ext>
            </a:extLst>
          </p:cNvPr>
          <p:cNvSpPr txBox="1"/>
          <p:nvPr/>
        </p:nvSpPr>
        <p:spPr>
          <a:xfrm>
            <a:off x="6794500" y="1680909"/>
            <a:ext cx="4254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</a:t>
            </a:r>
            <a:endParaRPr lang="en-IL" sz="30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356D49-163E-7D63-9ED0-07415DD37872}"/>
              </a:ext>
            </a:extLst>
          </p:cNvPr>
          <p:cNvSpPr txBox="1"/>
          <p:nvPr/>
        </p:nvSpPr>
        <p:spPr>
          <a:xfrm>
            <a:off x="6794500" y="2529865"/>
            <a:ext cx="42545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איזו מטרה עומדת מאחורי השינוי?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B382B7-FD61-8817-D2F0-6D4F10CF7212}"/>
              </a:ext>
            </a:extLst>
          </p:cNvPr>
          <p:cNvSpPr txBox="1"/>
          <p:nvPr/>
        </p:nvSpPr>
        <p:spPr>
          <a:xfrm>
            <a:off x="9017000" y="3447325"/>
            <a:ext cx="2032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5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4 classes</a:t>
            </a:r>
            <a:endParaRPr lang="en-IL" sz="15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372">
            <a:extLst>
              <a:ext uri="{FF2B5EF4-FFF2-40B4-BE49-F238E27FC236}">
                <a16:creationId xmlns:a16="http://schemas.microsoft.com/office/drawing/2014/main" id="{74FCB2A7-D849-724A-B1EA-55726DC2C0D7}"/>
              </a:ext>
            </a:extLst>
          </p:cNvPr>
          <p:cNvSpPr/>
          <p:nvPr/>
        </p:nvSpPr>
        <p:spPr>
          <a:xfrm>
            <a:off x="698500" y="1498600"/>
            <a:ext cx="5143500" cy="2616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EC5B18-B7F2-2F54-306E-87B5A9667162}"/>
              </a:ext>
            </a:extLst>
          </p:cNvPr>
          <p:cNvSpPr txBox="1"/>
          <p:nvPr/>
        </p:nvSpPr>
        <p:spPr>
          <a:xfrm>
            <a:off x="1143000" y="1680909"/>
            <a:ext cx="4254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Completeness</a:t>
            </a:r>
            <a:endParaRPr lang="en-IL" sz="30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4B12DE-D556-4DEF-F0E2-5B9A0120E0EA}"/>
              </a:ext>
            </a:extLst>
          </p:cNvPr>
          <p:cNvSpPr txBox="1"/>
          <p:nvPr/>
        </p:nvSpPr>
        <p:spPr>
          <a:xfrm>
            <a:off x="1143000" y="2529865"/>
            <a:ext cx="42545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האם השינוי נראה שלם?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D5981C-C88E-7CB3-308E-B3C30343C0FA}"/>
              </a:ext>
            </a:extLst>
          </p:cNvPr>
          <p:cNvSpPr txBox="1"/>
          <p:nvPr/>
        </p:nvSpPr>
        <p:spPr>
          <a:xfrm>
            <a:off x="3365500" y="3447325"/>
            <a:ext cx="2032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5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binary task</a:t>
            </a:r>
            <a:endParaRPr lang="en-IL" sz="15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49A8983-0136-CBE1-80AF-7C3ACBA712B4}"/>
              </a:ext>
            </a:extLst>
          </p:cNvPr>
          <p:cNvCxnSpPr/>
          <p:nvPr/>
        </p:nvCxnSpPr>
        <p:spPr>
          <a:xfrm>
            <a:off x="6096000" y="1676400"/>
            <a:ext cx="0" cy="2260600"/>
          </a:xfrm>
          <a:prstGeom prst="line">
            <a:avLst/>
          </a:prstGeom>
          <a:ln w="254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DBBF9DB-3BB8-588F-481D-2E9846DC2FA2}"/>
              </a:ext>
            </a:extLst>
          </p:cNvPr>
          <p:cNvSpPr txBox="1"/>
          <p:nvPr/>
        </p:nvSpPr>
        <p:spPr>
          <a:xfrm>
            <a:off x="9842500" y="4542670"/>
            <a:ext cx="16510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7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ההשערה</a:t>
            </a:r>
            <a:endParaRPr lang="en-IL" sz="17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A4D4F8-29E3-6FC8-8CB5-CE2384408348}"/>
              </a:ext>
            </a:extLst>
          </p:cNvPr>
          <p:cNvSpPr txBox="1"/>
          <p:nvPr/>
        </p:nvSpPr>
        <p:spPr>
          <a:xfrm>
            <a:off x="3276600" y="4763576"/>
            <a:ext cx="8216900" cy="67197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1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ייצוג היררכי שמבחין בין שורות שנוספו, נמחקו ונשמרו ישפר את זיהוי החוסר.</a:t>
            </a:r>
            <a:endParaRPr lang="en-IL" sz="21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B50B68-85A1-2C56-D7F0-C610454AC164}"/>
              </a:ext>
            </a:extLst>
          </p:cNvPr>
          <p:cNvSpPr txBox="1"/>
          <p:nvPr/>
        </p:nvSpPr>
        <p:spPr>
          <a:xfrm>
            <a:off x="698500" y="5886553"/>
            <a:ext cx="10795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4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CC2Vec   PatchNet   DeepJIT   CodeReviewer</a:t>
            </a:r>
            <a:endParaRPr lang="en-IL" sz="14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00431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373">
            <a:extLst>
              <a:ext uri="{FF2B5EF4-FFF2-40B4-BE49-F238E27FC236}">
                <a16:creationId xmlns:a16="http://schemas.microsoft.com/office/drawing/2014/main" id="{ABBFF537-77C3-BB5C-2F62-3F33B91E62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374">
            <a:extLst>
              <a:ext uri="{FF2B5EF4-FFF2-40B4-BE49-F238E27FC236}">
                <a16:creationId xmlns:a16="http://schemas.microsoft.com/office/drawing/2014/main" id="{51D45919-CB8D-A152-C8FA-855B42FDAEA4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927952-9676-E497-55CE-E526FDE4B2D8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מהיסטוריית קוד לניסוי מבוקר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2AB93E-A33D-EC09-C565-15D717EFF483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85035B-C0DA-209F-6E4B-B196294F6BAD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48D1F3D-ADD7-1DE3-6276-F48EBB340104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04 / 14</a:t>
            </a:r>
          </a:p>
        </p:txBody>
      </p:sp>
      <p:sp>
        <p:nvSpPr>
          <p:cNvPr id="10" name="Shape_375">
            <a:extLst>
              <a:ext uri="{FF2B5EF4-FFF2-40B4-BE49-F238E27FC236}">
                <a16:creationId xmlns:a16="http://schemas.microsoft.com/office/drawing/2014/main" id="{454C4914-944E-B48D-42B1-5DDBD682D2EF}"/>
              </a:ext>
            </a:extLst>
          </p:cNvPr>
          <p:cNvSpPr/>
          <p:nvPr/>
        </p:nvSpPr>
        <p:spPr>
          <a:xfrm>
            <a:off x="93980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DB3822-6DC7-2DAB-540A-3562796B8595}"/>
              </a:ext>
            </a:extLst>
          </p:cNvPr>
          <p:cNvSpPr txBox="1"/>
          <p:nvPr/>
        </p:nvSpPr>
        <p:spPr>
          <a:xfrm>
            <a:off x="95250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OpenTitan Git History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73CFD88-64B9-F3B7-52BA-B379EA0C9BAD}"/>
              </a:ext>
            </a:extLst>
          </p:cNvPr>
          <p:cNvCxnSpPr/>
          <p:nvPr/>
        </p:nvCxnSpPr>
        <p:spPr>
          <a:xfrm flipH="1">
            <a:off x="91694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hape_376">
            <a:extLst>
              <a:ext uri="{FF2B5EF4-FFF2-40B4-BE49-F238E27FC236}">
                <a16:creationId xmlns:a16="http://schemas.microsoft.com/office/drawing/2014/main" id="{8A41916A-515D-2874-94CE-55C0A5108B81}"/>
              </a:ext>
            </a:extLst>
          </p:cNvPr>
          <p:cNvSpPr/>
          <p:nvPr/>
        </p:nvSpPr>
        <p:spPr>
          <a:xfrm>
            <a:off x="71755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EAA656-7663-0E78-5814-CDDC540A5B88}"/>
              </a:ext>
            </a:extLst>
          </p:cNvPr>
          <p:cNvSpPr txBox="1"/>
          <p:nvPr/>
        </p:nvSpPr>
        <p:spPr>
          <a:xfrm>
            <a:off x="7302500" y="2301636"/>
            <a:ext cx="15875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 Mining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70DBEA-74ED-14E8-3ECA-42244E6C4B64}"/>
              </a:ext>
            </a:extLst>
          </p:cNvPr>
          <p:cNvCxnSpPr/>
          <p:nvPr/>
        </p:nvCxnSpPr>
        <p:spPr>
          <a:xfrm flipH="1">
            <a:off x="69469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_377">
            <a:extLst>
              <a:ext uri="{FF2B5EF4-FFF2-40B4-BE49-F238E27FC236}">
                <a16:creationId xmlns:a16="http://schemas.microsoft.com/office/drawing/2014/main" id="{B714B5D7-436B-427F-31D8-5BE45EC22E33}"/>
              </a:ext>
            </a:extLst>
          </p:cNvPr>
          <p:cNvSpPr/>
          <p:nvPr/>
        </p:nvSpPr>
        <p:spPr>
          <a:xfrm>
            <a:off x="49530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6AA583-9F3C-D48A-BE44-895AFF8AA287}"/>
              </a:ext>
            </a:extLst>
          </p:cNvPr>
          <p:cNvSpPr txBox="1"/>
          <p:nvPr/>
        </p:nvSpPr>
        <p:spPr>
          <a:xfrm>
            <a:off x="5080000" y="2317025"/>
            <a:ext cx="1587500" cy="8104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 Labels + Synthetic Holes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6DAC44F-205A-819E-76DA-C38640CD8665}"/>
              </a:ext>
            </a:extLst>
          </p:cNvPr>
          <p:cNvCxnSpPr/>
          <p:nvPr/>
        </p:nvCxnSpPr>
        <p:spPr>
          <a:xfrm flipH="1">
            <a:off x="47244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hape_378">
            <a:extLst>
              <a:ext uri="{FF2B5EF4-FFF2-40B4-BE49-F238E27FC236}">
                <a16:creationId xmlns:a16="http://schemas.microsoft.com/office/drawing/2014/main" id="{E0E29C64-C2D3-6184-344E-63BDB8CAB358}"/>
              </a:ext>
            </a:extLst>
          </p:cNvPr>
          <p:cNvSpPr/>
          <p:nvPr/>
        </p:nvSpPr>
        <p:spPr>
          <a:xfrm>
            <a:off x="27305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187D17-8A87-3D84-BA0C-5BA5F1740843}"/>
              </a:ext>
            </a:extLst>
          </p:cNvPr>
          <p:cNvSpPr txBox="1"/>
          <p:nvPr/>
        </p:nvSpPr>
        <p:spPr>
          <a:xfrm>
            <a:off x="28575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Chronological Split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FE1CFB4-A800-35BE-3EF3-6B5F316CAC7A}"/>
              </a:ext>
            </a:extLst>
          </p:cNvPr>
          <p:cNvCxnSpPr/>
          <p:nvPr/>
        </p:nvCxnSpPr>
        <p:spPr>
          <a:xfrm flipH="1">
            <a:off x="25019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hape_379">
            <a:extLst>
              <a:ext uri="{FF2B5EF4-FFF2-40B4-BE49-F238E27FC236}">
                <a16:creationId xmlns:a16="http://schemas.microsoft.com/office/drawing/2014/main" id="{2B22588D-B57B-B4FA-446E-16A9262B6594}"/>
              </a:ext>
            </a:extLst>
          </p:cNvPr>
          <p:cNvSpPr/>
          <p:nvPr/>
        </p:nvSpPr>
        <p:spPr>
          <a:xfrm>
            <a:off x="5080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38EEEB-D187-7175-5FD6-C49D3E849D01}"/>
              </a:ext>
            </a:extLst>
          </p:cNvPr>
          <p:cNvSpPr txBox="1"/>
          <p:nvPr/>
        </p:nvSpPr>
        <p:spPr>
          <a:xfrm>
            <a:off x="6350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Training &amp; Evaluation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13A1DA-DC74-206D-A5DC-4C207CA69220}"/>
              </a:ext>
            </a:extLst>
          </p:cNvPr>
          <p:cNvSpPr txBox="1"/>
          <p:nvPr/>
        </p:nvSpPr>
        <p:spPr>
          <a:xfrm>
            <a:off x="96266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5,903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46782E-4FB8-2699-B1D0-79713F185334}"/>
              </a:ext>
            </a:extLst>
          </p:cNvPr>
          <p:cNvSpPr txBox="1"/>
          <p:nvPr/>
        </p:nvSpPr>
        <p:spPr>
          <a:xfrm>
            <a:off x="51816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2,843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1B30F7-4CF7-E1E8-50D8-E27F464026FF}"/>
              </a:ext>
            </a:extLst>
          </p:cNvPr>
          <p:cNvSpPr txBox="1"/>
          <p:nvPr/>
        </p:nvSpPr>
        <p:spPr>
          <a:xfrm>
            <a:off x="29337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5,500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A94DC6-C9BA-B892-D296-1685D20B2DDE}"/>
              </a:ext>
            </a:extLst>
          </p:cNvPr>
          <p:cNvSpPr txBox="1"/>
          <p:nvPr/>
        </p:nvSpPr>
        <p:spPr>
          <a:xfrm>
            <a:off x="94234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raw candidates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6AEB03-84ED-35A8-E9E9-2A4B23093629}"/>
              </a:ext>
            </a:extLst>
          </p:cNvPr>
          <p:cNvSpPr txBox="1"/>
          <p:nvPr/>
        </p:nvSpPr>
        <p:spPr>
          <a:xfrm>
            <a:off x="49784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real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FFDFE6-F0CE-8E09-40B0-66A4E7B3F82A}"/>
              </a:ext>
            </a:extLst>
          </p:cNvPr>
          <p:cNvSpPr txBox="1"/>
          <p:nvPr/>
        </p:nvSpPr>
        <p:spPr>
          <a:xfrm>
            <a:off x="27305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total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30" name="Shape_380">
            <a:extLst>
              <a:ext uri="{FF2B5EF4-FFF2-40B4-BE49-F238E27FC236}">
                <a16:creationId xmlns:a16="http://schemas.microsoft.com/office/drawing/2014/main" id="{B4A971C6-ABB7-5458-9F0A-1F45AF733B35}"/>
              </a:ext>
            </a:extLst>
          </p:cNvPr>
          <p:cNvSpPr/>
          <p:nvPr/>
        </p:nvSpPr>
        <p:spPr>
          <a:xfrm>
            <a:off x="698500" y="5181600"/>
            <a:ext cx="10795000" cy="7747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60C72F-2758-CC94-48D6-708ED97FD8BF}"/>
              </a:ext>
            </a:extLst>
          </p:cNvPr>
          <p:cNvSpPr txBox="1"/>
          <p:nvPr/>
        </p:nvSpPr>
        <p:spPr>
          <a:xfrm>
            <a:off x="1054100" y="5359648"/>
            <a:ext cx="10083800" cy="3180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כל שינוי נשמר ברמת קובץ, והזוג המקורי והסינתטי נשאר באותה חלוקה.</a:t>
            </a:r>
            <a:endParaRPr lang="en-IL" sz="1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01732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381">
            <a:extLst>
              <a:ext uri="{FF2B5EF4-FFF2-40B4-BE49-F238E27FC236}">
                <a16:creationId xmlns:a16="http://schemas.microsoft.com/office/drawing/2014/main" id="{A5DD5DB1-5CD1-8BCF-5113-407D5B313D3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382">
            <a:extLst>
              <a:ext uri="{FF2B5EF4-FFF2-40B4-BE49-F238E27FC236}">
                <a16:creationId xmlns:a16="http://schemas.microsoft.com/office/drawing/2014/main" id="{478E7B8F-9F2C-79C9-56F7-A47864D120A4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C6D58E-866B-861B-AE6F-CC33EAD5C394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מערך הנתונים: כרונולוגי, מאוזן בזוגות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A8F033-621C-001B-9724-D203704FA863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BB343CA-1303-52B2-9B23-D9B547873477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2B5F864-02D2-BF66-CD3F-F422D09B025B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05 / 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594980-A9D8-4FD1-F4C1-F9F6976FF71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71600"/>
            <a:ext cx="4953000" cy="4432300"/>
          </a:xfrm>
          <a:prstGeom prst="rect">
            <a:avLst/>
          </a:prstGeom>
        </p:spPr>
      </p:pic>
      <p:sp>
        <p:nvSpPr>
          <p:cNvPr id="12" name="Shape_383">
            <a:extLst>
              <a:ext uri="{FF2B5EF4-FFF2-40B4-BE49-F238E27FC236}">
                <a16:creationId xmlns:a16="http://schemas.microsoft.com/office/drawing/2014/main" id="{67359602-3BFB-91A9-AB6F-A1CBA9791EFA}"/>
              </a:ext>
            </a:extLst>
          </p:cNvPr>
          <p:cNvSpPr/>
          <p:nvPr/>
        </p:nvSpPr>
        <p:spPr>
          <a:xfrm>
            <a:off x="6261100" y="1447800"/>
            <a:ext cx="52324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Shape_384">
            <a:extLst>
              <a:ext uri="{FF2B5EF4-FFF2-40B4-BE49-F238E27FC236}">
                <a16:creationId xmlns:a16="http://schemas.microsoft.com/office/drawing/2014/main" id="{0AEB9BF5-95B6-4B0C-DD84-77ED273EEFF8}"/>
              </a:ext>
            </a:extLst>
          </p:cNvPr>
          <p:cNvSpPr/>
          <p:nvPr/>
        </p:nvSpPr>
        <p:spPr>
          <a:xfrm>
            <a:off x="11404600" y="14478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763A9B-4D17-A2BF-85BE-C9DADD9C4618}"/>
              </a:ext>
            </a:extLst>
          </p:cNvPr>
          <p:cNvSpPr txBox="1"/>
          <p:nvPr/>
        </p:nvSpPr>
        <p:spPr>
          <a:xfrm>
            <a:off x="6464300" y="15285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5,903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679432-0912-D4A3-8F69-DFA231200433}"/>
              </a:ext>
            </a:extLst>
          </p:cNvPr>
          <p:cNvSpPr txBox="1"/>
          <p:nvPr/>
        </p:nvSpPr>
        <p:spPr>
          <a:xfrm>
            <a:off x="6464300" y="21800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raw candidates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Shape_385">
            <a:extLst>
              <a:ext uri="{FF2B5EF4-FFF2-40B4-BE49-F238E27FC236}">
                <a16:creationId xmlns:a16="http://schemas.microsoft.com/office/drawing/2014/main" id="{65EF9D4A-187C-D487-0093-EE963D8AE83B}"/>
              </a:ext>
            </a:extLst>
          </p:cNvPr>
          <p:cNvSpPr/>
          <p:nvPr/>
        </p:nvSpPr>
        <p:spPr>
          <a:xfrm>
            <a:off x="6261100" y="2705100"/>
            <a:ext cx="5232400" cy="1092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Shape_386">
            <a:extLst>
              <a:ext uri="{FF2B5EF4-FFF2-40B4-BE49-F238E27FC236}">
                <a16:creationId xmlns:a16="http://schemas.microsoft.com/office/drawing/2014/main" id="{89BC8C34-AAB6-27BB-A8DB-7F7E96B0BAE8}"/>
              </a:ext>
            </a:extLst>
          </p:cNvPr>
          <p:cNvSpPr/>
          <p:nvPr/>
        </p:nvSpPr>
        <p:spPr>
          <a:xfrm>
            <a:off x="11404600" y="2705100"/>
            <a:ext cx="88900" cy="10922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234A3E-644B-AD8F-6E73-FEBC971EB40F}"/>
              </a:ext>
            </a:extLst>
          </p:cNvPr>
          <p:cNvSpPr txBox="1"/>
          <p:nvPr/>
        </p:nvSpPr>
        <p:spPr>
          <a:xfrm>
            <a:off x="6464300" y="27858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2,843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366F2E-7B1E-C8AF-93E0-AB731C8F0F2E}"/>
              </a:ext>
            </a:extLst>
          </p:cNvPr>
          <p:cNvSpPr txBox="1"/>
          <p:nvPr/>
        </p:nvSpPr>
        <p:spPr>
          <a:xfrm>
            <a:off x="6464300" y="34373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weak-labeled real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Shape_387">
            <a:extLst>
              <a:ext uri="{FF2B5EF4-FFF2-40B4-BE49-F238E27FC236}">
                <a16:creationId xmlns:a16="http://schemas.microsoft.com/office/drawing/2014/main" id="{3A853199-2D75-FB2D-CC8F-5D770EE2CBAC}"/>
              </a:ext>
            </a:extLst>
          </p:cNvPr>
          <p:cNvSpPr/>
          <p:nvPr/>
        </p:nvSpPr>
        <p:spPr>
          <a:xfrm>
            <a:off x="6261100" y="3962400"/>
            <a:ext cx="5232400" cy="10922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Shape_388">
            <a:extLst>
              <a:ext uri="{FF2B5EF4-FFF2-40B4-BE49-F238E27FC236}">
                <a16:creationId xmlns:a16="http://schemas.microsoft.com/office/drawing/2014/main" id="{1576A35E-1FF8-7868-24A6-384E44A41232}"/>
              </a:ext>
            </a:extLst>
          </p:cNvPr>
          <p:cNvSpPr/>
          <p:nvPr/>
        </p:nvSpPr>
        <p:spPr>
          <a:xfrm>
            <a:off x="11404600" y="3962400"/>
            <a:ext cx="88900" cy="1092200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rgbClr val="2E9D7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8AD973-B174-7E81-C4FA-696485C5107D}"/>
              </a:ext>
            </a:extLst>
          </p:cNvPr>
          <p:cNvSpPr txBox="1"/>
          <p:nvPr/>
        </p:nvSpPr>
        <p:spPr>
          <a:xfrm>
            <a:off x="6464300" y="40431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5,500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F26017-A911-0F34-1314-5EF9CC9F6C04}"/>
              </a:ext>
            </a:extLst>
          </p:cNvPr>
          <p:cNvSpPr txBox="1"/>
          <p:nvPr/>
        </p:nvSpPr>
        <p:spPr>
          <a:xfrm>
            <a:off x="6464300" y="46946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after synthetic holes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5D26CF-D2A4-116B-1758-0AE1FBD2FC88}"/>
              </a:ext>
            </a:extLst>
          </p:cNvPr>
          <p:cNvSpPr txBox="1"/>
          <p:nvPr/>
        </p:nvSpPr>
        <p:spPr>
          <a:xfrm>
            <a:off x="6261100" y="5408131"/>
            <a:ext cx="52324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train 3,873    validation 830    test 797</a:t>
            </a:r>
            <a:endParaRPr lang="en-IL" sz="16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37383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389">
            <a:extLst>
              <a:ext uri="{FF2B5EF4-FFF2-40B4-BE49-F238E27FC236}">
                <a16:creationId xmlns:a16="http://schemas.microsoft.com/office/drawing/2014/main" id="{7A071466-472B-4D4B-03FE-4E2F5B923F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390">
            <a:extLst>
              <a:ext uri="{FF2B5EF4-FFF2-40B4-BE49-F238E27FC236}">
                <a16:creationId xmlns:a16="http://schemas.microsoft.com/office/drawing/2014/main" id="{04CAE8A3-6C49-7642-96F0-C73E22693FC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6CA818-DEF4-FEA7-E5AE-5F58BD921E15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יצירת חוסרים סינתטיים בתוך אזור השינוי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4DBA9D-03FA-0931-9C64-23F808C78E63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5DF5B52-8045-65CF-5621-906BE07302C3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F81886C-436F-E2EA-4574-1BB669DE0685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06 / 14</a:t>
            </a:r>
          </a:p>
        </p:txBody>
      </p:sp>
      <p:sp>
        <p:nvSpPr>
          <p:cNvPr id="10" name="Shape_391">
            <a:extLst>
              <a:ext uri="{FF2B5EF4-FFF2-40B4-BE49-F238E27FC236}">
                <a16:creationId xmlns:a16="http://schemas.microsoft.com/office/drawing/2014/main" id="{94898AC3-7372-1102-8B6C-27C1D6F82900}"/>
              </a:ext>
            </a:extLst>
          </p:cNvPr>
          <p:cNvSpPr/>
          <p:nvPr/>
        </p:nvSpPr>
        <p:spPr>
          <a:xfrm>
            <a:off x="6413500" y="1498600"/>
            <a:ext cx="5080000" cy="3238500"/>
          </a:xfrm>
          <a:prstGeom prst="rect">
            <a:avLst/>
          </a:prstGeom>
          <a:solidFill>
            <a:srgbClr val="0B1F33"/>
          </a:solidFill>
          <a:ln w="0" cap="flat" cmpd="sng" algn="ctr">
            <a:solidFill>
              <a:srgbClr val="0B1F33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B8BB05-2EBA-F073-0A29-9BFE2EDF6CDD}"/>
              </a:ext>
            </a:extLst>
          </p:cNvPr>
          <p:cNvSpPr txBox="1"/>
          <p:nvPr/>
        </p:nvSpPr>
        <p:spPr>
          <a:xfrm>
            <a:off x="6794500" y="1740519"/>
            <a:ext cx="1778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COMPLETE</a:t>
            </a:r>
            <a:endParaRPr lang="en-IL" sz="1400" b="1">
              <a:solidFill>
                <a:srgbClr val="2E9D78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059FDC-B306-209A-8427-57347E8B0AAE}"/>
              </a:ext>
            </a:extLst>
          </p:cNvPr>
          <p:cNvSpPr txBox="1"/>
          <p:nvPr/>
        </p:nvSpPr>
        <p:spPr>
          <a:xfrm>
            <a:off x="6794500" y="2174265"/>
            <a:ext cx="4254500" cy="119519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900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+ if (req_i) begin
+   state_d = BUSY;
+   valid_d = 1'b1;
+ end</a:t>
            </a:r>
            <a:endParaRPr lang="en-IL" sz="1900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sp>
        <p:nvSpPr>
          <p:cNvPr id="13" name="Shape_392">
            <a:extLst>
              <a:ext uri="{FF2B5EF4-FFF2-40B4-BE49-F238E27FC236}">
                <a16:creationId xmlns:a16="http://schemas.microsoft.com/office/drawing/2014/main" id="{E92035FD-D420-2D8E-7B63-5A2A126CE22F}"/>
              </a:ext>
            </a:extLst>
          </p:cNvPr>
          <p:cNvSpPr/>
          <p:nvPr/>
        </p:nvSpPr>
        <p:spPr>
          <a:xfrm>
            <a:off x="698500" y="1498600"/>
            <a:ext cx="5080000" cy="3238500"/>
          </a:xfrm>
          <a:prstGeom prst="rect">
            <a:avLst/>
          </a:prstGeom>
          <a:solidFill>
            <a:srgbClr val="262F3E"/>
          </a:solidFill>
          <a:ln w="0" cap="flat" cmpd="sng" algn="ctr">
            <a:solidFill>
              <a:srgbClr val="262F3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EFDF2C-D655-699B-CD05-799A482C0D53}"/>
              </a:ext>
            </a:extLst>
          </p:cNvPr>
          <p:cNvSpPr txBox="1"/>
          <p:nvPr/>
        </p:nvSpPr>
        <p:spPr>
          <a:xfrm>
            <a:off x="1079500" y="1740519"/>
            <a:ext cx="2667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SYNTHETIC HOLE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CB0466-19F9-8B1A-E037-6A6496D915FE}"/>
              </a:ext>
            </a:extLst>
          </p:cNvPr>
          <p:cNvSpPr txBox="1"/>
          <p:nvPr/>
        </p:nvSpPr>
        <p:spPr>
          <a:xfrm>
            <a:off x="1079500" y="2174265"/>
            <a:ext cx="4254500" cy="119519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900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+ if (req_i) begin
+   state_d = BUSY;
+ end</a:t>
            </a:r>
            <a:endParaRPr lang="en-IL" sz="1900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177D3A4-0E2B-8666-70DE-B58758BBBF40}"/>
              </a:ext>
            </a:extLst>
          </p:cNvPr>
          <p:cNvCxnSpPr/>
          <p:nvPr/>
        </p:nvCxnSpPr>
        <p:spPr>
          <a:xfrm flipH="1">
            <a:off x="6286500" y="3111500"/>
            <a:ext cx="381000" cy="0"/>
          </a:xfrm>
          <a:prstGeom prst="line">
            <a:avLst/>
          </a:prstGeom>
          <a:ln w="381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A9B7D91-87AF-0642-0B4B-898808EEB683}"/>
              </a:ext>
            </a:extLst>
          </p:cNvPr>
          <p:cNvSpPr txBox="1"/>
          <p:nvPr/>
        </p:nvSpPr>
        <p:spPr>
          <a:xfrm>
            <a:off x="4279900" y="4979476"/>
            <a:ext cx="36195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drop_added_line</a:t>
            </a:r>
            <a:endParaRPr lang="en-IL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3B06FA-984F-D62D-93C9-320AD470E210}"/>
              </a:ext>
            </a:extLst>
          </p:cNvPr>
          <p:cNvSpPr txBox="1"/>
          <p:nvPr/>
        </p:nvSpPr>
        <p:spPr>
          <a:xfrm>
            <a:off x="4470400" y="5330815"/>
            <a:ext cx="3238500" cy="5027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1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82.2%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5DC51E-C4F1-24F3-9FE5-EA5E713F163A}"/>
              </a:ext>
            </a:extLst>
          </p:cNvPr>
          <p:cNvSpPr txBox="1"/>
          <p:nvPr/>
        </p:nvSpPr>
        <p:spPr>
          <a:xfrm>
            <a:off x="4330700" y="6048508"/>
            <a:ext cx="35306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of test synthetic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336337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393">
            <a:extLst>
              <a:ext uri="{FF2B5EF4-FFF2-40B4-BE49-F238E27FC236}">
                <a16:creationId xmlns:a16="http://schemas.microsoft.com/office/drawing/2014/main" id="{AEE5940C-7591-724B-81E6-054D14243B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394">
            <a:extLst>
              <a:ext uri="{FF2B5EF4-FFF2-40B4-BE49-F238E27FC236}">
                <a16:creationId xmlns:a16="http://schemas.microsoft.com/office/drawing/2014/main" id="{1DE3C5B5-F3F6-93C6-828C-4AF3AE7F0A5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DB9C05-953E-1731-92B1-96CC86080DA2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השוואת ארבע משפחות מודלים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FF69BB-D87C-E6D9-41ED-EF60D0207375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9D5BA2-F8CF-A86A-8054-F119E48BEEC6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B7BC859-2166-618B-071D-A073DE7582F1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07 / 14</a:t>
            </a:r>
          </a:p>
        </p:txBody>
      </p:sp>
      <p:sp>
        <p:nvSpPr>
          <p:cNvPr id="10" name="Shape_395">
            <a:extLst>
              <a:ext uri="{FF2B5EF4-FFF2-40B4-BE49-F238E27FC236}">
                <a16:creationId xmlns:a16="http://schemas.microsoft.com/office/drawing/2014/main" id="{3296D91C-E9F5-7897-1722-D191C16B05D0}"/>
              </a:ext>
            </a:extLst>
          </p:cNvPr>
          <p:cNvSpPr/>
          <p:nvPr/>
        </p:nvSpPr>
        <p:spPr>
          <a:xfrm>
            <a:off x="9080500" y="1524000"/>
            <a:ext cx="2413000" cy="30226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D2185A-EBEB-3944-25C9-9D465D499D9F}"/>
              </a:ext>
            </a:extLst>
          </p:cNvPr>
          <p:cNvSpPr txBox="1"/>
          <p:nvPr/>
        </p:nvSpPr>
        <p:spPr>
          <a:xfrm>
            <a:off x="9309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DFE80B-56EE-0D1F-B531-A57DE135829B}"/>
              </a:ext>
            </a:extLst>
          </p:cNvPr>
          <p:cNvSpPr txBox="1"/>
          <p:nvPr/>
        </p:nvSpPr>
        <p:spPr>
          <a:xfrm>
            <a:off x="9309100" y="2370142"/>
            <a:ext cx="19558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TF-IDF + Logistic Regression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549300-20AA-75B4-24FF-60D80857FB97}"/>
              </a:ext>
            </a:extLst>
          </p:cNvPr>
          <p:cNvSpPr txBox="1"/>
          <p:nvPr/>
        </p:nvSpPr>
        <p:spPr>
          <a:xfrm>
            <a:off x="9309100" y="3550413"/>
            <a:ext cx="1955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sparse lexical features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396">
            <a:extLst>
              <a:ext uri="{FF2B5EF4-FFF2-40B4-BE49-F238E27FC236}">
                <a16:creationId xmlns:a16="http://schemas.microsoft.com/office/drawing/2014/main" id="{D9BE2AA4-E0ED-E4F9-AED5-8353B114AE9B}"/>
              </a:ext>
            </a:extLst>
          </p:cNvPr>
          <p:cNvSpPr/>
          <p:nvPr/>
        </p:nvSpPr>
        <p:spPr>
          <a:xfrm>
            <a:off x="6286500" y="1524000"/>
            <a:ext cx="2413000" cy="30226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071BB4-B133-CD02-E9D6-55296997063A}"/>
              </a:ext>
            </a:extLst>
          </p:cNvPr>
          <p:cNvSpPr txBox="1"/>
          <p:nvPr/>
        </p:nvSpPr>
        <p:spPr>
          <a:xfrm>
            <a:off x="6515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848CD3-3A86-3A16-69BC-8E31E42D084C}"/>
              </a:ext>
            </a:extLst>
          </p:cNvPr>
          <p:cNvSpPr txBox="1"/>
          <p:nvPr/>
        </p:nvSpPr>
        <p:spPr>
          <a:xfrm>
            <a:off x="6515100" y="2370142"/>
            <a:ext cx="19558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MLP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507EB5-87CD-3A67-39DE-29A7F6126CA4}"/>
              </a:ext>
            </a:extLst>
          </p:cNvPr>
          <p:cNvSpPr txBox="1"/>
          <p:nvPr/>
        </p:nvSpPr>
        <p:spPr>
          <a:xfrm>
            <a:off x="6515100" y="3450386"/>
            <a:ext cx="1955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pooled token embeddings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397">
            <a:extLst>
              <a:ext uri="{FF2B5EF4-FFF2-40B4-BE49-F238E27FC236}">
                <a16:creationId xmlns:a16="http://schemas.microsoft.com/office/drawing/2014/main" id="{50DC4E65-785F-FB0F-E0EA-00EFDD6699D1}"/>
              </a:ext>
            </a:extLst>
          </p:cNvPr>
          <p:cNvSpPr/>
          <p:nvPr/>
        </p:nvSpPr>
        <p:spPr>
          <a:xfrm>
            <a:off x="3492500" y="1524000"/>
            <a:ext cx="2413000" cy="30226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6A415C-4B20-F25B-92AF-4316745180F2}"/>
              </a:ext>
            </a:extLst>
          </p:cNvPr>
          <p:cNvSpPr txBox="1"/>
          <p:nvPr/>
        </p:nvSpPr>
        <p:spPr>
          <a:xfrm>
            <a:off x="3721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0E5303-1A0A-33BF-3A6C-2FED9D229081}"/>
              </a:ext>
            </a:extLst>
          </p:cNvPr>
          <p:cNvSpPr txBox="1"/>
          <p:nvPr/>
        </p:nvSpPr>
        <p:spPr>
          <a:xfrm>
            <a:off x="3721100" y="2370142"/>
            <a:ext cx="19558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BiGRU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CA05CD-BE19-55E5-4409-41C6F863587E}"/>
              </a:ext>
            </a:extLst>
          </p:cNvPr>
          <p:cNvSpPr txBox="1"/>
          <p:nvPr/>
        </p:nvSpPr>
        <p:spPr>
          <a:xfrm>
            <a:off x="3721100" y="3550413"/>
            <a:ext cx="1955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flat sequence encoder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2" name="Shape_398">
            <a:extLst>
              <a:ext uri="{FF2B5EF4-FFF2-40B4-BE49-F238E27FC236}">
                <a16:creationId xmlns:a16="http://schemas.microsoft.com/office/drawing/2014/main" id="{DCE0495C-428D-2BE8-005D-0190243067AA}"/>
              </a:ext>
            </a:extLst>
          </p:cNvPr>
          <p:cNvSpPr/>
          <p:nvPr/>
        </p:nvSpPr>
        <p:spPr>
          <a:xfrm>
            <a:off x="698500" y="1524000"/>
            <a:ext cx="2413000" cy="30226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68B670-66F4-12CF-9F61-B036EAAF91F0}"/>
              </a:ext>
            </a:extLst>
          </p:cNvPr>
          <p:cNvSpPr txBox="1"/>
          <p:nvPr/>
        </p:nvSpPr>
        <p:spPr>
          <a:xfrm>
            <a:off x="927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A90C85-1019-244A-8EBC-E7CD53525DA9}"/>
              </a:ext>
            </a:extLst>
          </p:cNvPr>
          <p:cNvSpPr txBox="1"/>
          <p:nvPr/>
        </p:nvSpPr>
        <p:spPr>
          <a:xfrm>
            <a:off x="927100" y="2370142"/>
            <a:ext cx="19558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Hierarchical Transformer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6AD285-B6F1-FDD3-B9C1-911E364469FF}"/>
              </a:ext>
            </a:extLst>
          </p:cNvPr>
          <p:cNvSpPr txBox="1"/>
          <p:nvPr/>
        </p:nvSpPr>
        <p:spPr>
          <a:xfrm>
            <a:off x="927100" y="3450386"/>
            <a:ext cx="1955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line encoder + diff structure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6" name="Shape_399">
            <a:extLst>
              <a:ext uri="{FF2B5EF4-FFF2-40B4-BE49-F238E27FC236}">
                <a16:creationId xmlns:a16="http://schemas.microsoft.com/office/drawing/2014/main" id="{52975E93-4CFA-3B52-203C-E84F89A8BF9D}"/>
              </a:ext>
            </a:extLst>
          </p:cNvPr>
          <p:cNvSpPr/>
          <p:nvPr/>
        </p:nvSpPr>
        <p:spPr>
          <a:xfrm>
            <a:off x="698500" y="4927600"/>
            <a:ext cx="10795000" cy="10287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2F87B5-2EFF-2FB7-65B8-5DD95DFFF2B1}"/>
              </a:ext>
            </a:extLst>
          </p:cNvPr>
          <p:cNvSpPr txBox="1"/>
          <p:nvPr/>
        </p:nvSpPr>
        <p:spPr>
          <a:xfrm>
            <a:off x="990600" y="5067548"/>
            <a:ext cx="10121900" cy="3180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אותו ייצוג משמש לשתי המשימות באמצעות </a:t>
            </a:r>
            <a:r>
              <a:rPr lang="en-US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Multi-task head, </a:t>
            </a:r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וכל משימה מקבלת פלט נפרד.</a:t>
            </a:r>
            <a:endParaRPr lang="en-IL" sz="1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91412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400">
            <a:extLst>
              <a:ext uri="{FF2B5EF4-FFF2-40B4-BE49-F238E27FC236}">
                <a16:creationId xmlns:a16="http://schemas.microsoft.com/office/drawing/2014/main" id="{E01D9E20-1C12-DF82-305A-2AA320A122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401">
            <a:extLst>
              <a:ext uri="{FF2B5EF4-FFF2-40B4-BE49-F238E27FC236}">
                <a16:creationId xmlns:a16="http://schemas.microsoft.com/office/drawing/2014/main" id="{951BD537-0773-372C-0B1C-E5D32A267665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3B9280-90BD-F3EB-DE4C-5D01BD6B96BA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הארכיטקטורה ההיררכית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A617C7-1C0B-9994-4952-ED561E49B580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0E8D62C-291A-6FFE-E900-2E6EB080E6ED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2794DC7-7AA1-5971-FEF6-C7CBF9F1DAEE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08 / 14</a:t>
            </a:r>
          </a:p>
        </p:txBody>
      </p:sp>
      <p:sp>
        <p:nvSpPr>
          <p:cNvPr id="10" name="Shape_402">
            <a:extLst>
              <a:ext uri="{FF2B5EF4-FFF2-40B4-BE49-F238E27FC236}">
                <a16:creationId xmlns:a16="http://schemas.microsoft.com/office/drawing/2014/main" id="{8C22FF57-A221-8C58-BBEF-58C13380636F}"/>
              </a:ext>
            </a:extLst>
          </p:cNvPr>
          <p:cNvSpPr/>
          <p:nvPr/>
        </p:nvSpPr>
        <p:spPr>
          <a:xfrm>
            <a:off x="9334500" y="1955800"/>
            <a:ext cx="1905000" cy="16764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BDB80C-DD12-E44B-0943-D097229A64B4}"/>
              </a:ext>
            </a:extLst>
          </p:cNvPr>
          <p:cNvSpPr txBox="1"/>
          <p:nvPr/>
        </p:nvSpPr>
        <p:spPr>
          <a:xfrm>
            <a:off x="9486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Typed Diff Lines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7A42714-E47D-0F53-FE5B-1C95E3EBB006}"/>
              </a:ext>
            </a:extLst>
          </p:cNvPr>
          <p:cNvCxnSpPr/>
          <p:nvPr/>
        </p:nvCxnSpPr>
        <p:spPr>
          <a:xfrm flipH="1">
            <a:off x="9296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hape_403">
            <a:extLst>
              <a:ext uri="{FF2B5EF4-FFF2-40B4-BE49-F238E27FC236}">
                <a16:creationId xmlns:a16="http://schemas.microsoft.com/office/drawing/2014/main" id="{42BB44D3-6C20-6D45-921C-378B2A98B3CA}"/>
              </a:ext>
            </a:extLst>
          </p:cNvPr>
          <p:cNvSpPr/>
          <p:nvPr/>
        </p:nvSpPr>
        <p:spPr>
          <a:xfrm>
            <a:off x="7175500" y="1955800"/>
            <a:ext cx="1905000" cy="16764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A4A30D-2468-2018-7FA2-A3FF0D5EC7EB}"/>
              </a:ext>
            </a:extLst>
          </p:cNvPr>
          <p:cNvSpPr txBox="1"/>
          <p:nvPr/>
        </p:nvSpPr>
        <p:spPr>
          <a:xfrm>
            <a:off x="7327900" y="2304325"/>
            <a:ext cx="1600200" cy="8104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Token Embedding + BiGRU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AA3701E-8E4E-49F1-92E7-865EDACB4BDF}"/>
              </a:ext>
            </a:extLst>
          </p:cNvPr>
          <p:cNvCxnSpPr/>
          <p:nvPr/>
        </p:nvCxnSpPr>
        <p:spPr>
          <a:xfrm flipH="1">
            <a:off x="7137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_404">
            <a:extLst>
              <a:ext uri="{FF2B5EF4-FFF2-40B4-BE49-F238E27FC236}">
                <a16:creationId xmlns:a16="http://schemas.microsoft.com/office/drawing/2014/main" id="{CF4920BA-32D2-3B50-9632-12E8A532DC00}"/>
              </a:ext>
            </a:extLst>
          </p:cNvPr>
          <p:cNvSpPr/>
          <p:nvPr/>
        </p:nvSpPr>
        <p:spPr>
          <a:xfrm>
            <a:off x="5016500" y="1955800"/>
            <a:ext cx="1905000" cy="16764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4D9A7F-4E72-B880-6BB2-D665D6E5D7A1}"/>
              </a:ext>
            </a:extLst>
          </p:cNvPr>
          <p:cNvSpPr txBox="1"/>
          <p:nvPr/>
        </p:nvSpPr>
        <p:spPr>
          <a:xfrm>
            <a:off x="5168900" y="2288936"/>
            <a:ext cx="16002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Line Vector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3F97C3A-2128-A9B3-7A01-E877833B1429}"/>
              </a:ext>
            </a:extLst>
          </p:cNvPr>
          <p:cNvCxnSpPr/>
          <p:nvPr/>
        </p:nvCxnSpPr>
        <p:spPr>
          <a:xfrm flipH="1">
            <a:off x="4978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hape_405">
            <a:extLst>
              <a:ext uri="{FF2B5EF4-FFF2-40B4-BE49-F238E27FC236}">
                <a16:creationId xmlns:a16="http://schemas.microsoft.com/office/drawing/2014/main" id="{5AEC8963-C57B-3028-39C6-1AA618AF1362}"/>
              </a:ext>
            </a:extLst>
          </p:cNvPr>
          <p:cNvSpPr/>
          <p:nvPr/>
        </p:nvSpPr>
        <p:spPr>
          <a:xfrm>
            <a:off x="2857500" y="1955800"/>
            <a:ext cx="1905000" cy="16764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733DE5-F8AC-F799-2406-B8A0939FCB58}"/>
              </a:ext>
            </a:extLst>
          </p:cNvPr>
          <p:cNvSpPr txBox="1"/>
          <p:nvPr/>
        </p:nvSpPr>
        <p:spPr>
          <a:xfrm>
            <a:off x="3009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Transformer Encoder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7AB6CAD-6B48-7821-A2B5-63BC84FE95D6}"/>
              </a:ext>
            </a:extLst>
          </p:cNvPr>
          <p:cNvCxnSpPr/>
          <p:nvPr/>
        </p:nvCxnSpPr>
        <p:spPr>
          <a:xfrm flipH="1">
            <a:off x="2819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hape_406">
            <a:extLst>
              <a:ext uri="{FF2B5EF4-FFF2-40B4-BE49-F238E27FC236}">
                <a16:creationId xmlns:a16="http://schemas.microsoft.com/office/drawing/2014/main" id="{426C678E-567C-7263-65B7-7C48C3D8E2F6}"/>
              </a:ext>
            </a:extLst>
          </p:cNvPr>
          <p:cNvSpPr/>
          <p:nvPr/>
        </p:nvSpPr>
        <p:spPr>
          <a:xfrm>
            <a:off x="698500" y="1955800"/>
            <a:ext cx="1905000" cy="16764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7535C5-C37F-378D-301F-B490A706B219}"/>
              </a:ext>
            </a:extLst>
          </p:cNvPr>
          <p:cNvSpPr txBox="1"/>
          <p:nvPr/>
        </p:nvSpPr>
        <p:spPr>
          <a:xfrm>
            <a:off x="850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 Head
Hole Head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C6249E-947A-CAE0-CB1E-84374A1DC458}"/>
              </a:ext>
            </a:extLst>
          </p:cNvPr>
          <p:cNvSpPr txBox="1"/>
          <p:nvPr/>
        </p:nvSpPr>
        <p:spPr>
          <a:xfrm>
            <a:off x="9410700" y="3996486"/>
            <a:ext cx="17526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3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ADD   DEL   CONTEXT</a:t>
            </a:r>
            <a:endParaRPr lang="en-IL" sz="13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5" name="Shape_407">
            <a:extLst>
              <a:ext uri="{FF2B5EF4-FFF2-40B4-BE49-F238E27FC236}">
                <a16:creationId xmlns:a16="http://schemas.microsoft.com/office/drawing/2014/main" id="{934292E1-4C11-26F4-3ECC-7E7B1861BF11}"/>
              </a:ext>
            </a:extLst>
          </p:cNvPr>
          <p:cNvSpPr/>
          <p:nvPr/>
        </p:nvSpPr>
        <p:spPr>
          <a:xfrm>
            <a:off x="698500" y="4673600"/>
            <a:ext cx="10795000" cy="11557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5315E6-D6EC-C441-85A4-372B33F625D7}"/>
              </a:ext>
            </a:extLst>
          </p:cNvPr>
          <p:cNvSpPr txBox="1"/>
          <p:nvPr/>
        </p:nvSpPr>
        <p:spPr>
          <a:xfrm>
            <a:off x="990600" y="4882053"/>
            <a:ext cx="101219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הייצוג </a:t>
            </a:r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line-type embedding </a:t>
            </a:r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מוסיף מידע מפורש על תפקיד כל שורה בתוך השינוי.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27814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408">
            <a:extLst>
              <a:ext uri="{FF2B5EF4-FFF2-40B4-BE49-F238E27FC236}">
                <a16:creationId xmlns:a16="http://schemas.microsoft.com/office/drawing/2014/main" id="{4FD0D4B2-675F-8C97-DA13-138C50BB3D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409">
            <a:extLst>
              <a:ext uri="{FF2B5EF4-FFF2-40B4-BE49-F238E27FC236}">
                <a16:creationId xmlns:a16="http://schemas.microsoft.com/office/drawing/2014/main" id="{D515B188-C426-6901-6F7D-4E1FF71A775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FEE8B4-3CCA-9DE6-D3F4-E507F3687016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סיווג המטרה: המודל הפשוט ניצח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AEBA55-3F4E-29EE-6DD2-0D1F23ED6355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B4EAC12-8A05-7F25-6768-738E1666C06C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F369278-E4E0-8436-77C3-C7C6F21684C9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09 / 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4EB110-5008-E4A7-8022-C66A48BC53A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25600"/>
            <a:ext cx="7239000" cy="4241800"/>
          </a:xfrm>
          <a:prstGeom prst="rect">
            <a:avLst/>
          </a:prstGeom>
        </p:spPr>
      </p:pic>
      <p:sp>
        <p:nvSpPr>
          <p:cNvPr id="12" name="Shape_410">
            <a:extLst>
              <a:ext uri="{FF2B5EF4-FFF2-40B4-BE49-F238E27FC236}">
                <a16:creationId xmlns:a16="http://schemas.microsoft.com/office/drawing/2014/main" id="{16A5FC3F-EFFB-7A2B-3AE0-60EAD5D46435}"/>
              </a:ext>
            </a:extLst>
          </p:cNvPr>
          <p:cNvSpPr/>
          <p:nvPr/>
        </p:nvSpPr>
        <p:spPr>
          <a:xfrm>
            <a:off x="8343900" y="1739900"/>
            <a:ext cx="31496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Shape_411">
            <a:extLst>
              <a:ext uri="{FF2B5EF4-FFF2-40B4-BE49-F238E27FC236}">
                <a16:creationId xmlns:a16="http://schemas.microsoft.com/office/drawing/2014/main" id="{D5387C56-2EB4-57BD-3CF1-A63BFFBCEF29}"/>
              </a:ext>
            </a:extLst>
          </p:cNvPr>
          <p:cNvSpPr/>
          <p:nvPr/>
        </p:nvSpPr>
        <p:spPr>
          <a:xfrm>
            <a:off x="11404600" y="17399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F5CDA8-EE31-1111-90C6-3FAB1C97E255}"/>
              </a:ext>
            </a:extLst>
          </p:cNvPr>
          <p:cNvSpPr txBox="1"/>
          <p:nvPr/>
        </p:nvSpPr>
        <p:spPr>
          <a:xfrm>
            <a:off x="8547100" y="1820609"/>
            <a:ext cx="27051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0.4197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D67480-9817-C216-E5ED-082D04D7DC2A}"/>
              </a:ext>
            </a:extLst>
          </p:cNvPr>
          <p:cNvSpPr txBox="1"/>
          <p:nvPr/>
        </p:nvSpPr>
        <p:spPr>
          <a:xfrm>
            <a:off x="8547100" y="2472114"/>
            <a:ext cx="27051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test Macro-F1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0F5706-C6E3-8716-8F49-C686E34E51AE}"/>
              </a:ext>
            </a:extLst>
          </p:cNvPr>
          <p:cNvSpPr txBox="1"/>
          <p:nvPr/>
        </p:nvSpPr>
        <p:spPr>
          <a:xfrm>
            <a:off x="8343900" y="2892787"/>
            <a:ext cx="3149600" cy="125675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קו הבסיס </a:t>
            </a:r>
            <a:r>
              <a:rPr lang="en-US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TF-IDF </a:t>
            </a:r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השיג את התוצאה הטובה ביותר. האות הלקסיקלי הספיק כדי לעקוף את המודלים העמוקים.</a:t>
            </a:r>
            <a:endParaRPr lang="en-IL" sz="20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Shape_412">
            <a:extLst>
              <a:ext uri="{FF2B5EF4-FFF2-40B4-BE49-F238E27FC236}">
                <a16:creationId xmlns:a16="http://schemas.microsoft.com/office/drawing/2014/main" id="{F5ADA3BC-585D-91C7-5525-BE475CBAD40B}"/>
              </a:ext>
            </a:extLst>
          </p:cNvPr>
          <p:cNvSpPr/>
          <p:nvPr/>
        </p:nvSpPr>
        <p:spPr>
          <a:xfrm>
            <a:off x="8343900" y="5270500"/>
            <a:ext cx="3149600" cy="5969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BA950B-B23C-05D0-51A5-10F80A31EAD5}"/>
              </a:ext>
            </a:extLst>
          </p:cNvPr>
          <p:cNvSpPr txBox="1"/>
          <p:nvPr/>
        </p:nvSpPr>
        <p:spPr>
          <a:xfrm>
            <a:off x="8559800" y="5461619"/>
            <a:ext cx="27305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refactor_cleanup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62643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413">
            <a:extLst>
              <a:ext uri="{FF2B5EF4-FFF2-40B4-BE49-F238E27FC236}">
                <a16:creationId xmlns:a16="http://schemas.microsoft.com/office/drawing/2014/main" id="{1F8C92FB-CC65-3CCD-1D20-E874DCC44E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414">
            <a:extLst>
              <a:ext uri="{FF2B5EF4-FFF2-40B4-BE49-F238E27FC236}">
                <a16:creationId xmlns:a16="http://schemas.microsoft.com/office/drawing/2014/main" id="{6633B1B7-0B67-222A-9710-5532055710D3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E7EE8C-235F-F335-8D8A-3005634EE942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בדיקת בקרה חושפת דליפה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A98CDE-1398-345F-C988-8B425A8C9669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445679-282E-05D9-56BA-D9FB31EE1BEC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29F33BC-0106-E70B-A76E-F85F5FDA01B6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10 / 14</a:t>
            </a:r>
          </a:p>
        </p:txBody>
      </p:sp>
      <p:sp>
        <p:nvSpPr>
          <p:cNvPr id="10" name="Shape_415">
            <a:extLst>
              <a:ext uri="{FF2B5EF4-FFF2-40B4-BE49-F238E27FC236}">
                <a16:creationId xmlns:a16="http://schemas.microsoft.com/office/drawing/2014/main" id="{2EAB9C00-A5D5-D07E-F06E-5C03F3DE1CB0}"/>
              </a:ext>
            </a:extLst>
          </p:cNvPr>
          <p:cNvSpPr/>
          <p:nvPr/>
        </p:nvSpPr>
        <p:spPr>
          <a:xfrm>
            <a:off x="7747000" y="1968500"/>
            <a:ext cx="2921000" cy="11938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6EF304-9BEF-19ED-C125-17B7AE614704}"/>
              </a:ext>
            </a:extLst>
          </p:cNvPr>
          <p:cNvSpPr txBox="1"/>
          <p:nvPr/>
        </p:nvSpPr>
        <p:spPr>
          <a:xfrm>
            <a:off x="7975600" y="2316653"/>
            <a:ext cx="24638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commit message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6B8C90-BB39-6EBD-EB13-B8C35FAF6A7C}"/>
              </a:ext>
            </a:extLst>
          </p:cNvPr>
          <p:cNvCxnSpPr/>
          <p:nvPr/>
        </p:nvCxnSpPr>
        <p:spPr>
          <a:xfrm flipH="1">
            <a:off x="7620000" y="2565400"/>
            <a:ext cx="254000" cy="0"/>
          </a:xfrm>
          <a:prstGeom prst="line">
            <a:avLst/>
          </a:prstGeom>
          <a:ln w="38100">
            <a:solidFill>
              <a:srgbClr val="DC4C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hape_416">
            <a:extLst>
              <a:ext uri="{FF2B5EF4-FFF2-40B4-BE49-F238E27FC236}">
                <a16:creationId xmlns:a16="http://schemas.microsoft.com/office/drawing/2014/main" id="{4B85CDDD-42E7-3CF5-6896-1F9A1B334412}"/>
              </a:ext>
            </a:extLst>
          </p:cNvPr>
          <p:cNvSpPr/>
          <p:nvPr/>
        </p:nvSpPr>
        <p:spPr>
          <a:xfrm>
            <a:off x="4318000" y="1968500"/>
            <a:ext cx="2921000" cy="11938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F421AE-DE63-381F-5725-7CD3BF69AF7A}"/>
              </a:ext>
            </a:extLst>
          </p:cNvPr>
          <p:cNvSpPr txBox="1"/>
          <p:nvPr/>
        </p:nvSpPr>
        <p:spPr>
          <a:xfrm>
            <a:off x="4546600" y="2316653"/>
            <a:ext cx="24638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 label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4A90717-D8AB-BA43-50F9-BEEC106C2CB8}"/>
              </a:ext>
            </a:extLst>
          </p:cNvPr>
          <p:cNvCxnSpPr/>
          <p:nvPr/>
        </p:nvCxnSpPr>
        <p:spPr>
          <a:xfrm flipH="1">
            <a:off x="4191000" y="2565400"/>
            <a:ext cx="254000" cy="0"/>
          </a:xfrm>
          <a:prstGeom prst="line">
            <a:avLst/>
          </a:prstGeom>
          <a:ln w="38100">
            <a:solidFill>
              <a:srgbClr val="DC4C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_417">
            <a:extLst>
              <a:ext uri="{FF2B5EF4-FFF2-40B4-BE49-F238E27FC236}">
                <a16:creationId xmlns:a16="http://schemas.microsoft.com/office/drawing/2014/main" id="{903D9DD9-6021-FD0E-EEB7-E8C82B76A0DC}"/>
              </a:ext>
            </a:extLst>
          </p:cNvPr>
          <p:cNvSpPr/>
          <p:nvPr/>
        </p:nvSpPr>
        <p:spPr>
          <a:xfrm>
            <a:off x="889000" y="1968500"/>
            <a:ext cx="2921000" cy="11938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869459-4015-9FCD-59B7-264AABE65043}"/>
              </a:ext>
            </a:extLst>
          </p:cNvPr>
          <p:cNvSpPr txBox="1"/>
          <p:nvPr/>
        </p:nvSpPr>
        <p:spPr>
          <a:xfrm>
            <a:off x="1117600" y="2162765"/>
            <a:ext cx="2463800" cy="641201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message-only model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6817A9-2104-2DD6-B8F4-07D36BACD7CA}"/>
              </a:ext>
            </a:extLst>
          </p:cNvPr>
          <p:cNvSpPr txBox="1"/>
          <p:nvPr/>
        </p:nvSpPr>
        <p:spPr>
          <a:xfrm>
            <a:off x="4279900" y="3485510"/>
            <a:ext cx="36830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48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0.9855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DDD7DD-1540-ACAC-8918-D4835800B903}"/>
              </a:ext>
            </a:extLst>
          </p:cNvPr>
          <p:cNvSpPr txBox="1"/>
          <p:nvPr/>
        </p:nvSpPr>
        <p:spPr>
          <a:xfrm>
            <a:off x="5054600" y="4587636"/>
            <a:ext cx="21336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Macro-F1</a:t>
            </a:r>
            <a:endParaRPr lang="en-IL" sz="1700" b="1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Shape_418">
            <a:extLst>
              <a:ext uri="{FF2B5EF4-FFF2-40B4-BE49-F238E27FC236}">
                <a16:creationId xmlns:a16="http://schemas.microsoft.com/office/drawing/2014/main" id="{D69B2726-9418-3029-EA4B-E34BDB5F9970}"/>
              </a:ext>
            </a:extLst>
          </p:cNvPr>
          <p:cNvSpPr/>
          <p:nvPr/>
        </p:nvSpPr>
        <p:spPr>
          <a:xfrm>
            <a:off x="889000" y="5295900"/>
            <a:ext cx="9779000" cy="7493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678B01-F3D2-4566-EC38-303891483A0D}"/>
              </a:ext>
            </a:extLst>
          </p:cNvPr>
          <p:cNvSpPr txBox="1"/>
          <p:nvPr/>
        </p:nvSpPr>
        <p:spPr>
          <a:xfrm>
            <a:off x="1206500" y="5440853"/>
            <a:ext cx="9144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המדד כמעט משחזר את מנגנון התיוג, ולכן אינו הוכחה להבנת קוד טהורה.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46684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419">
            <a:extLst>
              <a:ext uri="{FF2B5EF4-FFF2-40B4-BE49-F238E27FC236}">
                <a16:creationId xmlns:a16="http://schemas.microsoft.com/office/drawing/2014/main" id="{2BAF1C48-830C-297E-73DD-C20E693B39B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420">
            <a:extLst>
              <a:ext uri="{FF2B5EF4-FFF2-40B4-BE49-F238E27FC236}">
                <a16:creationId xmlns:a16="http://schemas.microsoft.com/office/drawing/2014/main" id="{7016BEC1-7622-0AC8-C9FF-EBC3515F27C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596B8C-22A7-C39F-94F9-9EFD9D92AD3F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זיהוי חוסר: המבנה ההיררכי ניצח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34B5C-6F61-5B94-DDB9-6BA9AC8A2E88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C05709-22C0-A0CF-6DF1-707CA3550A32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E386120-9A3F-754C-2BE2-67AFFF220CFF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11 / 14</a:t>
            </a:r>
          </a:p>
        </p:txBody>
      </p:sp>
      <p:sp>
        <p:nvSpPr>
          <p:cNvPr id="10" name="Shape_421">
            <a:extLst>
              <a:ext uri="{FF2B5EF4-FFF2-40B4-BE49-F238E27FC236}">
                <a16:creationId xmlns:a16="http://schemas.microsoft.com/office/drawing/2014/main" id="{0B9420AB-7503-FEF9-1DBB-3D12BF3DEB14}"/>
              </a:ext>
            </a:extLst>
          </p:cNvPr>
          <p:cNvSpPr/>
          <p:nvPr/>
        </p:nvSpPr>
        <p:spPr>
          <a:xfrm>
            <a:off x="8191500" y="1320800"/>
            <a:ext cx="3302000" cy="10922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Shape_422">
            <a:extLst>
              <a:ext uri="{FF2B5EF4-FFF2-40B4-BE49-F238E27FC236}">
                <a16:creationId xmlns:a16="http://schemas.microsoft.com/office/drawing/2014/main" id="{B41C9EA6-E8A6-87D6-69FF-3D2DAE71228A}"/>
              </a:ext>
            </a:extLst>
          </p:cNvPr>
          <p:cNvSpPr/>
          <p:nvPr/>
        </p:nvSpPr>
        <p:spPr>
          <a:xfrm>
            <a:off x="11404600" y="1320800"/>
            <a:ext cx="88900" cy="1092200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rgbClr val="2E9D7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3EEA81-BE08-BF5D-2377-C2B811A585B4}"/>
              </a:ext>
            </a:extLst>
          </p:cNvPr>
          <p:cNvSpPr txBox="1"/>
          <p:nvPr/>
        </p:nvSpPr>
        <p:spPr>
          <a:xfrm>
            <a:off x="83947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0.6029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DE7D22-46B6-1577-8A7C-5DD9A8CA3D07}"/>
              </a:ext>
            </a:extLst>
          </p:cNvPr>
          <p:cNvSpPr txBox="1"/>
          <p:nvPr/>
        </p:nvSpPr>
        <p:spPr>
          <a:xfrm>
            <a:off x="83947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423">
            <a:extLst>
              <a:ext uri="{FF2B5EF4-FFF2-40B4-BE49-F238E27FC236}">
                <a16:creationId xmlns:a16="http://schemas.microsoft.com/office/drawing/2014/main" id="{A2B93BD2-05D9-C7C7-7CDF-FC15CAB50232}"/>
              </a:ext>
            </a:extLst>
          </p:cNvPr>
          <p:cNvSpPr/>
          <p:nvPr/>
        </p:nvSpPr>
        <p:spPr>
          <a:xfrm>
            <a:off x="4445000" y="1320800"/>
            <a:ext cx="33020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Shape_424">
            <a:extLst>
              <a:ext uri="{FF2B5EF4-FFF2-40B4-BE49-F238E27FC236}">
                <a16:creationId xmlns:a16="http://schemas.microsoft.com/office/drawing/2014/main" id="{CA963E98-59A6-960E-0456-CB9FF00E3B71}"/>
              </a:ext>
            </a:extLst>
          </p:cNvPr>
          <p:cNvSpPr/>
          <p:nvPr/>
        </p:nvSpPr>
        <p:spPr>
          <a:xfrm>
            <a:off x="7658100" y="13208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CFCBF1-DBEE-F506-81AE-D8C2E1F1696D}"/>
              </a:ext>
            </a:extLst>
          </p:cNvPr>
          <p:cNvSpPr txBox="1"/>
          <p:nvPr/>
        </p:nvSpPr>
        <p:spPr>
          <a:xfrm>
            <a:off x="46482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0.7352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5F243F-3474-8D9D-F8E5-DC222AB4F539}"/>
              </a:ext>
            </a:extLst>
          </p:cNvPr>
          <p:cNvSpPr txBox="1"/>
          <p:nvPr/>
        </p:nvSpPr>
        <p:spPr>
          <a:xfrm>
            <a:off x="46482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425">
            <a:extLst>
              <a:ext uri="{FF2B5EF4-FFF2-40B4-BE49-F238E27FC236}">
                <a16:creationId xmlns:a16="http://schemas.microsoft.com/office/drawing/2014/main" id="{2FB3DAE2-56E0-BB2C-0B7E-A9B5BB8CF32C}"/>
              </a:ext>
            </a:extLst>
          </p:cNvPr>
          <p:cNvSpPr/>
          <p:nvPr/>
        </p:nvSpPr>
        <p:spPr>
          <a:xfrm>
            <a:off x="698500" y="1320800"/>
            <a:ext cx="3302000" cy="1092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Shape_426">
            <a:extLst>
              <a:ext uri="{FF2B5EF4-FFF2-40B4-BE49-F238E27FC236}">
                <a16:creationId xmlns:a16="http://schemas.microsoft.com/office/drawing/2014/main" id="{D4A5A9A0-FB77-4B59-9886-6A2C07D1E4FD}"/>
              </a:ext>
            </a:extLst>
          </p:cNvPr>
          <p:cNvSpPr/>
          <p:nvPr/>
        </p:nvSpPr>
        <p:spPr>
          <a:xfrm>
            <a:off x="3911600" y="1320800"/>
            <a:ext cx="88900" cy="10922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C981CF-50FF-21EE-987C-1ECE38DED0BA}"/>
              </a:ext>
            </a:extLst>
          </p:cNvPr>
          <p:cNvSpPr txBox="1"/>
          <p:nvPr/>
        </p:nvSpPr>
        <p:spPr>
          <a:xfrm>
            <a:off x="9017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172 → 81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42D194-0597-70D1-E772-CED6FDF48DB2}"/>
              </a:ext>
            </a:extLst>
          </p:cNvPr>
          <p:cNvSpPr txBox="1"/>
          <p:nvPr/>
        </p:nvSpPr>
        <p:spPr>
          <a:xfrm>
            <a:off x="9017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false positives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17D64E6-21DC-0B64-364A-C13342313C7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2717800"/>
            <a:ext cx="9804400" cy="367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941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427">
            <a:extLst>
              <a:ext uri="{FF2B5EF4-FFF2-40B4-BE49-F238E27FC236}">
                <a16:creationId xmlns:a16="http://schemas.microsoft.com/office/drawing/2014/main" id="{3E6261F9-DF41-E514-76AE-16C8BDA13D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428">
            <a:extLst>
              <a:ext uri="{FF2B5EF4-FFF2-40B4-BE49-F238E27FC236}">
                <a16:creationId xmlns:a16="http://schemas.microsoft.com/office/drawing/2014/main" id="{C14DAFFE-BEFE-E751-C1AB-3F35A293159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164564-9A67-EFD7-A541-6D2852A28024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מידע על סוג השורה הוא רכיב מהותי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8E198F-38B7-11D2-6173-144A934EE8C8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6DFD34-6307-DE73-8399-C92002812313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15B719D-3AB9-2813-A101-0D557CF0B153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12 / 14</a:t>
            </a:r>
          </a:p>
        </p:txBody>
      </p:sp>
      <p:sp>
        <p:nvSpPr>
          <p:cNvPr id="10" name="Shape_429">
            <a:extLst>
              <a:ext uri="{FF2B5EF4-FFF2-40B4-BE49-F238E27FC236}">
                <a16:creationId xmlns:a16="http://schemas.microsoft.com/office/drawing/2014/main" id="{041D977F-7D57-89E8-B9E6-81D320A873FC}"/>
              </a:ext>
            </a:extLst>
          </p:cNvPr>
          <p:cNvSpPr/>
          <p:nvPr/>
        </p:nvSpPr>
        <p:spPr>
          <a:xfrm>
            <a:off x="1778000" y="1308100"/>
            <a:ext cx="3683000" cy="10922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Shape_430">
            <a:extLst>
              <a:ext uri="{FF2B5EF4-FFF2-40B4-BE49-F238E27FC236}">
                <a16:creationId xmlns:a16="http://schemas.microsoft.com/office/drawing/2014/main" id="{B342077F-76DC-C2B0-A72B-DCDB21A13C4A}"/>
              </a:ext>
            </a:extLst>
          </p:cNvPr>
          <p:cNvSpPr/>
          <p:nvPr/>
        </p:nvSpPr>
        <p:spPr>
          <a:xfrm>
            <a:off x="5372100" y="1308100"/>
            <a:ext cx="88900" cy="1092200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rgbClr val="DC4C6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51869A-4167-2E60-559A-F5C8DCEBE725}"/>
              </a:ext>
            </a:extLst>
          </p:cNvPr>
          <p:cNvSpPr txBox="1"/>
          <p:nvPr/>
        </p:nvSpPr>
        <p:spPr>
          <a:xfrm>
            <a:off x="1981200" y="1388809"/>
            <a:ext cx="3238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−0.1305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BCDE74-AF25-207E-659D-F62AFE6D5934}"/>
              </a:ext>
            </a:extLst>
          </p:cNvPr>
          <p:cNvSpPr txBox="1"/>
          <p:nvPr/>
        </p:nvSpPr>
        <p:spPr>
          <a:xfrm>
            <a:off x="1981200" y="2040314"/>
            <a:ext cx="3238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l-GR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Δ </a:t>
            </a:r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431">
            <a:extLst>
              <a:ext uri="{FF2B5EF4-FFF2-40B4-BE49-F238E27FC236}">
                <a16:creationId xmlns:a16="http://schemas.microsoft.com/office/drawing/2014/main" id="{A0714CEB-9335-3BA1-295C-47F75EFAD495}"/>
              </a:ext>
            </a:extLst>
          </p:cNvPr>
          <p:cNvSpPr/>
          <p:nvPr/>
        </p:nvSpPr>
        <p:spPr>
          <a:xfrm>
            <a:off x="6731000" y="1308100"/>
            <a:ext cx="3683000" cy="10922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Shape_432">
            <a:extLst>
              <a:ext uri="{FF2B5EF4-FFF2-40B4-BE49-F238E27FC236}">
                <a16:creationId xmlns:a16="http://schemas.microsoft.com/office/drawing/2014/main" id="{5E0A8160-BD0C-9CB5-3257-C903BE502818}"/>
              </a:ext>
            </a:extLst>
          </p:cNvPr>
          <p:cNvSpPr/>
          <p:nvPr/>
        </p:nvSpPr>
        <p:spPr>
          <a:xfrm>
            <a:off x="10325100" y="1308100"/>
            <a:ext cx="88900" cy="1092200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rgbClr val="DC4C6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548EBF-C21C-CEF2-A757-A18ED0053F26}"/>
              </a:ext>
            </a:extLst>
          </p:cNvPr>
          <p:cNvSpPr txBox="1"/>
          <p:nvPr/>
        </p:nvSpPr>
        <p:spPr>
          <a:xfrm>
            <a:off x="6934200" y="1388809"/>
            <a:ext cx="3238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−0.1058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D54061-8FF7-72B9-8A9E-FD8FAA140579}"/>
              </a:ext>
            </a:extLst>
          </p:cNvPr>
          <p:cNvSpPr txBox="1"/>
          <p:nvPr/>
        </p:nvSpPr>
        <p:spPr>
          <a:xfrm>
            <a:off x="6934200" y="2040314"/>
            <a:ext cx="3238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l-GR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Δ </a:t>
            </a:r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F645E7E-F254-47CE-A21E-721A78B44D1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2603500"/>
            <a:ext cx="109474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087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433">
            <a:extLst>
              <a:ext uri="{FF2B5EF4-FFF2-40B4-BE49-F238E27FC236}">
                <a16:creationId xmlns:a16="http://schemas.microsoft.com/office/drawing/2014/main" id="{7563249C-686E-CAFE-B0AB-29E9A62B6C7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434">
            <a:extLst>
              <a:ext uri="{FF2B5EF4-FFF2-40B4-BE49-F238E27FC236}">
                <a16:creationId xmlns:a16="http://schemas.microsoft.com/office/drawing/2014/main" id="{AAB083A9-ED80-B651-BA86-640BDE90BAC6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05A2A3-D25A-EF00-3F12-77F5B8C97561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מה המודל עדיין לא הוכיח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5B531A-F5B2-C9DA-75AA-E50E117435D2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F52B17-0A45-CE11-92D7-848B3E308993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B83057B-11E0-FC5E-C630-0F1CD2E59F91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13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68F5F3-6111-D2F0-0D71-FA1F791BE0D4}"/>
              </a:ext>
            </a:extLst>
          </p:cNvPr>
          <p:cNvSpPr txBox="1"/>
          <p:nvPr/>
        </p:nvSpPr>
        <p:spPr>
          <a:xfrm>
            <a:off x="8382000" y="1204888"/>
            <a:ext cx="3111500" cy="70275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IL" sz="44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82.2%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EBF8C5-EC31-0853-F0F3-18FA42053819}"/>
              </a:ext>
            </a:extLst>
          </p:cNvPr>
          <p:cNvSpPr txBox="1"/>
          <p:nvPr/>
        </p:nvSpPr>
        <p:spPr>
          <a:xfrm>
            <a:off x="8382000" y="2288936"/>
            <a:ext cx="31115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drop_added_line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Shape_435">
            <a:extLst>
              <a:ext uri="{FF2B5EF4-FFF2-40B4-BE49-F238E27FC236}">
                <a16:creationId xmlns:a16="http://schemas.microsoft.com/office/drawing/2014/main" id="{03CEF185-6A0A-08BB-6B0D-BA11F3104E8F}"/>
              </a:ext>
            </a:extLst>
          </p:cNvPr>
          <p:cNvSpPr/>
          <p:nvPr/>
        </p:nvSpPr>
        <p:spPr>
          <a:xfrm>
            <a:off x="8382000" y="2806700"/>
            <a:ext cx="3111500" cy="3048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Shape_436">
            <a:extLst>
              <a:ext uri="{FF2B5EF4-FFF2-40B4-BE49-F238E27FC236}">
                <a16:creationId xmlns:a16="http://schemas.microsoft.com/office/drawing/2014/main" id="{0C95A9B7-7418-ACD2-73F3-919E06761DBE}"/>
              </a:ext>
            </a:extLst>
          </p:cNvPr>
          <p:cNvSpPr/>
          <p:nvPr/>
        </p:nvSpPr>
        <p:spPr>
          <a:xfrm>
            <a:off x="8940800" y="2806700"/>
            <a:ext cx="2552700" cy="304800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rgbClr val="DC4C6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3852D8-3F14-A98D-ACE7-E6E9F9AAC5A7}"/>
              </a:ext>
            </a:extLst>
          </p:cNvPr>
          <p:cNvSpPr txBox="1"/>
          <p:nvPr/>
        </p:nvSpPr>
        <p:spPr>
          <a:xfrm>
            <a:off x="8382000" y="3292608"/>
            <a:ext cx="31115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mutation distribution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Shape_437">
            <a:extLst>
              <a:ext uri="{FF2B5EF4-FFF2-40B4-BE49-F238E27FC236}">
                <a16:creationId xmlns:a16="http://schemas.microsoft.com/office/drawing/2014/main" id="{90B6981A-2183-7E6C-A819-01F8C4D60116}"/>
              </a:ext>
            </a:extLst>
          </p:cNvPr>
          <p:cNvSpPr/>
          <p:nvPr/>
        </p:nvSpPr>
        <p:spPr>
          <a:xfrm>
            <a:off x="698500" y="1346200"/>
            <a:ext cx="7112000" cy="12573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5853A7-B451-E3D2-F9B7-96AFA53BC455}"/>
              </a:ext>
            </a:extLst>
          </p:cNvPr>
          <p:cNvSpPr txBox="1"/>
          <p:nvPr/>
        </p:nvSpPr>
        <p:spPr>
          <a:xfrm>
            <a:off x="3556000" y="14965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Synthetic Coverage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00E489-53B1-889A-DF33-BE9EB5C7F8AD}"/>
              </a:ext>
            </a:extLst>
          </p:cNvPr>
          <p:cNvSpPr txBox="1"/>
          <p:nvPr/>
        </p:nvSpPr>
        <p:spPr>
          <a:xfrm>
            <a:off x="965200" y="18621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רוב הדוגמאות נוצרו מהסרת שורה שנוספה.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438">
            <a:extLst>
              <a:ext uri="{FF2B5EF4-FFF2-40B4-BE49-F238E27FC236}">
                <a16:creationId xmlns:a16="http://schemas.microsoft.com/office/drawing/2014/main" id="{237E9927-D830-0E16-C410-8563FCD57E28}"/>
              </a:ext>
            </a:extLst>
          </p:cNvPr>
          <p:cNvSpPr/>
          <p:nvPr/>
        </p:nvSpPr>
        <p:spPr>
          <a:xfrm>
            <a:off x="698500" y="2921000"/>
            <a:ext cx="7112000" cy="12573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B22A51-903B-00F8-3957-BBCDD1C7CDD1}"/>
              </a:ext>
            </a:extLst>
          </p:cNvPr>
          <p:cNvSpPr txBox="1"/>
          <p:nvPr/>
        </p:nvSpPr>
        <p:spPr>
          <a:xfrm>
            <a:off x="3556000" y="30713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Rare Mutations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D7C291-44EB-E214-23F3-68BC1A787570}"/>
              </a:ext>
            </a:extLst>
          </p:cNvPr>
          <p:cNvSpPr txBox="1"/>
          <p:nvPr/>
        </p:nvSpPr>
        <p:spPr>
          <a:xfrm>
            <a:off x="965200" y="34369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יש מעט דוגמאות לשינויים סמנטיים עדינים.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Shape_439">
            <a:extLst>
              <a:ext uri="{FF2B5EF4-FFF2-40B4-BE49-F238E27FC236}">
                <a16:creationId xmlns:a16="http://schemas.microsoft.com/office/drawing/2014/main" id="{0D5DC03C-44C5-EE04-EC9A-FA58CE14533F}"/>
              </a:ext>
            </a:extLst>
          </p:cNvPr>
          <p:cNvSpPr/>
          <p:nvPr/>
        </p:nvSpPr>
        <p:spPr>
          <a:xfrm>
            <a:off x="698500" y="4495800"/>
            <a:ext cx="7112000" cy="12573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150A86-697E-B895-A736-41DA0B6E1B78}"/>
              </a:ext>
            </a:extLst>
          </p:cNvPr>
          <p:cNvSpPr txBox="1"/>
          <p:nvPr/>
        </p:nvSpPr>
        <p:spPr>
          <a:xfrm>
            <a:off x="3556000" y="46461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External Validity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7E0C7A-C09B-24CC-D3CF-D3DBE1A8108E}"/>
              </a:ext>
            </a:extLst>
          </p:cNvPr>
          <p:cNvSpPr txBox="1"/>
          <p:nvPr/>
        </p:nvSpPr>
        <p:spPr>
          <a:xfrm>
            <a:off x="965200" y="50117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לא בוצעה הערכה סופית על פרויקט חיצוני.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57FF12-63EA-6F67-763C-962495315FEE}"/>
              </a:ext>
            </a:extLst>
          </p:cNvPr>
          <p:cNvSpPr txBox="1"/>
          <p:nvPr/>
        </p:nvSpPr>
        <p:spPr>
          <a:xfrm>
            <a:off x="8382000" y="4162787"/>
            <a:ext cx="3111500" cy="70275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נדרש סט בדיקה ידני של חוסרים אמיתיים.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05788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440">
            <a:extLst>
              <a:ext uri="{FF2B5EF4-FFF2-40B4-BE49-F238E27FC236}">
                <a16:creationId xmlns:a16="http://schemas.microsoft.com/office/drawing/2014/main" id="{32B020C5-9BAE-8F4B-A188-9CD48318BFB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441">
            <a:extLst>
              <a:ext uri="{FF2B5EF4-FFF2-40B4-BE49-F238E27FC236}">
                <a16:creationId xmlns:a16="http://schemas.microsoft.com/office/drawing/2014/main" id="{17E7C9B4-838C-B640-0F73-898C541045B4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BC8A08-4A1B-2BAA-AE0A-9E6D3D0FABA0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מסקנות ושאלות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E8DF67-3403-5286-83F6-19F37795F45D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9CF3768-C156-0CD3-061E-B7A7DBCB59EB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65E3AAA-CBDC-174A-AAC6-B8C1923D49AE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14 / 14</a:t>
            </a:r>
          </a:p>
        </p:txBody>
      </p:sp>
      <p:sp>
        <p:nvSpPr>
          <p:cNvPr id="10" name="Shape_442">
            <a:extLst>
              <a:ext uri="{FF2B5EF4-FFF2-40B4-BE49-F238E27FC236}">
                <a16:creationId xmlns:a16="http://schemas.microsoft.com/office/drawing/2014/main" id="{D5D5047A-2D28-BB15-6FF9-B1C836D4FB24}"/>
              </a:ext>
            </a:extLst>
          </p:cNvPr>
          <p:cNvSpPr/>
          <p:nvPr/>
        </p:nvSpPr>
        <p:spPr>
          <a:xfrm>
            <a:off x="698500" y="1422400"/>
            <a:ext cx="31750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Shape_443">
            <a:extLst>
              <a:ext uri="{FF2B5EF4-FFF2-40B4-BE49-F238E27FC236}">
                <a16:creationId xmlns:a16="http://schemas.microsoft.com/office/drawing/2014/main" id="{D57B8169-982B-3B31-71BB-7130C65698F7}"/>
              </a:ext>
            </a:extLst>
          </p:cNvPr>
          <p:cNvSpPr/>
          <p:nvPr/>
        </p:nvSpPr>
        <p:spPr>
          <a:xfrm>
            <a:off x="3784600" y="14224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EFA24B-DE10-3CF6-B2F5-60460B6B0EB7}"/>
              </a:ext>
            </a:extLst>
          </p:cNvPr>
          <p:cNvSpPr txBox="1"/>
          <p:nvPr/>
        </p:nvSpPr>
        <p:spPr>
          <a:xfrm>
            <a:off x="901700" y="15031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0.4197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638E37-DB94-A3D4-D6C3-E4E5DAB1A52D}"/>
              </a:ext>
            </a:extLst>
          </p:cNvPr>
          <p:cNvSpPr txBox="1"/>
          <p:nvPr/>
        </p:nvSpPr>
        <p:spPr>
          <a:xfrm>
            <a:off x="901700" y="21546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 Macro-F1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444">
            <a:extLst>
              <a:ext uri="{FF2B5EF4-FFF2-40B4-BE49-F238E27FC236}">
                <a16:creationId xmlns:a16="http://schemas.microsoft.com/office/drawing/2014/main" id="{D480ED5C-A2E2-3456-D659-A9CA89463681}"/>
              </a:ext>
            </a:extLst>
          </p:cNvPr>
          <p:cNvSpPr/>
          <p:nvPr/>
        </p:nvSpPr>
        <p:spPr>
          <a:xfrm>
            <a:off x="698500" y="2717800"/>
            <a:ext cx="3175000" cy="10922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Shape_445">
            <a:extLst>
              <a:ext uri="{FF2B5EF4-FFF2-40B4-BE49-F238E27FC236}">
                <a16:creationId xmlns:a16="http://schemas.microsoft.com/office/drawing/2014/main" id="{5634D860-C6AF-D671-4478-DB56188CBA65}"/>
              </a:ext>
            </a:extLst>
          </p:cNvPr>
          <p:cNvSpPr/>
          <p:nvPr/>
        </p:nvSpPr>
        <p:spPr>
          <a:xfrm>
            <a:off x="3784600" y="2717800"/>
            <a:ext cx="88900" cy="1092200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rgbClr val="2E9D7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702473-0E29-88F8-78CE-AAFEF8318482}"/>
              </a:ext>
            </a:extLst>
          </p:cNvPr>
          <p:cNvSpPr txBox="1"/>
          <p:nvPr/>
        </p:nvSpPr>
        <p:spPr>
          <a:xfrm>
            <a:off x="901700" y="27985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0.6029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EB8673-A5AB-32E2-0752-717E94BE0D54}"/>
              </a:ext>
            </a:extLst>
          </p:cNvPr>
          <p:cNvSpPr txBox="1"/>
          <p:nvPr/>
        </p:nvSpPr>
        <p:spPr>
          <a:xfrm>
            <a:off x="901700" y="34500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446">
            <a:extLst>
              <a:ext uri="{FF2B5EF4-FFF2-40B4-BE49-F238E27FC236}">
                <a16:creationId xmlns:a16="http://schemas.microsoft.com/office/drawing/2014/main" id="{E91EDA8D-831F-4224-D3A0-4E30335AE062}"/>
              </a:ext>
            </a:extLst>
          </p:cNvPr>
          <p:cNvSpPr/>
          <p:nvPr/>
        </p:nvSpPr>
        <p:spPr>
          <a:xfrm>
            <a:off x="698500" y="4013200"/>
            <a:ext cx="3175000" cy="1092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Shape_447">
            <a:extLst>
              <a:ext uri="{FF2B5EF4-FFF2-40B4-BE49-F238E27FC236}">
                <a16:creationId xmlns:a16="http://schemas.microsoft.com/office/drawing/2014/main" id="{4C1B89AE-C8A3-5925-B40B-199371FD27B7}"/>
              </a:ext>
            </a:extLst>
          </p:cNvPr>
          <p:cNvSpPr/>
          <p:nvPr/>
        </p:nvSpPr>
        <p:spPr>
          <a:xfrm>
            <a:off x="3784600" y="4013200"/>
            <a:ext cx="88900" cy="10922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4132EB-76FC-302C-4BEB-939E5006BE06}"/>
              </a:ext>
            </a:extLst>
          </p:cNvPr>
          <p:cNvSpPr txBox="1"/>
          <p:nvPr/>
        </p:nvSpPr>
        <p:spPr>
          <a:xfrm>
            <a:off x="901700" y="40939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0.7352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6A1668-FEB5-35AB-DC90-4A5153EFB5D0}"/>
              </a:ext>
            </a:extLst>
          </p:cNvPr>
          <p:cNvSpPr txBox="1"/>
          <p:nvPr/>
        </p:nvSpPr>
        <p:spPr>
          <a:xfrm>
            <a:off x="901700" y="47454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DAE52A-06F4-F0AE-9813-2367AB913625}"/>
              </a:ext>
            </a:extLst>
          </p:cNvPr>
          <p:cNvSpPr txBox="1"/>
          <p:nvPr/>
        </p:nvSpPr>
        <p:spPr>
          <a:xfrm>
            <a:off x="10617200" y="13761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3A4ECE-ADC2-8938-6ABD-93B6531131BD}"/>
              </a:ext>
            </a:extLst>
          </p:cNvPr>
          <p:cNvSpPr txBox="1"/>
          <p:nvPr/>
        </p:nvSpPr>
        <p:spPr>
          <a:xfrm>
            <a:off x="4699000" y="1424965"/>
            <a:ext cx="56642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ייצוג מבנה השינוי חשוב יותר מנפח המודל.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46592F-4356-DC6D-F7F3-66C7A41689AA}"/>
              </a:ext>
            </a:extLst>
          </p:cNvPr>
          <p:cNvSpPr txBox="1"/>
          <p:nvPr/>
        </p:nvSpPr>
        <p:spPr>
          <a:xfrm>
            <a:off x="10617200" y="26207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F728BE-0451-0289-FB75-0221086E4EFA}"/>
              </a:ext>
            </a:extLst>
          </p:cNvPr>
          <p:cNvSpPr txBox="1"/>
          <p:nvPr/>
        </p:nvSpPr>
        <p:spPr>
          <a:xfrm>
            <a:off x="4699000" y="2654176"/>
            <a:ext cx="5664200" cy="67197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1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מידע מפורש על סוג השורה מצמצם התראות שווא ומשפר זיהוי חוסר.</a:t>
            </a:r>
            <a:endParaRPr lang="en-IL" sz="21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B4C92F-66F1-9931-5FFD-893E73F72B1F}"/>
              </a:ext>
            </a:extLst>
          </p:cNvPr>
          <p:cNvSpPr txBox="1"/>
          <p:nvPr/>
        </p:nvSpPr>
        <p:spPr>
          <a:xfrm>
            <a:off x="10617200" y="38653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64D154-9438-D46F-2C4F-E07E711EE367}"/>
              </a:ext>
            </a:extLst>
          </p:cNvPr>
          <p:cNvSpPr txBox="1"/>
          <p:nvPr/>
        </p:nvSpPr>
        <p:spPr>
          <a:xfrm>
            <a:off x="4699000" y="3825265"/>
            <a:ext cx="5664200" cy="641201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מקור התוויות חייב להיות עצמאי. אין להעריך הבנת קוד באמצעות </a:t>
            </a:r>
            <a:r>
              <a:rPr lang="en-US" sz="2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commit message.</a:t>
            </a:r>
            <a:endParaRPr lang="en-IL" sz="2000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6F14FE4-7AE7-99EB-70A7-6BC118A87690}"/>
              </a:ext>
            </a:extLst>
          </p:cNvPr>
          <p:cNvCxnSpPr/>
          <p:nvPr/>
        </p:nvCxnSpPr>
        <p:spPr>
          <a:xfrm>
            <a:off x="698500" y="5651500"/>
            <a:ext cx="107950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06C89AE-FD59-9554-6C4C-B019DB0D3574}"/>
              </a:ext>
            </a:extLst>
          </p:cNvPr>
          <p:cNvSpPr txBox="1"/>
          <p:nvPr/>
        </p:nvSpPr>
        <p:spPr>
          <a:xfrm>
            <a:off x="698500" y="5944219"/>
            <a:ext cx="5842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github.com/korrenhannes/diffintent-rtl</a:t>
            </a:r>
            <a:endParaRPr lang="en-IL" sz="1400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BB8AE2-D371-3D78-E158-E464491A5D7E}"/>
              </a:ext>
            </a:extLst>
          </p:cNvPr>
          <p:cNvSpPr txBox="1"/>
          <p:nvPr/>
        </p:nvSpPr>
        <p:spPr>
          <a:xfrm>
            <a:off x="8851900" y="5714504"/>
            <a:ext cx="26416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שאלות?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757658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448">
            <a:extLst>
              <a:ext uri="{FF2B5EF4-FFF2-40B4-BE49-F238E27FC236}">
                <a16:creationId xmlns:a16="http://schemas.microsoft.com/office/drawing/2014/main" id="{7520B029-0369-BDD4-F8BA-D66833B115A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449">
            <a:extLst>
              <a:ext uri="{FF2B5EF4-FFF2-40B4-BE49-F238E27FC236}">
                <a16:creationId xmlns:a16="http://schemas.microsoft.com/office/drawing/2014/main" id="{30A7E5AE-BA2D-4BFC-9B04-538C189FF1E5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D1B0EC-844D-3539-706C-F2D1BECFEF61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מטריצות בלבול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DC717-F755-1867-4EA0-14661905D35D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A28EE13-0F66-4CBB-9B28-70E33C34F5E2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CDF6E3D-8D22-5A9D-85A3-EC288C3DE4DC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A1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C7D0094-B01E-94B0-0F1F-18B2F7D448F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600200"/>
            <a:ext cx="4445000" cy="3708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1DCF95-1AAA-234D-A032-EA9A6D52CDF0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1600200"/>
            <a:ext cx="4445000" cy="37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991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450">
            <a:extLst>
              <a:ext uri="{FF2B5EF4-FFF2-40B4-BE49-F238E27FC236}">
                <a16:creationId xmlns:a16="http://schemas.microsoft.com/office/drawing/2014/main" id="{E411876D-87E1-25DD-4ED6-DCD916B38E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451">
            <a:extLst>
              <a:ext uri="{FF2B5EF4-FFF2-40B4-BE49-F238E27FC236}">
                <a16:creationId xmlns:a16="http://schemas.microsoft.com/office/drawing/2014/main" id="{72066745-28F7-D5AB-25E2-FC2756E7CCC7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AFDF0E-5B91-CE19-B165-749481CB28C3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ביצועים לפי סוג שינוי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7E7412-5025-8130-6D56-AEBD909934F4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33B620-A353-26C3-A8F5-471EF06751F8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C3DDC40-6553-C8B6-02D7-48C550D295AF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A2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06A409-09F8-1016-A312-8E779A9B89E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0" y="1308100"/>
            <a:ext cx="8636000" cy="490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7714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452">
            <a:extLst>
              <a:ext uri="{FF2B5EF4-FFF2-40B4-BE49-F238E27FC236}">
                <a16:creationId xmlns:a16="http://schemas.microsoft.com/office/drawing/2014/main" id="{149BB313-116B-C8D8-373B-0BD1C23AF0B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453">
            <a:extLst>
              <a:ext uri="{FF2B5EF4-FFF2-40B4-BE49-F238E27FC236}">
                <a16:creationId xmlns:a16="http://schemas.microsoft.com/office/drawing/2014/main" id="{432F30B1-BC83-A317-6519-F93096A0586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D099E5-EF74-F24E-4048-FABA568AFE40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מחקרי הרחבה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4B58C1-4F12-4DAC-F489-B4CDF16E9B03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B019C1-478E-E917-91D5-07D8086E4DD9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1108DB2-B8ED-D5BF-649C-FDC6849F5336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A3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A61CCD-7FF6-915D-61C0-54100ABE25BC}"/>
              </a:ext>
            </a:extLst>
          </p:cNvPr>
          <p:cNvSpPr txBox="1"/>
          <p:nvPr/>
        </p:nvSpPr>
        <p:spPr>
          <a:xfrm>
            <a:off x="60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Improved Weak Labeling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99F3637-B1DB-85A5-05DE-7915CBA7369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39900"/>
            <a:ext cx="3352800" cy="2159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6F76F53-8F5B-3A30-8100-A72A61F487B7}"/>
              </a:ext>
            </a:extLst>
          </p:cNvPr>
          <p:cNvSpPr txBox="1"/>
          <p:nvPr/>
        </p:nvSpPr>
        <p:spPr>
          <a:xfrm>
            <a:off x="441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Hardware-aware Features</a:t>
            </a:r>
            <a:endParaRPr lang="en-IL" sz="1600" b="1">
              <a:solidFill>
                <a:srgbClr val="2E9D78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2E06540-B271-EEF3-861C-DAAE0EC62D13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739900"/>
            <a:ext cx="3048000" cy="218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B73F059-7E87-A842-C51A-6BC93B2750A9}"/>
              </a:ext>
            </a:extLst>
          </p:cNvPr>
          <p:cNvSpPr txBox="1"/>
          <p:nvPr/>
        </p:nvSpPr>
        <p:spPr>
          <a:xfrm>
            <a:off x="822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Cross-project Study</a:t>
            </a:r>
            <a:endParaRPr lang="en-IL" sz="16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5AA5D6E-5635-93CE-0CAD-78E2FCAFDBC0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739900"/>
            <a:ext cx="3352800" cy="1308100"/>
          </a:xfrm>
          <a:prstGeom prst="rect">
            <a:avLst/>
          </a:prstGeom>
        </p:spPr>
      </p:pic>
      <p:sp>
        <p:nvSpPr>
          <p:cNvPr id="19" name="Shape_454">
            <a:extLst>
              <a:ext uri="{FF2B5EF4-FFF2-40B4-BE49-F238E27FC236}">
                <a16:creationId xmlns:a16="http://schemas.microsoft.com/office/drawing/2014/main" id="{2545E32B-B105-88E3-C867-C1733B269A25}"/>
              </a:ext>
            </a:extLst>
          </p:cNvPr>
          <p:cNvSpPr/>
          <p:nvPr/>
        </p:nvSpPr>
        <p:spPr>
          <a:xfrm>
            <a:off x="609600" y="4406900"/>
            <a:ext cx="10972800" cy="14224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5D5D2F-30A5-81B1-E8B4-948EF010BCC0}"/>
              </a:ext>
            </a:extLst>
          </p:cNvPr>
          <p:cNvSpPr txBox="1"/>
          <p:nvPr/>
        </p:nvSpPr>
        <p:spPr>
          <a:xfrm>
            <a:off x="901700" y="4681542"/>
            <a:ext cx="29210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Medium-scale studies</a:t>
            </a:r>
            <a:endParaRPr lang="en-IL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771E53-AA9E-3753-A217-F0D3372BCF32}"/>
              </a:ext>
            </a:extLst>
          </p:cNvPr>
          <p:cNvSpPr txBox="1"/>
          <p:nvPr/>
        </p:nvSpPr>
        <p:spPr>
          <a:xfrm>
            <a:off x="4064000" y="4592642"/>
            <a:ext cx="71755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המספרים אינם בני השוואה ישירה לניסוי המלא. הם מצביעים על שיפור כיסוי התיוג, ערך של מאפייני חומרה ופער בין פרויקטים.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39171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1923</Words>
  <Application>Microsoft Macintosh PowerPoint</Application>
  <PresentationFormat>Widescreen</PresentationFormat>
  <Paragraphs>199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Korren Hannes</dc:creator>
  <cp:lastModifiedBy>Korren Hannes</cp:lastModifiedBy>
  <cp:revision>1</cp:revision>
  <dcterms:created xsi:type="dcterms:W3CDTF">2026-10-07T17:30:12Z</dcterms:created>
  <dcterms:modified xsi:type="dcterms:W3CDTF">2026-10-07T17:30:28Z</dcterms:modified>
</cp:coreProperties>
</file>